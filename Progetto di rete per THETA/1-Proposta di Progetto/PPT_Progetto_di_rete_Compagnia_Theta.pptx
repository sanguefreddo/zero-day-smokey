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harts/chart1.xml" ContentType="application/vnd.openxmlformats-officedocument.drawingml.chart+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pertina" id="{11D5EFC7-A1E2-2398-34AA-474E25A1C411}">
          <p14:sldIdLst>
            <p14:sldId id="256"/>
            <p14:sldId id="257"/>
            <p14:sldId id="258"/>
          </p14:sldIdLst>
        </p14:section>
        <p14:section name="1. Architettura di rete" id="{8F06FAEB-4981-A5BE-8D77-C862AB51E492}">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 name="2. Regole del firewall" id="{08EC4564-C4A4-CF33-C95F-B1CD8DC11BA4}">
          <p14:sldIdLst>
            <p14:sldId id="280"/>
            <p14:sldId id="281"/>
            <p14:sldId id="282"/>
            <p14:sldId id="283"/>
            <p14:sldId id="284"/>
            <p14:sldId id="285"/>
            <p14:sldId id="286"/>
            <p14:sldId id="287"/>
            <p14:sldId id="288"/>
            <p14:sldId id="289"/>
          </p14:sldIdLst>
        </p14:section>
        <p14:section name="3. ZMAP: il toolkit di rete" id="{B4512BA3-0FAD-5D4D-EA5C-A4C87B5F6F93}">
          <p14:sldIdLst>
            <p14:sldId id="290"/>
            <p14:sldId id="291"/>
            <p14:sldId id="292"/>
            <p14:sldId id="293"/>
            <p14:sldId id="294"/>
            <p14:sldId id="295"/>
            <p14:sldId id="296"/>
            <p14:sldId id="297"/>
            <p14:sldId id="298"/>
          </p14:sldIdLst>
        </p14:section>
        <p14:section name="4. Raccomandazioni di sicurezza" id="{33F624CF-A507-79DD-F482-4E32DDCB0A0C}">
          <p14:sldIdLst>
            <p14:sldId id="300"/>
            <p14:sldId id="301"/>
          </p14:sldIdLst>
        </p14:section>
        <p14:section name="5. Strumento di cattura dei socket di rete (Sniffer)" id="{EE5C3BEC-38BE-319B-4615-25A39BE47C18}">
          <p14:sldIdLst>
            <p14:sldId id="302"/>
            <p14:sldId id="303"/>
            <p14:sldId id="304"/>
            <p14:sldId id="305"/>
            <p14:sldId id="306"/>
            <p14:sldId id="307"/>
            <p14:sldId id="308"/>
            <p14:sldId id="309"/>
            <p14:sldId id="310"/>
          </p14:sldIdLst>
        </p14:section>
        <p14:section name="6. Preventivo di spesa" id="{1027E832-9E43-D60A-FD5D-3413CE9314C6}">
          <p14:sldIdLst>
            <p14:sldId id="311"/>
            <p14:sldId id="312"/>
            <p14:sldId id="313"/>
            <p14:sldId id="314"/>
            <p14:sldId id="315"/>
            <p14:sldId id="316"/>
          </p14:sldIdLst>
        </p14:section>
        <p14:section name="7. Enigma" id="{249A7573-4293-2A9F-1B89-87B028622771}">
          <p14:sldIdLst>
            <p14:sldId id="317"/>
            <p14:sldId id="318"/>
            <p14:sldId id="319"/>
            <p14:sldId id="320"/>
            <p14:sldId id="321"/>
            <p14:sldId id="322"/>
            <p14:sldId id="323"/>
            <p14:sldId id="324"/>
            <p14:sldId id="325"/>
          </p14:sldIdLst>
        </p14:section>
        <p14:section name="Chiusura" id="{06708F8F-9959-9BF5-F877-643B0E13CE33}">
          <p14:sldIdLst>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C001D2-9325-43D2-BA85-658E32A43FD3}" v="83" dt="2026-10-30T15:25:54.8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1400" b="0" i="0" u="none" strike="noStrike">
                <a:solidFill>
                  <a:srgbClr val="1F2937"/>
                </a:solidFill>
                <a:latin typeface="+mn-lt"/>
              </a:defRPr>
            </a:pPr>
            <a:r>
              <a:rPr lang="it-IT" sz="1400" b="0" i="0" u="none" strike="noStrike">
                <a:solidFill>
                  <a:srgbClr val="1F2937"/>
                </a:solidFill>
                <a:latin typeface="+mn-lt"/>
              </a:rPr>
              <a:t>Totale IVA inclusa per preventivo (€)</a:t>
            </a:r>
          </a:p>
        </c:rich>
      </c:tx>
      <c:overlay val="0"/>
    </c:title>
    <c:autoTitleDeleted val="0"/>
    <c:plotArea>
      <c:layout/>
      <c:barChart>
        <c:barDir val="bar"/>
        <c:grouping val="clustered"/>
        <c:varyColors val="0"/>
        <c:ser>
          <c:idx val="0"/>
          <c:order val="0"/>
          <c:tx>
            <c:strRef>
              <c:f>Sheet1!$B$1</c:f>
              <c:strCache>
                <c:ptCount val="1"/>
                <c:pt idx="0">
                  <c:v>Totale IVA inclusa (€)</c:v>
                </c:pt>
              </c:strCache>
            </c:strRef>
          </c:tx>
          <c:spPr>
            <a:solidFill>
              <a:srgbClr val="B91C1C"/>
            </a:solidFill>
            <a:effectLst/>
          </c:spPr>
          <c:invertIfNegative val="0"/>
          <c:dLbls>
            <c:numFmt formatCode="#,##0.00\ \€" sourceLinked="0"/>
            <c:spPr>
              <a:noFill/>
              <a:ln>
                <a:noFill/>
              </a:ln>
              <a:effectLst/>
            </c:spPr>
            <c:txPr>
              <a:bodyPr/>
              <a:lstStyle/>
              <a:p>
                <a:pPr>
                  <a:defRPr sz="1200" b="0" i="0" u="none" strike="noStrike">
                    <a:solidFill>
                      <a:srgbClr val="1F2937"/>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Edificio A</c:v>
                </c:pt>
                <c:pt idx="1">
                  <c:v>Edificio B</c:v>
                </c:pt>
                <c:pt idx="2">
                  <c:v>Giunzione A/B</c:v>
                </c:pt>
              </c:strCache>
            </c:strRef>
          </c:cat>
          <c:val>
            <c:numRef>
              <c:f>Sheet1!$B$2:$B$4</c:f>
              <c:numCache>
                <c:formatCode>General</c:formatCode>
                <c:ptCount val="3"/>
                <c:pt idx="0">
                  <c:v>73359.820000000007</c:v>
                </c:pt>
                <c:pt idx="1">
                  <c:v>34507.699999999997</c:v>
                </c:pt>
                <c:pt idx="2">
                  <c:v>34618.5</c:v>
                </c:pt>
              </c:numCache>
            </c:numRef>
          </c:val>
          <c:extLst>
            <c:ext xmlns:c16="http://schemas.microsoft.com/office/drawing/2014/chart" uri="{C3380CC4-5D6E-409C-BE32-E72D297353CC}">
              <c16:uniqueId val="{00000000-CA52-4D18-9085-479997F65004}"/>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74151"/>
                </a:solidFill>
                <a:latin typeface="+mn-lt"/>
              </a:defRPr>
            </a:pPr>
            <a:endParaRPr lang="en-US"/>
          </a:p>
        </c:txPr>
        <c:crossAx val="2094734552"/>
        <c:crosses val="autoZero"/>
        <c:auto val="1"/>
        <c:lblAlgn val="ctr"/>
        <c:lblOffset val="100"/>
        <c:noMultiLvlLbl val="1"/>
      </c:catAx>
      <c:valAx>
        <c:axId val="2094734552"/>
        <c:scaling>
          <c:orientation val="minMax"/>
          <c:max val="900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FD7D786-E1D3-4F19-9C8C-228FE0564E6E}" type="datetimeFigureOut">
              <a:t>30/10/2026</a:t>
            </a:fld>
            <a:endParaRPr lang="it-IT"/>
          </a:p>
        </p:txBody>
      </p:sp>
      <p:sp>
        <p:nvSpPr>
          <p:cNvPr id="4" name="Segnaposto immagine diapositiva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D5EC61AB-624D-4598-A3BB-FED38C2C39F7}" type="slidenum">
              <a:t>‹N›</a:t>
            </a:fld>
            <a:endParaRPr lang="it-IT"/>
          </a:p>
        </p:txBody>
      </p:sp>
    </p:spTree>
    <p:extLst>
      <p:ext uri="{BB962C8B-B14F-4D97-AF65-F5344CB8AC3E}">
        <p14:creationId xmlns:p14="http://schemas.microsoft.com/office/powerpoint/2010/main" val="2910829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4"/>
                </a:solidFill>
              </a:rPr>
              <a:t>Zero-Day Smokey S.r.l.  ·  Proposta n. 001/2026 del 26/10/2026</a:t>
            </a:r>
            <a:endParaRPr lang="en-US" sz="1000" dirty="0"/>
          </a:p>
        </p:txBody>
      </p:sp>
      <p:sp>
        <p:nvSpPr>
          <p:cNvPr id="3" name="Text 1"/>
          <p:cNvSpPr>
            <a:spLocks noGrp="1"/>
          </p:cNvSpPr>
          <p:nvPr>
            <p:ph type="body" idx="101" hasCustomPrompt="1"/>
          </p:nvPr>
        </p:nvSpPr>
        <p:spPr>
          <a:xfrm>
            <a:off x="548640" y="292608"/>
            <a:ext cx="11094415" cy="274320"/>
          </a:xfrm>
          <a:prstGeom prst="rect">
            <a:avLst/>
          </a:prstGeom>
          <a:noFill/>
          <a:ln/>
        </p:spPr>
        <p:txBody>
          <a:bodyPr wrap="square" rtlCol="0"/>
          <a:lstStyle>
            <a:lvl1pPr marL="0" indent="0" algn="l">
              <a:buNone/>
              <a:defRPr lang="en-US" sz="1100" b="1" kern="0" spc="200" dirty="0">
                <a:solidFill>
                  <a:schemeClr val="accent1"/>
                </a:solidFill>
              </a:defRPr>
            </a:lvl1pPr>
          </a:lstStyle>
          <a:p>
            <a:pPr marL="0" indent="0" algn="l">
              <a:buNone/>
            </a:pPr>
            <a:endParaRPr lang="en-US" sz="1100" dirty="0"/>
          </a:p>
        </p:txBody>
      </p:sp>
      <p:sp>
        <p:nvSpPr>
          <p:cNvPr id="4" name="Text 1"/>
          <p:cNvSpPr>
            <a:spLocks noGrp="1"/>
          </p:cNvSpPr>
          <p:nvPr>
            <p:ph type="title" idx="102" hasCustomPrompt="1"/>
          </p:nvPr>
        </p:nvSpPr>
        <p:spPr>
          <a:xfrm>
            <a:off x="548640" y="548640"/>
            <a:ext cx="11094415" cy="685800"/>
          </a:xfrm>
          <a:prstGeom prst="rect">
            <a:avLst/>
          </a:prstGeom>
          <a:noFill/>
          <a:ln/>
        </p:spPr>
        <p:txBody>
          <a:bodyPr wrap="square" rtlCol="0"/>
          <a:lstStyle>
            <a:lvl1pPr marL="0" indent="0" algn="l">
              <a:buNone/>
              <a:defRPr lang="en-US" sz="3000" b="1" dirty="0">
                <a:solidFill>
                  <a:schemeClr val="tx1"/>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463040"/>
          </a:xfrm>
          <a:prstGeom prst="rect">
            <a:avLst/>
          </a:prstGeom>
          <a:noFill/>
          <a:ln/>
        </p:spPr>
        <p:txBody>
          <a:bodyPr wrap="square" rtlCol="0"/>
          <a:lstStyle>
            <a:lvl1pPr marL="0" indent="0" algn="l">
              <a:buNone/>
              <a:defRPr lang="en-US" sz="9600" b="1" dirty="0">
                <a:solidFill>
                  <a:schemeClr val="accent3"/>
                </a:solidFill>
                <a:latin typeface="Arial" pitchFamily="34" charset="0"/>
                <a:ea typeface="Arial" pitchFamily="34" charset="-122"/>
                <a:cs typeface="Arial" pitchFamily="34" charset="-120"/>
              </a:defRPr>
            </a:lvl1pPr>
          </a:lstStyle>
          <a:p>
            <a:pPr marL="0" indent="0" algn="l">
              <a:buNone/>
            </a:pPr>
            <a:endParaRPr lang="en-US" sz="9600" dirty="0"/>
          </a:p>
        </p:txBody>
      </p:sp>
      <p:sp>
        <p:nvSpPr>
          <p:cNvPr id="3" name="Text 0"/>
          <p:cNvSpPr>
            <a:spLocks noGrp="1"/>
          </p:cNvSpPr>
          <p:nvPr>
            <p:ph type="title" idx="101" hasCustomPrompt="1"/>
          </p:nvPr>
        </p:nvSpPr>
        <p:spPr>
          <a:xfrm>
            <a:off x="548640" y="2651760"/>
            <a:ext cx="6583680" cy="1097280"/>
          </a:xfrm>
          <a:prstGeom prst="rect">
            <a:avLst/>
          </a:prstGeom>
          <a:noFill/>
          <a:ln/>
        </p:spPr>
        <p:txBody>
          <a:bodyPr wrap="square" rtlCol="0"/>
          <a:lstStyle>
            <a:lvl1pPr marL="0" indent="0" algn="l">
              <a:buNone/>
              <a:defRPr lang="en-US" sz="4000" b="1" dirty="0">
                <a:solidFill>
                  <a:schemeClr val="bg1"/>
                </a:solidFill>
                <a:latin typeface="Arial" pitchFamily="34" charset="0"/>
                <a:ea typeface="Arial" pitchFamily="34" charset="-122"/>
                <a:cs typeface="Arial" pitchFamily="34" charset="-120"/>
              </a:defRPr>
            </a:lvl1pPr>
          </a:lstStyle>
          <a:p>
            <a:pPr marL="0" indent="0" algn="l">
              <a:buNone/>
            </a:pPr>
            <a:endParaRPr lang="en-US" sz="4000" dirty="0"/>
          </a:p>
        </p:txBody>
      </p:sp>
      <p:sp>
        <p:nvSpPr>
          <p:cNvPr id="4" name="Text 0"/>
          <p:cNvSpPr>
            <a:spLocks noGrp="1"/>
          </p:cNvSpPr>
          <p:nvPr>
            <p:ph type="body" idx="102" hasCustomPrompt="1"/>
          </p:nvPr>
        </p:nvSpPr>
        <p:spPr>
          <a:xfrm>
            <a:off x="7589520" y="1280160"/>
            <a:ext cx="4023360" cy="4389120"/>
          </a:xfrm>
          <a:prstGeom prst="rect">
            <a:avLst/>
          </a:prstGeom>
          <a:noFill/>
          <a:ln/>
        </p:spPr>
        <p:txBody>
          <a:bodyPr wrap="square" rtlCol="0"/>
          <a:lstStyle>
            <a:lvl1pPr marL="0" indent="0" algn="l">
              <a:spcAft>
                <a:spcPts val="800"/>
              </a:spcAft>
              <a:buNone/>
              <a:defRPr lang="en-US" sz="1500" dirty="0">
                <a:solidFill>
                  <a:schemeClr val="accent5"/>
                </a:solidFill>
              </a:defRPr>
            </a:lvl1pPr>
          </a:lstStyle>
          <a:p>
            <a:pPr marL="0" indent="0" algn="l">
              <a:spcAft>
                <a:spcPts val="800"/>
              </a:spcAft>
              <a:buNone/>
            </a:pPr>
            <a:endParaRPr lang="en-US" sz="1500" dirty="0"/>
          </a:p>
        </p:txBody>
      </p:sp>
      <p:sp>
        <p:nvSpPr>
          <p:cNvPr id="5" name="Text 0"/>
          <p:cNvSpPr/>
          <p:nvPr/>
        </p:nvSpPr>
        <p:spPr>
          <a:xfrm>
            <a:off x="548640" y="6309360"/>
            <a:ext cx="7315200" cy="274320"/>
          </a:xfrm>
          <a:prstGeom prst="rect">
            <a:avLst/>
          </a:prstGeom>
          <a:noFill/>
          <a:ln/>
        </p:spPr>
        <p:txBody>
          <a:bodyPr wrap="square" lIns="0" tIns="0" rIns="0" bIns="0" rtlCol="0" anchor="ctr"/>
          <a:lstStyle/>
          <a:p>
            <a:pPr marL="0" indent="0">
              <a:buNone/>
            </a:pPr>
            <a:r>
              <a:rPr lang="en-US" sz="1000" dirty="0">
                <a:solidFill>
                  <a:schemeClr val="accent4"/>
                </a:solidFill>
              </a:rPr>
              <a:t>Zero-Day Smokey S.r.l.  ·  Progetto di rete – Compagnia Theta</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69.xml.rels><?xml version="1.0" encoding="UTF-8" standalone="yes"?>
<Relationships xmlns="http://schemas.openxmlformats.org/package/2006/relationships"><Relationship Id="rId3" Type="http://schemas.openxmlformats.org/officeDocument/2006/relationships/hyperlink" Target="https://www.youtube.com/watch?v=MWiWEJQJYag" TargetMode="External"/><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Logo Zero-Day Smokey"/>
          <p:cNvPicPr>
            <a:picLocks noChangeAspect="1"/>
          </p:cNvPicPr>
          <p:nvPr/>
        </p:nvPicPr>
        <p:blipFill>
          <a:blip r:embed="rId3"/>
          <a:stretch>
            <a:fillRect/>
          </a:stretch>
        </p:blipFill>
        <p:spPr>
          <a:xfrm>
            <a:off x="548640" y="548640"/>
            <a:ext cx="1188720" cy="1188720"/>
          </a:xfrm>
          <a:prstGeom prst="rect">
            <a:avLst/>
          </a:prstGeom>
        </p:spPr>
      </p:pic>
      <p:sp>
        <p:nvSpPr>
          <p:cNvPr id="3" name="kicker"/>
          <p:cNvSpPr txBox="1"/>
          <p:nvPr/>
        </p:nvSpPr>
        <p:spPr>
          <a:xfrm>
            <a:off x="548640" y="2103120"/>
            <a:ext cx="7315200" cy="365760"/>
          </a:xfrm>
          <a:prstGeom prst="rect">
            <a:avLst/>
          </a:prstGeom>
          <a:noFill/>
          <a:ln/>
        </p:spPr>
        <p:txBody>
          <a:bodyPr wrap="square" lIns="0" tIns="0" rIns="0" bIns="0" rtlCol="0" anchor="ctr"/>
          <a:lstStyle/>
          <a:p>
            <a:pPr marL="0" indent="0">
              <a:buNone/>
            </a:pPr>
            <a:r>
              <a:rPr lang="en-US" sz="1400" b="1" kern="0" spc="400" dirty="0">
                <a:solidFill>
                  <a:schemeClr val="accent3"/>
                </a:solidFill>
              </a:rPr>
              <a:t>PROPOSTA DI PROGETTO DI RETE</a:t>
            </a:r>
            <a:endParaRPr lang="en-US" sz="1400" dirty="0"/>
          </a:p>
        </p:txBody>
      </p:sp>
      <p:sp>
        <p:nvSpPr>
          <p:cNvPr id="4" name="cover-title"/>
          <p:cNvSpPr txBox="1"/>
          <p:nvPr/>
        </p:nvSpPr>
        <p:spPr>
          <a:xfrm>
            <a:off x="548640" y="2514600"/>
            <a:ext cx="7315200" cy="1005840"/>
          </a:xfrm>
          <a:prstGeom prst="rect">
            <a:avLst/>
          </a:prstGeom>
          <a:noFill/>
          <a:ln/>
        </p:spPr>
        <p:txBody>
          <a:bodyPr wrap="square" lIns="0" tIns="0" rIns="0" bIns="0" rtlCol="0" anchor="ctr"/>
          <a:lstStyle/>
          <a:p>
            <a:pPr marL="0" indent="0">
              <a:buNone/>
            </a:pPr>
            <a:r>
              <a:rPr lang="en-US" sz="5400" b="1" dirty="0">
                <a:solidFill>
                  <a:schemeClr val="bg1"/>
                </a:solidFill>
                <a:latin typeface="Arial" pitchFamily="34" charset="0"/>
                <a:ea typeface="Arial" pitchFamily="34" charset="-122"/>
                <a:cs typeface="Arial" pitchFamily="34" charset="-120"/>
              </a:rPr>
              <a:t>Compagnia Theta</a:t>
            </a:r>
            <a:endParaRPr lang="en-US" sz="5400" dirty="0"/>
          </a:p>
        </p:txBody>
      </p:sp>
      <p:sp>
        <p:nvSpPr>
          <p:cNvPr id="5" name="cover-sub"/>
          <p:cNvSpPr txBox="1"/>
          <p:nvPr/>
        </p:nvSpPr>
        <p:spPr>
          <a:xfrm>
            <a:off x="548640" y="3611880"/>
            <a:ext cx="6400800" cy="822960"/>
          </a:xfrm>
          <a:prstGeom prst="rect">
            <a:avLst/>
          </a:prstGeom>
          <a:noFill/>
          <a:ln/>
        </p:spPr>
        <p:txBody>
          <a:bodyPr wrap="square" lIns="0" tIns="0" rIns="0" bIns="0" rtlCol="0" anchor="ctr"/>
          <a:lstStyle/>
          <a:p>
            <a:pPr marL="0" indent="0">
              <a:buNone/>
            </a:pPr>
            <a:r>
              <a:rPr lang="en-US" sz="1800" dirty="0">
                <a:solidFill>
                  <a:schemeClr val="accent5"/>
                </a:solidFill>
              </a:rPr>
              <a:t>Architettura di rete, sicurezza perimetrale, preventivo di spesa e strumenti di analisi</a:t>
            </a:r>
            <a:endParaRPr lang="en-US" sz="1800" dirty="0"/>
          </a:p>
        </p:txBody>
      </p:sp>
      <p:sp>
        <p:nvSpPr>
          <p:cNvPr id="6" name="info-card"/>
          <p:cNvSpPr/>
          <p:nvPr/>
        </p:nvSpPr>
        <p:spPr>
          <a:xfrm>
            <a:off x="7818120" y="2103120"/>
            <a:ext cx="3840480" cy="3108960"/>
          </a:xfrm>
          <a:prstGeom prst="roundRect">
            <a:avLst>
              <a:gd name="adj" fmla="val 2941"/>
            </a:avLst>
          </a:prstGeom>
          <a:solidFill>
            <a:schemeClr val="tx2"/>
          </a:solidFill>
          <a:ln w="12700">
            <a:solidFill>
              <a:schemeClr val="tx2"/>
            </a:solidFill>
            <a:prstDash val="solid"/>
          </a:ln>
        </p:spPr>
      </p:sp>
      <p:sp>
        <p:nvSpPr>
          <p:cNvPr id="7" name="info-k"/>
          <p:cNvSpPr txBox="1"/>
          <p:nvPr/>
        </p:nvSpPr>
        <p:spPr>
          <a:xfrm>
            <a:off x="8046720" y="2286000"/>
            <a:ext cx="3474720" cy="228600"/>
          </a:xfrm>
          <a:prstGeom prst="rect">
            <a:avLst/>
          </a:prstGeom>
          <a:noFill/>
          <a:ln/>
        </p:spPr>
        <p:txBody>
          <a:bodyPr wrap="square" lIns="0" tIns="0" rIns="0" bIns="0" rtlCol="0" anchor="ctr"/>
          <a:lstStyle/>
          <a:p>
            <a:pPr marL="0" indent="0">
              <a:buNone/>
            </a:pPr>
            <a:r>
              <a:rPr lang="en-US" sz="1000" b="1" kern="0" spc="200" dirty="0">
                <a:solidFill>
                  <a:schemeClr val="accent6"/>
                </a:solidFill>
              </a:rPr>
              <a:t>PROPOSTA N.</a:t>
            </a:r>
            <a:endParaRPr lang="en-US" sz="1000" dirty="0"/>
          </a:p>
        </p:txBody>
      </p:sp>
      <p:sp>
        <p:nvSpPr>
          <p:cNvPr id="8" name="info-v"/>
          <p:cNvSpPr txBox="1"/>
          <p:nvPr/>
        </p:nvSpPr>
        <p:spPr>
          <a:xfrm>
            <a:off x="8046720" y="2532888"/>
            <a:ext cx="3474720" cy="274320"/>
          </a:xfrm>
          <a:prstGeom prst="rect">
            <a:avLst/>
          </a:prstGeom>
          <a:noFill/>
          <a:ln/>
        </p:spPr>
        <p:txBody>
          <a:bodyPr wrap="square" lIns="0" tIns="0" rIns="0" bIns="0" rtlCol="0" anchor="t"/>
          <a:lstStyle/>
          <a:p>
            <a:pPr marL="0" indent="0">
              <a:buNone/>
            </a:pPr>
            <a:r>
              <a:rPr lang="en-US" sz="1400" dirty="0">
                <a:solidFill>
                  <a:schemeClr val="bg1"/>
                </a:solidFill>
              </a:rPr>
              <a:t>001/2026</a:t>
            </a:r>
            <a:endParaRPr lang="en-US" sz="1400" dirty="0"/>
          </a:p>
        </p:txBody>
      </p:sp>
      <p:sp>
        <p:nvSpPr>
          <p:cNvPr id="9" name="info-k"/>
          <p:cNvSpPr txBox="1"/>
          <p:nvPr/>
        </p:nvSpPr>
        <p:spPr>
          <a:xfrm>
            <a:off x="8046720" y="2971800"/>
            <a:ext cx="3474720" cy="228600"/>
          </a:xfrm>
          <a:prstGeom prst="rect">
            <a:avLst/>
          </a:prstGeom>
          <a:noFill/>
          <a:ln/>
        </p:spPr>
        <p:txBody>
          <a:bodyPr wrap="square" lIns="0" tIns="0" rIns="0" bIns="0" rtlCol="0" anchor="ctr"/>
          <a:lstStyle/>
          <a:p>
            <a:pPr marL="0" indent="0">
              <a:buNone/>
            </a:pPr>
            <a:r>
              <a:rPr lang="en-US" sz="1000" b="1" kern="0" spc="200" dirty="0">
                <a:solidFill>
                  <a:schemeClr val="accent6"/>
                </a:solidFill>
              </a:rPr>
              <a:t>DATA DI EMISSIONE</a:t>
            </a:r>
            <a:endParaRPr lang="en-US" sz="1000" dirty="0"/>
          </a:p>
        </p:txBody>
      </p:sp>
      <p:sp>
        <p:nvSpPr>
          <p:cNvPr id="10" name="info-v"/>
          <p:cNvSpPr txBox="1"/>
          <p:nvPr/>
        </p:nvSpPr>
        <p:spPr>
          <a:xfrm>
            <a:off x="8046720" y="3218688"/>
            <a:ext cx="3474720" cy="274320"/>
          </a:xfrm>
          <a:prstGeom prst="rect">
            <a:avLst/>
          </a:prstGeom>
          <a:noFill/>
          <a:ln/>
        </p:spPr>
        <p:txBody>
          <a:bodyPr wrap="square" lIns="0" tIns="0" rIns="0" bIns="0" rtlCol="0" anchor="t"/>
          <a:lstStyle/>
          <a:p>
            <a:pPr marL="0" indent="0">
              <a:buNone/>
            </a:pPr>
            <a:r>
              <a:rPr lang="en-US" sz="1400" dirty="0">
                <a:solidFill>
                  <a:schemeClr val="bg1"/>
                </a:solidFill>
              </a:rPr>
              <a:t>26/10/2026</a:t>
            </a:r>
            <a:endParaRPr lang="en-US" sz="1400" dirty="0"/>
          </a:p>
        </p:txBody>
      </p:sp>
      <p:sp>
        <p:nvSpPr>
          <p:cNvPr id="11" name="info-k"/>
          <p:cNvSpPr txBox="1"/>
          <p:nvPr/>
        </p:nvSpPr>
        <p:spPr>
          <a:xfrm>
            <a:off x="8046720" y="3657600"/>
            <a:ext cx="3474720" cy="228600"/>
          </a:xfrm>
          <a:prstGeom prst="rect">
            <a:avLst/>
          </a:prstGeom>
          <a:noFill/>
          <a:ln/>
        </p:spPr>
        <p:txBody>
          <a:bodyPr wrap="square" lIns="0" tIns="0" rIns="0" bIns="0" rtlCol="0" anchor="ctr"/>
          <a:lstStyle/>
          <a:p>
            <a:pPr marL="0" indent="0">
              <a:buNone/>
            </a:pPr>
            <a:r>
              <a:rPr lang="en-US" sz="1000" b="1" kern="0" spc="200" dirty="0">
                <a:solidFill>
                  <a:schemeClr val="accent6"/>
                </a:solidFill>
              </a:rPr>
              <a:t>CLIENTE</a:t>
            </a:r>
            <a:endParaRPr lang="en-US" sz="1000" dirty="0"/>
          </a:p>
        </p:txBody>
      </p:sp>
      <p:sp>
        <p:nvSpPr>
          <p:cNvPr id="12" name="info-v"/>
          <p:cNvSpPr txBox="1"/>
          <p:nvPr/>
        </p:nvSpPr>
        <p:spPr>
          <a:xfrm>
            <a:off x="8046720" y="3904488"/>
            <a:ext cx="3474720" cy="274320"/>
          </a:xfrm>
          <a:prstGeom prst="rect">
            <a:avLst/>
          </a:prstGeom>
          <a:noFill/>
          <a:ln/>
        </p:spPr>
        <p:txBody>
          <a:bodyPr wrap="square" lIns="0" tIns="0" rIns="0" bIns="0" rtlCol="0" anchor="t"/>
          <a:lstStyle/>
          <a:p>
            <a:pPr marL="0" indent="0">
              <a:buNone/>
            </a:pPr>
            <a:r>
              <a:rPr lang="en-US" sz="1400" dirty="0">
                <a:solidFill>
                  <a:schemeClr val="bg1"/>
                </a:solidFill>
              </a:rPr>
              <a:t>Compagnia Theta</a:t>
            </a:r>
            <a:endParaRPr lang="en-US" sz="1400" dirty="0"/>
          </a:p>
        </p:txBody>
      </p:sp>
      <p:sp>
        <p:nvSpPr>
          <p:cNvPr id="13" name="info-k"/>
          <p:cNvSpPr txBox="1"/>
          <p:nvPr/>
        </p:nvSpPr>
        <p:spPr>
          <a:xfrm>
            <a:off x="8046720" y="4343400"/>
            <a:ext cx="3474720" cy="228600"/>
          </a:xfrm>
          <a:prstGeom prst="rect">
            <a:avLst/>
          </a:prstGeom>
          <a:noFill/>
          <a:ln/>
        </p:spPr>
        <p:txBody>
          <a:bodyPr wrap="square" lIns="0" tIns="0" rIns="0" bIns="0" rtlCol="0" anchor="ctr"/>
          <a:lstStyle/>
          <a:p>
            <a:pPr marL="0" indent="0">
              <a:buNone/>
            </a:pPr>
            <a:r>
              <a:rPr lang="en-US" sz="1000" b="1" kern="0" spc="200" dirty="0">
                <a:solidFill>
                  <a:schemeClr val="accent6"/>
                </a:solidFill>
              </a:rPr>
              <a:t>APPALTATORE</a:t>
            </a:r>
            <a:endParaRPr lang="en-US" sz="1000" dirty="0"/>
          </a:p>
        </p:txBody>
      </p:sp>
      <p:sp>
        <p:nvSpPr>
          <p:cNvPr id="14" name="info-v"/>
          <p:cNvSpPr txBox="1"/>
          <p:nvPr/>
        </p:nvSpPr>
        <p:spPr>
          <a:xfrm>
            <a:off x="8046720" y="4590288"/>
            <a:ext cx="3474720" cy="548640"/>
          </a:xfrm>
          <a:prstGeom prst="rect">
            <a:avLst/>
          </a:prstGeom>
          <a:noFill/>
          <a:ln/>
        </p:spPr>
        <p:txBody>
          <a:bodyPr wrap="square" lIns="0" tIns="0" rIns="0" bIns="0" rtlCol="0" anchor="t"/>
          <a:lstStyle/>
          <a:p>
            <a:pPr marL="0" indent="0">
              <a:buNone/>
            </a:pPr>
            <a:r>
              <a:rPr lang="en-US" sz="1400" dirty="0">
                <a:solidFill>
                  <a:schemeClr val="bg1"/>
                </a:solidFill>
              </a:rPr>
              <a:t>Zero-Day Smokey S.r.l.</a:t>
            </a:r>
            <a:endParaRPr lang="en-US" sz="1400" dirty="0"/>
          </a:p>
          <a:p>
            <a:pPr marL="0" indent="0">
              <a:buNone/>
            </a:pPr>
            <a:r>
              <a:rPr lang="en-US" sz="1400" dirty="0">
                <a:solidFill>
                  <a:schemeClr val="bg1"/>
                </a:solidFill>
              </a:rPr>
              <a:t>Via del Rampino 4, Italia</a:t>
            </a:r>
            <a:endParaRPr lang="en-US" sz="1400" dirty="0"/>
          </a:p>
        </p:txBody>
      </p:sp>
      <p:sp>
        <p:nvSpPr>
          <p:cNvPr id="15" name="tagline"/>
          <p:cNvSpPr txBox="1"/>
          <p:nvPr/>
        </p:nvSpPr>
        <p:spPr>
          <a:xfrm>
            <a:off x="548640" y="6217920"/>
            <a:ext cx="7315200" cy="274320"/>
          </a:xfrm>
          <a:prstGeom prst="rect">
            <a:avLst/>
          </a:prstGeom>
          <a:noFill/>
          <a:ln/>
        </p:spPr>
        <p:txBody>
          <a:bodyPr wrap="square" lIns="0" tIns="0" rIns="0" bIns="0" rtlCol="0" anchor="ctr"/>
          <a:lstStyle/>
          <a:p>
            <a:pPr marL="0" indent="0">
              <a:buNone/>
            </a:pPr>
            <a:r>
              <a:rPr lang="en-US" sz="1000" kern="0" spc="400" dirty="0">
                <a:solidFill>
                  <a:schemeClr val="accent4"/>
                </a:solidFill>
              </a:rPr>
              <a:t>NETWORK DESIGN &amp; ENGINEERING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PROPOSTA N. 001/2026</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Nota contrattuale</a:t>
            </a:r>
            <a:endParaRPr lang="en-US" sz="3000" dirty="0"/>
          </a:p>
        </p:txBody>
      </p:sp>
      <p:sp>
        <p:nvSpPr>
          <p:cNvPr id="4" name="quote-bg"/>
          <p:cNvSpPr/>
          <p:nvPr/>
        </p:nvSpPr>
        <p:spPr>
          <a:xfrm>
            <a:off x="548640" y="1645920"/>
            <a:ext cx="11094415" cy="3291840"/>
          </a:xfrm>
          <a:prstGeom prst="roundRect">
            <a:avLst>
              <a:gd name="adj" fmla="val 2778"/>
            </a:avLst>
          </a:prstGeom>
          <a:solidFill>
            <a:schemeClr val="bg2"/>
          </a:solidFill>
          <a:ln w="12700">
            <a:solidFill>
              <a:schemeClr val="bg2"/>
            </a:solidFill>
            <a:prstDash val="solid"/>
          </a:ln>
        </p:spPr>
      </p:sp>
      <p:sp>
        <p:nvSpPr>
          <p:cNvPr id="5" name="glyph"/>
          <p:cNvSpPr txBox="1"/>
          <p:nvPr/>
        </p:nvSpPr>
        <p:spPr>
          <a:xfrm>
            <a:off x="914400" y="1828800"/>
            <a:ext cx="914400" cy="914400"/>
          </a:xfrm>
          <a:prstGeom prst="rect">
            <a:avLst/>
          </a:prstGeom>
          <a:noFill/>
          <a:ln/>
        </p:spPr>
        <p:txBody>
          <a:bodyPr wrap="square" lIns="0" tIns="0" rIns="0" bIns="0" rtlCol="0" anchor="ctr"/>
          <a:lstStyle/>
          <a:p>
            <a:pPr marL="0" indent="0">
              <a:buNone/>
            </a:pPr>
            <a:r>
              <a:rPr lang="en-US" sz="6000" b="1" dirty="0">
                <a:solidFill>
                  <a:schemeClr val="accent1"/>
                </a:solidFill>
              </a:rPr>
              <a:t>§</a:t>
            </a:r>
            <a:endParaRPr lang="en-US" sz="6000" dirty="0"/>
          </a:p>
        </p:txBody>
      </p:sp>
      <p:sp>
        <p:nvSpPr>
          <p:cNvPr id="6" name="contract"/>
          <p:cNvSpPr txBox="1"/>
          <p:nvPr/>
        </p:nvSpPr>
        <p:spPr>
          <a:xfrm>
            <a:off x="1920240" y="1920240"/>
            <a:ext cx="9265615" cy="2743200"/>
          </a:xfrm>
          <a:prstGeom prst="rect">
            <a:avLst/>
          </a:prstGeom>
          <a:noFill/>
          <a:ln/>
        </p:spPr>
        <p:txBody>
          <a:bodyPr wrap="square" lIns="0" tIns="0" rIns="0" bIns="0" rtlCol="0" anchor="ctr"/>
          <a:lstStyle/>
          <a:p>
            <a:pPr marL="0" indent="0">
              <a:buNone/>
            </a:pPr>
            <a:r>
              <a:rPr lang="en-US" sz="1800" dirty="0">
                <a:solidFill>
                  <a:schemeClr val="tx2"/>
                </a:solidFill>
              </a:rPr>
              <a:t>La presente Proposta di Progetto di Rete (di seguito “PPR”) è emessa in esecuzione dell’accordo per la prestazione di servizi di consulenza stipulato tra Compagnia Theta (di seguito “Cliente”) e Zero-Day Smokey S.r.l. (di seguito “Appaltatore”). Con la sottoscrizione da parte di entrambe le Parti, la PPR costituisce contratto vincolante tra le stesse, con efficacia a decorrere dal 26/10/2026. Eventuali modifiche al testo devono essere comunicate all’altra Parte, prima della sottoscrizione, a mezzo PEC o raccomandata con avviso di ricevimento.</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PROPOSTA N. 001/2026</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Indice</a:t>
            </a:r>
            <a:endParaRPr lang="en-US" sz="3000" dirty="0"/>
          </a:p>
        </p:txBody>
      </p:sp>
      <p:sp>
        <p:nvSpPr>
          <p:cNvPr id="4" name="badge"/>
          <p:cNvSpPr/>
          <p:nvPr/>
        </p:nvSpPr>
        <p:spPr>
          <a:xfrm>
            <a:off x="548640" y="1554480"/>
            <a:ext cx="502920" cy="502920"/>
          </a:xfrm>
          <a:prstGeom prst="ellipse">
            <a:avLst/>
          </a:prstGeom>
          <a:solidFill>
            <a:schemeClr val="accent1"/>
          </a:solidFill>
          <a:ln w="12700">
            <a:solidFill>
              <a:schemeClr val="accent1"/>
            </a:solidFill>
            <a:prstDash val="solid"/>
          </a:ln>
        </p:spPr>
      </p:sp>
      <p:sp>
        <p:nvSpPr>
          <p:cNvPr id="5" name="badge-num"/>
          <p:cNvSpPr txBox="1"/>
          <p:nvPr/>
        </p:nvSpPr>
        <p:spPr>
          <a:xfrm>
            <a:off x="548640" y="15544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oc-head"/>
          <p:cNvSpPr txBox="1"/>
          <p:nvPr/>
        </p:nvSpPr>
        <p:spPr>
          <a:xfrm>
            <a:off x="1234440" y="1508760"/>
            <a:ext cx="4678528" cy="36576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Architettura di rete</a:t>
            </a:r>
            <a:endParaRPr lang="en-US" sz="1800" dirty="0"/>
          </a:p>
        </p:txBody>
      </p:sp>
      <p:sp>
        <p:nvSpPr>
          <p:cNvPr id="7" name="toc-sub"/>
          <p:cNvSpPr txBox="1"/>
          <p:nvPr/>
        </p:nvSpPr>
        <p:spPr>
          <a:xfrm>
            <a:off x="1234440" y="1892808"/>
            <a:ext cx="4678528" cy="640080"/>
          </a:xfrm>
          <a:prstGeom prst="rect">
            <a:avLst/>
          </a:prstGeom>
          <a:noFill/>
          <a:ln/>
        </p:spPr>
        <p:txBody>
          <a:bodyPr wrap="square" lIns="0" tIns="0" rIns="0" bIns="0" rtlCol="0" anchor="t"/>
          <a:lstStyle/>
          <a:p>
            <a:pPr marL="0" indent="0">
              <a:buNone/>
            </a:pPr>
            <a:r>
              <a:rPr lang="en-US" sz="1300" dirty="0">
                <a:solidFill>
                  <a:schemeClr val="accent4"/>
                </a:solidFill>
              </a:rPr>
              <a:t>Collapsed Core · configurazione apparati · indirizzamento · sicurezza perimetrale · collegamento inter-sede · collaudo</a:t>
            </a:r>
            <a:endParaRPr lang="en-US" sz="1300" dirty="0"/>
          </a:p>
        </p:txBody>
      </p:sp>
      <p:sp>
        <p:nvSpPr>
          <p:cNvPr id="8" name="badge"/>
          <p:cNvSpPr/>
          <p:nvPr/>
        </p:nvSpPr>
        <p:spPr>
          <a:xfrm>
            <a:off x="548640" y="2697480"/>
            <a:ext cx="502920" cy="502920"/>
          </a:xfrm>
          <a:prstGeom prst="ellipse">
            <a:avLst/>
          </a:prstGeom>
          <a:solidFill>
            <a:schemeClr val="accent1"/>
          </a:solidFill>
          <a:ln w="12700">
            <a:solidFill>
              <a:schemeClr val="accent1"/>
            </a:solidFill>
            <a:prstDash val="solid"/>
          </a:ln>
        </p:spPr>
      </p:sp>
      <p:sp>
        <p:nvSpPr>
          <p:cNvPr id="9" name="badge-num"/>
          <p:cNvSpPr txBox="1"/>
          <p:nvPr/>
        </p:nvSpPr>
        <p:spPr>
          <a:xfrm>
            <a:off x="548640" y="26974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toc-head"/>
          <p:cNvSpPr txBox="1"/>
          <p:nvPr/>
        </p:nvSpPr>
        <p:spPr>
          <a:xfrm>
            <a:off x="1234440" y="2651760"/>
            <a:ext cx="4678528" cy="36576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Regole del firewall</a:t>
            </a:r>
            <a:endParaRPr lang="en-US" sz="1800" dirty="0"/>
          </a:p>
        </p:txBody>
      </p:sp>
      <p:sp>
        <p:nvSpPr>
          <p:cNvPr id="11" name="toc-sub"/>
          <p:cNvSpPr txBox="1"/>
          <p:nvPr/>
        </p:nvSpPr>
        <p:spPr>
          <a:xfrm>
            <a:off x="1234440" y="3035808"/>
            <a:ext cx="4678528" cy="640080"/>
          </a:xfrm>
          <a:prstGeom prst="rect">
            <a:avLst/>
          </a:prstGeom>
          <a:noFill/>
          <a:ln/>
        </p:spPr>
        <p:txBody>
          <a:bodyPr wrap="square" lIns="0" tIns="0" rIns="0" bIns="0" rtlCol="0" anchor="t"/>
          <a:lstStyle/>
          <a:p>
            <a:pPr marL="0" indent="0">
              <a:buNone/>
            </a:pPr>
            <a:r>
              <a:rPr lang="en-US" sz="1300" dirty="0">
                <a:solidFill>
                  <a:schemeClr val="accent4"/>
                </a:solidFill>
              </a:rPr>
              <a:t>Creazione delle regole firewall · estensione alla Sede 2</a:t>
            </a:r>
            <a:endParaRPr lang="en-US" sz="1300" dirty="0"/>
          </a:p>
        </p:txBody>
      </p:sp>
      <p:sp>
        <p:nvSpPr>
          <p:cNvPr id="12" name="badge"/>
          <p:cNvSpPr/>
          <p:nvPr/>
        </p:nvSpPr>
        <p:spPr>
          <a:xfrm>
            <a:off x="548640" y="3840480"/>
            <a:ext cx="502920" cy="502920"/>
          </a:xfrm>
          <a:prstGeom prst="ellipse">
            <a:avLst/>
          </a:prstGeom>
          <a:solidFill>
            <a:schemeClr val="accent1"/>
          </a:solidFill>
          <a:ln w="12700">
            <a:solidFill>
              <a:schemeClr val="accent1"/>
            </a:solidFill>
            <a:prstDash val="solid"/>
          </a:ln>
        </p:spPr>
      </p:sp>
      <p:sp>
        <p:nvSpPr>
          <p:cNvPr id="13" name="badge-num"/>
          <p:cNvSpPr txBox="1"/>
          <p:nvPr/>
        </p:nvSpPr>
        <p:spPr>
          <a:xfrm>
            <a:off x="548640" y="38404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toc-head"/>
          <p:cNvSpPr txBox="1"/>
          <p:nvPr/>
        </p:nvSpPr>
        <p:spPr>
          <a:xfrm>
            <a:off x="1234440" y="3794760"/>
            <a:ext cx="4678528" cy="36576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ZMAP: il toolkit di rete</a:t>
            </a:r>
            <a:endParaRPr lang="en-US" sz="1800" dirty="0"/>
          </a:p>
        </p:txBody>
      </p:sp>
      <p:sp>
        <p:nvSpPr>
          <p:cNvPr id="15" name="toc-sub"/>
          <p:cNvSpPr txBox="1"/>
          <p:nvPr/>
        </p:nvSpPr>
        <p:spPr>
          <a:xfrm>
            <a:off x="1234440" y="4178808"/>
            <a:ext cx="4678528" cy="640080"/>
          </a:xfrm>
          <a:prstGeom prst="rect">
            <a:avLst/>
          </a:prstGeom>
          <a:noFill/>
          <a:ln/>
        </p:spPr>
        <p:txBody>
          <a:bodyPr wrap="square" lIns="0" tIns="0" rIns="0" bIns="0" rtlCol="0" anchor="t"/>
          <a:lstStyle/>
          <a:p>
            <a:pPr marL="0" indent="0">
              <a:buNone/>
            </a:pPr>
            <a:r>
              <a:rPr lang="en-US" sz="1300" dirty="0">
                <a:solidFill>
                  <a:schemeClr val="accent4"/>
                </a:solidFill>
              </a:rPr>
              <a:t>Introduzione · librerie · struttura · funzioni · menu · uso etico e legale</a:t>
            </a:r>
            <a:endParaRPr lang="en-US" sz="1300" dirty="0"/>
          </a:p>
        </p:txBody>
      </p:sp>
      <p:sp>
        <p:nvSpPr>
          <p:cNvPr id="16" name="badge"/>
          <p:cNvSpPr/>
          <p:nvPr/>
        </p:nvSpPr>
        <p:spPr>
          <a:xfrm>
            <a:off x="548640" y="4983480"/>
            <a:ext cx="502920" cy="502920"/>
          </a:xfrm>
          <a:prstGeom prst="ellipse">
            <a:avLst/>
          </a:prstGeom>
          <a:solidFill>
            <a:schemeClr val="accent1"/>
          </a:solidFill>
          <a:ln w="12700">
            <a:solidFill>
              <a:schemeClr val="accent1"/>
            </a:solidFill>
            <a:prstDash val="solid"/>
          </a:ln>
        </p:spPr>
      </p:sp>
      <p:sp>
        <p:nvSpPr>
          <p:cNvPr id="17" name="badge-num"/>
          <p:cNvSpPr txBox="1"/>
          <p:nvPr/>
        </p:nvSpPr>
        <p:spPr>
          <a:xfrm>
            <a:off x="548640" y="49834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8" name="toc-head"/>
          <p:cNvSpPr txBox="1"/>
          <p:nvPr/>
        </p:nvSpPr>
        <p:spPr>
          <a:xfrm>
            <a:off x="1234440" y="4937760"/>
            <a:ext cx="4678528" cy="36576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Raccomandazioni di sicurezza</a:t>
            </a:r>
            <a:endParaRPr lang="en-US" sz="1800" dirty="0"/>
          </a:p>
        </p:txBody>
      </p:sp>
      <p:sp>
        <p:nvSpPr>
          <p:cNvPr id="19" name="toc-sub"/>
          <p:cNvSpPr txBox="1"/>
          <p:nvPr/>
        </p:nvSpPr>
        <p:spPr>
          <a:xfrm>
            <a:off x="1234440" y="5321808"/>
            <a:ext cx="4678528" cy="640080"/>
          </a:xfrm>
          <a:prstGeom prst="rect">
            <a:avLst/>
          </a:prstGeom>
          <a:noFill/>
          <a:ln/>
        </p:spPr>
        <p:txBody>
          <a:bodyPr wrap="square" lIns="0" tIns="0" rIns="0" bIns="0" rtlCol="0" anchor="t"/>
          <a:lstStyle/>
          <a:p>
            <a:pPr marL="0" indent="0">
              <a:buNone/>
            </a:pPr>
            <a:r>
              <a:rPr lang="en-US" sz="1300" dirty="0">
                <a:solidFill>
                  <a:schemeClr val="accent4"/>
                </a:solidFill>
              </a:rPr>
              <a:t>Infrastruttura di rete · firewall</a:t>
            </a:r>
            <a:endParaRPr lang="en-US" sz="1300" dirty="0"/>
          </a:p>
        </p:txBody>
      </p:sp>
      <p:sp>
        <p:nvSpPr>
          <p:cNvPr id="20" name="badge"/>
          <p:cNvSpPr/>
          <p:nvPr/>
        </p:nvSpPr>
        <p:spPr>
          <a:xfrm>
            <a:off x="6278728" y="1554480"/>
            <a:ext cx="502920" cy="502920"/>
          </a:xfrm>
          <a:prstGeom prst="ellipse">
            <a:avLst/>
          </a:prstGeom>
          <a:solidFill>
            <a:schemeClr val="accent1"/>
          </a:solidFill>
          <a:ln w="12700">
            <a:solidFill>
              <a:schemeClr val="accent1"/>
            </a:solidFill>
            <a:prstDash val="solid"/>
          </a:ln>
        </p:spPr>
      </p:sp>
      <p:sp>
        <p:nvSpPr>
          <p:cNvPr id="21" name="badge-num"/>
          <p:cNvSpPr txBox="1"/>
          <p:nvPr/>
        </p:nvSpPr>
        <p:spPr>
          <a:xfrm>
            <a:off x="6278728" y="15544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2" name="toc-head"/>
          <p:cNvSpPr txBox="1"/>
          <p:nvPr/>
        </p:nvSpPr>
        <p:spPr>
          <a:xfrm>
            <a:off x="6964528" y="1508760"/>
            <a:ext cx="4678528" cy="36576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Sniffer di rete</a:t>
            </a:r>
            <a:endParaRPr lang="en-US" sz="1800" dirty="0"/>
          </a:p>
        </p:txBody>
      </p:sp>
      <p:sp>
        <p:nvSpPr>
          <p:cNvPr id="23" name="toc-sub"/>
          <p:cNvSpPr txBox="1"/>
          <p:nvPr/>
        </p:nvSpPr>
        <p:spPr>
          <a:xfrm>
            <a:off x="6964528" y="1892808"/>
            <a:ext cx="4678528" cy="640080"/>
          </a:xfrm>
          <a:prstGeom prst="rect">
            <a:avLst/>
          </a:prstGeom>
          <a:noFill/>
          <a:ln/>
        </p:spPr>
        <p:txBody>
          <a:bodyPr wrap="square" lIns="0" tIns="0" rIns="0" bIns="0" rtlCol="0" anchor="t"/>
          <a:lstStyle/>
          <a:p>
            <a:pPr marL="0" indent="0">
              <a:buNone/>
            </a:pPr>
            <a:r>
              <a:rPr lang="en-US" sz="1300" dirty="0">
                <a:solidFill>
                  <a:schemeClr val="accent4"/>
                </a:solidFill>
              </a:rPr>
              <a:t>Funzionamento · moduli · funzioni di supporto · socket raw · decodifica Ethernet, IP, TCP/UDP/ICMP · esecuzione</a:t>
            </a:r>
            <a:endParaRPr lang="en-US" sz="1300" dirty="0"/>
          </a:p>
        </p:txBody>
      </p:sp>
      <p:sp>
        <p:nvSpPr>
          <p:cNvPr id="24" name="badge"/>
          <p:cNvSpPr/>
          <p:nvPr/>
        </p:nvSpPr>
        <p:spPr>
          <a:xfrm>
            <a:off x="6278728" y="2697480"/>
            <a:ext cx="502920" cy="502920"/>
          </a:xfrm>
          <a:prstGeom prst="ellipse">
            <a:avLst/>
          </a:prstGeom>
          <a:solidFill>
            <a:schemeClr val="accent1"/>
          </a:solidFill>
          <a:ln w="12700">
            <a:solidFill>
              <a:schemeClr val="accent1"/>
            </a:solidFill>
            <a:prstDash val="solid"/>
          </a:ln>
        </p:spPr>
      </p:sp>
      <p:sp>
        <p:nvSpPr>
          <p:cNvPr id="25" name="badge-num"/>
          <p:cNvSpPr txBox="1"/>
          <p:nvPr/>
        </p:nvSpPr>
        <p:spPr>
          <a:xfrm>
            <a:off x="6278728" y="26974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6" name="toc-head"/>
          <p:cNvSpPr txBox="1"/>
          <p:nvPr/>
        </p:nvSpPr>
        <p:spPr>
          <a:xfrm>
            <a:off x="6964528" y="2651760"/>
            <a:ext cx="4678528" cy="36576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Preventivo di spesa</a:t>
            </a:r>
            <a:endParaRPr lang="en-US" sz="1800" dirty="0"/>
          </a:p>
        </p:txBody>
      </p:sp>
      <p:sp>
        <p:nvSpPr>
          <p:cNvPr id="27" name="toc-sub"/>
          <p:cNvSpPr txBox="1"/>
          <p:nvPr/>
        </p:nvSpPr>
        <p:spPr>
          <a:xfrm>
            <a:off x="6964528" y="3035808"/>
            <a:ext cx="4678528" cy="640080"/>
          </a:xfrm>
          <a:prstGeom prst="rect">
            <a:avLst/>
          </a:prstGeom>
          <a:noFill/>
          <a:ln/>
        </p:spPr>
        <p:txBody>
          <a:bodyPr wrap="square" lIns="0" tIns="0" rIns="0" bIns="0" rtlCol="0" anchor="t"/>
          <a:lstStyle/>
          <a:p>
            <a:pPr marL="0" indent="0">
              <a:buNone/>
            </a:pPr>
            <a:r>
              <a:rPr lang="en-US" sz="1300" dirty="0">
                <a:solidFill>
                  <a:schemeClr val="accent4"/>
                </a:solidFill>
              </a:rPr>
              <a:t>Edificio A · Edificio B · Giunzione A/B · condizioni</a:t>
            </a:r>
            <a:endParaRPr lang="en-US" sz="1300" dirty="0"/>
          </a:p>
        </p:txBody>
      </p:sp>
      <p:sp>
        <p:nvSpPr>
          <p:cNvPr id="28" name="badge"/>
          <p:cNvSpPr/>
          <p:nvPr/>
        </p:nvSpPr>
        <p:spPr>
          <a:xfrm>
            <a:off x="6278728" y="3840480"/>
            <a:ext cx="502920" cy="502920"/>
          </a:xfrm>
          <a:prstGeom prst="ellipse">
            <a:avLst/>
          </a:prstGeom>
          <a:solidFill>
            <a:schemeClr val="accent1"/>
          </a:solidFill>
          <a:ln w="12700">
            <a:solidFill>
              <a:schemeClr val="accent1"/>
            </a:solidFill>
            <a:prstDash val="solid"/>
          </a:ln>
        </p:spPr>
      </p:sp>
      <p:sp>
        <p:nvSpPr>
          <p:cNvPr id="29" name="badge-num"/>
          <p:cNvSpPr txBox="1"/>
          <p:nvPr/>
        </p:nvSpPr>
        <p:spPr>
          <a:xfrm>
            <a:off x="6278728" y="38404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7</a:t>
            </a:r>
            <a:endParaRPr lang="en-US" sz="1600" dirty="0"/>
          </a:p>
        </p:txBody>
      </p:sp>
      <p:sp>
        <p:nvSpPr>
          <p:cNvPr id="30" name="toc-head"/>
          <p:cNvSpPr txBox="1"/>
          <p:nvPr/>
        </p:nvSpPr>
        <p:spPr>
          <a:xfrm>
            <a:off x="6964528" y="3794760"/>
            <a:ext cx="4678528" cy="36576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Enigma</a:t>
            </a:r>
            <a:endParaRPr lang="en-US" sz="1800" dirty="0"/>
          </a:p>
        </p:txBody>
      </p:sp>
      <p:sp>
        <p:nvSpPr>
          <p:cNvPr id="31" name="toc-sub"/>
          <p:cNvSpPr txBox="1"/>
          <p:nvPr/>
        </p:nvSpPr>
        <p:spPr>
          <a:xfrm>
            <a:off x="6964528" y="4178808"/>
            <a:ext cx="4678528" cy="640080"/>
          </a:xfrm>
          <a:prstGeom prst="rect">
            <a:avLst/>
          </a:prstGeom>
          <a:noFill/>
          <a:ln/>
        </p:spPr>
        <p:txBody>
          <a:bodyPr wrap="square" lIns="0" tIns="0" rIns="0" bIns="0" rtlCol="0" anchor="t"/>
          <a:lstStyle/>
          <a:p>
            <a:pPr marL="0" indent="0">
              <a:buNone/>
            </a:pPr>
            <a:r>
              <a:rPr lang="en-US" sz="1300" dirty="0">
                <a:solidFill>
                  <a:schemeClr val="accent4"/>
                </a:solidFill>
              </a:rPr>
              <a:t>Analisi della cartella file della Compagnia Theta</a:t>
            </a:r>
            <a:endParaRPr lang="en-US" sz="1300" dirty="0"/>
          </a:p>
        </p:txBody>
      </p:sp>
      <p:sp>
        <p:nvSpPr>
          <p:cNvPr id="32"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463040"/>
          </a:xfrm>
          <a:prstGeom prst="rect">
            <a:avLst/>
          </a:prstGeom>
          <a:noFill/>
          <a:ln/>
        </p:spPr>
        <p:txBody>
          <a:bodyPr wrap="square" lIns="0" tIns="0" rIns="0" bIns="0" rtlCol="0"/>
          <a:lstStyle/>
          <a:p>
            <a:pPr marL="0" indent="0" algn="l">
              <a:buNone/>
            </a:pPr>
            <a:r>
              <a:rPr lang="en-US" sz="9600" b="1" dirty="0">
                <a:solidFill>
                  <a:schemeClr val="accent3"/>
                </a:solidFill>
                <a:latin typeface="Arial" pitchFamily="34" charset="0"/>
                <a:ea typeface="Arial" pitchFamily="34" charset="-122"/>
                <a:cs typeface="Arial" pitchFamily="34" charset="-120"/>
              </a:rPr>
              <a:t>01</a:t>
            </a:r>
            <a:endParaRPr lang="en-US" sz="9600" dirty="0"/>
          </a:p>
        </p:txBody>
      </p:sp>
      <p:sp>
        <p:nvSpPr>
          <p:cNvPr id="3" name="Text 0"/>
          <p:cNvSpPr>
            <a:spLocks noGrp="1"/>
          </p:cNvSpPr>
          <p:nvPr>
            <p:ph type="title" idx="101" hasCustomPrompt="1"/>
          </p:nvPr>
        </p:nvSpPr>
        <p:spPr>
          <a:xfrm>
            <a:off x="548640" y="2651760"/>
            <a:ext cx="6583680" cy="1097280"/>
          </a:xfrm>
          <a:prstGeom prst="rect">
            <a:avLst/>
          </a:prstGeom>
          <a:noFill/>
          <a:ln/>
        </p:spPr>
        <p:txBody>
          <a:bodyPr wrap="square" lIns="0" tIns="0" rIns="0" bIns="0" rtlCol="0" anchor="t"/>
          <a:lstStyle/>
          <a:p>
            <a:pPr marL="0" indent="0" algn="l">
              <a:buNone/>
            </a:pPr>
            <a:r>
              <a:rPr lang="en-US" sz="4000" b="1" dirty="0">
                <a:solidFill>
                  <a:schemeClr val="bg1"/>
                </a:solidFill>
                <a:latin typeface="Arial" pitchFamily="34" charset="0"/>
                <a:ea typeface="Arial" pitchFamily="34" charset="-122"/>
                <a:cs typeface="Arial" pitchFamily="34" charset="-120"/>
              </a:rPr>
              <a:t>Architettura di rete</a:t>
            </a:r>
            <a:endParaRPr lang="en-US" sz="4000" dirty="0"/>
          </a:p>
        </p:txBody>
      </p:sp>
      <p:sp>
        <p:nvSpPr>
          <p:cNvPr id="4" name="Text 0"/>
          <p:cNvSpPr>
            <a:spLocks noGrp="1"/>
          </p:cNvSpPr>
          <p:nvPr>
            <p:ph type="body" idx="102" hasCustomPrompt="1"/>
          </p:nvPr>
        </p:nvSpPr>
        <p:spPr>
          <a:xfrm>
            <a:off x="7589520" y="1280160"/>
            <a:ext cx="4023360" cy="4389120"/>
          </a:xfrm>
          <a:prstGeom prst="rect">
            <a:avLst/>
          </a:prstGeom>
          <a:noFill/>
          <a:ln/>
        </p:spPr>
        <p:txBody>
          <a:bodyPr wrap="square" lIns="0" tIns="0" rIns="0" bIns="0" rtlCol="0" anchor="ctr"/>
          <a:lstStyle/>
          <a:p>
            <a:pPr marL="0" indent="0" algn="l">
              <a:spcAft>
                <a:spcPts val="800"/>
              </a:spcAft>
              <a:buNone/>
            </a:pPr>
            <a:r>
              <a:rPr lang="en-US" sz="1500" dirty="0">
                <a:solidFill>
                  <a:schemeClr val="accent5"/>
                </a:solidFill>
              </a:rPr>
              <a:t>1.1 Architettura campus ad alta affidabilità (Collapsed Core)</a:t>
            </a:r>
            <a:endParaRPr lang="en-US" sz="1500" dirty="0"/>
          </a:p>
          <a:p>
            <a:pPr marL="0" indent="0" algn="l">
              <a:spcAft>
                <a:spcPts val="800"/>
              </a:spcAft>
              <a:buNone/>
            </a:pPr>
            <a:r>
              <a:rPr lang="en-US" sz="1500" dirty="0">
                <a:solidFill>
                  <a:schemeClr val="accent5"/>
                </a:solidFill>
              </a:rPr>
              <a:t>1.2 Configurazione degli apparati</a:t>
            </a:r>
            <a:endParaRPr lang="en-US" sz="1500" dirty="0"/>
          </a:p>
          <a:p>
            <a:pPr marL="0" indent="0" algn="l">
              <a:spcAft>
                <a:spcPts val="800"/>
              </a:spcAft>
              <a:buNone/>
            </a:pPr>
            <a:r>
              <a:rPr lang="en-US" sz="1500" dirty="0">
                <a:solidFill>
                  <a:schemeClr val="accent5"/>
                </a:solidFill>
              </a:rPr>
              <a:t>1.3 Piano di indirizzamento e subnetting</a:t>
            </a:r>
            <a:endParaRPr lang="en-US" sz="1500" dirty="0"/>
          </a:p>
          <a:p>
            <a:pPr marL="0" indent="0" algn="l">
              <a:spcAft>
                <a:spcPts val="800"/>
              </a:spcAft>
              <a:buNone/>
            </a:pPr>
            <a:r>
              <a:rPr lang="en-US" sz="1500" dirty="0">
                <a:solidFill>
                  <a:schemeClr val="accent5"/>
                </a:solidFill>
              </a:rPr>
              <a:t>1.4 Sicurezza perimetrale</a:t>
            </a:r>
            <a:endParaRPr lang="en-US" sz="1500" dirty="0"/>
          </a:p>
          <a:p>
            <a:pPr marL="0" indent="0" algn="l">
              <a:spcAft>
                <a:spcPts val="800"/>
              </a:spcAft>
              <a:buNone/>
            </a:pPr>
            <a:r>
              <a:rPr lang="en-US" sz="1500" dirty="0">
                <a:solidFill>
                  <a:schemeClr val="accent5"/>
                </a:solidFill>
              </a:rPr>
              <a:t>1.5 Collegamento inter-sede: studio di fattibilità</a:t>
            </a:r>
            <a:endParaRPr lang="en-US" sz="1500" dirty="0"/>
          </a:p>
          <a:p>
            <a:pPr marL="0" indent="0" algn="l">
              <a:spcAft>
                <a:spcPts val="800"/>
              </a:spcAft>
              <a:buNone/>
            </a:pPr>
            <a:r>
              <a:rPr lang="en-US" sz="1500" dirty="0">
                <a:solidFill>
                  <a:schemeClr val="accent5"/>
                </a:solidFill>
              </a:rPr>
              <a:t>1.6 Verifica e collaudo dell’infrastruttura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Due edifici, una rete</a:t>
            </a:r>
            <a:endParaRPr lang="en-US" sz="3000" dirty="0"/>
          </a:p>
        </p:txBody>
      </p:sp>
      <p:sp>
        <p:nvSpPr>
          <p:cNvPr id="4" name="body-text"/>
          <p:cNvSpPr txBox="1"/>
          <p:nvPr/>
        </p:nvSpPr>
        <p:spPr>
          <a:xfrm>
            <a:off x="548640" y="1554480"/>
            <a:ext cx="6035040" cy="4206240"/>
          </a:xfrm>
          <a:prstGeom prst="rect">
            <a:avLst/>
          </a:prstGeom>
          <a:noFill/>
          <a:ln/>
        </p:spPr>
        <p:txBody>
          <a:bodyPr wrap="square" lIns="0" tIns="0" rIns="0" bIns="0" rtlCol="0" anchor="t"/>
          <a:lstStyle/>
          <a:p>
            <a:pPr marL="0" indent="0">
              <a:spcAft>
                <a:spcPts val="800"/>
              </a:spcAft>
              <a:buNone/>
            </a:pPr>
            <a:r>
              <a:rPr lang="en-US" sz="1600" dirty="0">
                <a:solidFill>
                  <a:schemeClr val="tx2"/>
                </a:solidFill>
              </a:rPr>
              <a:t>Il presente capitolo descrive l’architettura di rete progettata per la Compagnia Theta, articolata su due edifici situati nella zona PIP (Piccoli Insediamenti Produttivi) del Comune di Cavenago di Brianza e distanti circa 250 metri l’uno dall’altro.</a:t>
            </a:r>
            <a:endParaRPr lang="en-US" sz="1600" dirty="0"/>
          </a:p>
          <a:p>
            <a:pPr marL="0" indent="0">
              <a:spcAft>
                <a:spcPts val="800"/>
              </a:spcAft>
              <a:buNone/>
            </a:pPr>
            <a:r>
              <a:rPr lang="en-US" sz="1600" dirty="0">
                <a:solidFill>
                  <a:schemeClr val="tx2"/>
                </a:solidFill>
              </a:rPr>
              <a:t>Sono illustrati il modello di distribuzione adottato, la configurazione dei principali apparati, il piano di indirizzamento, la sicurezza perimetrale e lo studio di fattibilità del collegamento tra le due sedi.</a:t>
            </a:r>
            <a:endParaRPr lang="en-US" sz="1600" dirty="0"/>
          </a:p>
          <a:p>
            <a:pPr marL="0" indent="0">
              <a:spcAft>
                <a:spcPts val="800"/>
              </a:spcAft>
              <a:buNone/>
            </a:pPr>
            <a:r>
              <a:rPr lang="en-US" sz="1600" dirty="0">
                <a:solidFill>
                  <a:schemeClr val="tx2"/>
                </a:solidFill>
              </a:rPr>
              <a:t>Le regole del firewall sono trattate nel capitolo 2, mentre il preventivo di spesa è riportato nel capitolo 6.</a:t>
            </a:r>
            <a:endParaRPr lang="en-US" sz="1600" dirty="0"/>
          </a:p>
        </p:txBody>
      </p:sp>
      <p:sp>
        <p:nvSpPr>
          <p:cNvPr id="5" name="stat-bg"/>
          <p:cNvSpPr/>
          <p:nvPr/>
        </p:nvSpPr>
        <p:spPr>
          <a:xfrm>
            <a:off x="7132320" y="1554480"/>
            <a:ext cx="4507992" cy="1234440"/>
          </a:xfrm>
          <a:prstGeom prst="roundRect">
            <a:avLst>
              <a:gd name="adj" fmla="val 7407"/>
            </a:avLst>
          </a:prstGeom>
          <a:solidFill>
            <a:schemeClr val="bg2"/>
          </a:solidFill>
          <a:ln w="12700">
            <a:solidFill>
              <a:schemeClr val="bg2"/>
            </a:solidFill>
            <a:prstDash val="solid"/>
          </a:ln>
        </p:spPr>
      </p:sp>
      <p:sp>
        <p:nvSpPr>
          <p:cNvPr id="6" name="stat"/>
          <p:cNvSpPr txBox="1"/>
          <p:nvPr/>
        </p:nvSpPr>
        <p:spPr>
          <a:xfrm>
            <a:off x="7406640" y="1664208"/>
            <a:ext cx="2011680" cy="1005840"/>
          </a:xfrm>
          <a:prstGeom prst="rect">
            <a:avLst/>
          </a:prstGeom>
          <a:noFill/>
          <a:ln/>
        </p:spPr>
        <p:txBody>
          <a:bodyPr wrap="square" lIns="0" tIns="0" rIns="0" bIns="0" rtlCol="0" anchor="ctr"/>
          <a:lstStyle/>
          <a:p>
            <a:pPr marL="0" indent="0">
              <a:buNone/>
            </a:pPr>
            <a:r>
              <a:rPr lang="en-US" sz="4400" b="1" dirty="0">
                <a:solidFill>
                  <a:schemeClr val="accent1"/>
                </a:solidFill>
                <a:latin typeface="Arial" pitchFamily="34" charset="0"/>
                <a:ea typeface="Arial" pitchFamily="34" charset="-122"/>
                <a:cs typeface="Arial" pitchFamily="34" charset="-120"/>
              </a:rPr>
              <a:t>2</a:t>
            </a:r>
            <a:endParaRPr lang="en-US" sz="4400" dirty="0"/>
          </a:p>
        </p:txBody>
      </p:sp>
      <p:sp>
        <p:nvSpPr>
          <p:cNvPr id="7" name="stat-label"/>
          <p:cNvSpPr txBox="1"/>
          <p:nvPr/>
        </p:nvSpPr>
        <p:spPr>
          <a:xfrm>
            <a:off x="9464040" y="1664208"/>
            <a:ext cx="2011680" cy="1005840"/>
          </a:xfrm>
          <a:prstGeom prst="rect">
            <a:avLst/>
          </a:prstGeom>
          <a:noFill/>
          <a:ln/>
        </p:spPr>
        <p:txBody>
          <a:bodyPr wrap="square" lIns="0" tIns="0" rIns="0" bIns="0" rtlCol="0" anchor="ctr"/>
          <a:lstStyle/>
          <a:p>
            <a:pPr marL="0" indent="0">
              <a:buNone/>
            </a:pPr>
            <a:r>
              <a:rPr lang="en-US" sz="1500" dirty="0">
                <a:solidFill>
                  <a:schemeClr val="tx2"/>
                </a:solidFill>
              </a:rPr>
              <a:t>edifici</a:t>
            </a:r>
            <a:endParaRPr lang="en-US" sz="1500" dirty="0"/>
          </a:p>
        </p:txBody>
      </p:sp>
      <p:sp>
        <p:nvSpPr>
          <p:cNvPr id="8" name="stat-bg"/>
          <p:cNvSpPr/>
          <p:nvPr/>
        </p:nvSpPr>
        <p:spPr>
          <a:xfrm>
            <a:off x="7132320" y="3017520"/>
            <a:ext cx="4507992" cy="1234440"/>
          </a:xfrm>
          <a:prstGeom prst="roundRect">
            <a:avLst>
              <a:gd name="adj" fmla="val 7407"/>
            </a:avLst>
          </a:prstGeom>
          <a:solidFill>
            <a:schemeClr val="bg2"/>
          </a:solidFill>
          <a:ln w="12700">
            <a:solidFill>
              <a:schemeClr val="bg2"/>
            </a:solidFill>
            <a:prstDash val="solid"/>
          </a:ln>
        </p:spPr>
      </p:sp>
      <p:sp>
        <p:nvSpPr>
          <p:cNvPr id="9" name="stat"/>
          <p:cNvSpPr txBox="1"/>
          <p:nvPr/>
        </p:nvSpPr>
        <p:spPr>
          <a:xfrm>
            <a:off x="7406640" y="3127248"/>
            <a:ext cx="2011680" cy="1005840"/>
          </a:xfrm>
          <a:prstGeom prst="rect">
            <a:avLst/>
          </a:prstGeom>
          <a:noFill/>
          <a:ln/>
        </p:spPr>
        <p:txBody>
          <a:bodyPr wrap="square" lIns="0" tIns="0" rIns="0" bIns="0" rtlCol="0" anchor="ctr"/>
          <a:lstStyle/>
          <a:p>
            <a:pPr marL="0" indent="0">
              <a:buNone/>
            </a:pPr>
            <a:r>
              <a:rPr lang="en-US" sz="4400" b="1" dirty="0">
                <a:solidFill>
                  <a:schemeClr val="accent1"/>
                </a:solidFill>
                <a:latin typeface="Arial" pitchFamily="34" charset="0"/>
                <a:ea typeface="Arial" pitchFamily="34" charset="-122"/>
                <a:cs typeface="Arial" pitchFamily="34" charset="-120"/>
              </a:rPr>
              <a:t>250 m</a:t>
            </a:r>
            <a:endParaRPr lang="en-US" sz="4400" dirty="0"/>
          </a:p>
        </p:txBody>
      </p:sp>
      <p:sp>
        <p:nvSpPr>
          <p:cNvPr id="10" name="stat-label"/>
          <p:cNvSpPr txBox="1"/>
          <p:nvPr/>
        </p:nvSpPr>
        <p:spPr>
          <a:xfrm>
            <a:off x="9464040" y="3127248"/>
            <a:ext cx="2011680" cy="1005840"/>
          </a:xfrm>
          <a:prstGeom prst="rect">
            <a:avLst/>
          </a:prstGeom>
          <a:noFill/>
          <a:ln/>
        </p:spPr>
        <p:txBody>
          <a:bodyPr wrap="square" lIns="0" tIns="0" rIns="0" bIns="0" rtlCol="0" anchor="ctr"/>
          <a:lstStyle/>
          <a:p>
            <a:pPr marL="0" indent="0">
              <a:buNone/>
            </a:pPr>
            <a:r>
              <a:rPr lang="en-US" sz="1500" dirty="0">
                <a:solidFill>
                  <a:schemeClr val="tx2"/>
                </a:solidFill>
              </a:rPr>
              <a:t>distanza tra le sedi</a:t>
            </a:r>
            <a:endParaRPr lang="en-US" sz="1500" dirty="0"/>
          </a:p>
        </p:txBody>
      </p:sp>
      <p:sp>
        <p:nvSpPr>
          <p:cNvPr id="11" name="stat-bg"/>
          <p:cNvSpPr/>
          <p:nvPr/>
        </p:nvSpPr>
        <p:spPr>
          <a:xfrm>
            <a:off x="7132320" y="4480560"/>
            <a:ext cx="4507992" cy="1234440"/>
          </a:xfrm>
          <a:prstGeom prst="roundRect">
            <a:avLst>
              <a:gd name="adj" fmla="val 7407"/>
            </a:avLst>
          </a:prstGeom>
          <a:solidFill>
            <a:schemeClr val="bg2"/>
          </a:solidFill>
          <a:ln w="12700">
            <a:solidFill>
              <a:schemeClr val="bg2"/>
            </a:solidFill>
            <a:prstDash val="solid"/>
          </a:ln>
        </p:spPr>
      </p:sp>
      <p:sp>
        <p:nvSpPr>
          <p:cNvPr id="12" name="stat"/>
          <p:cNvSpPr txBox="1"/>
          <p:nvPr/>
        </p:nvSpPr>
        <p:spPr>
          <a:xfrm>
            <a:off x="7406640" y="4590288"/>
            <a:ext cx="2011680" cy="1005840"/>
          </a:xfrm>
          <a:prstGeom prst="rect">
            <a:avLst/>
          </a:prstGeom>
          <a:noFill/>
          <a:ln/>
        </p:spPr>
        <p:txBody>
          <a:bodyPr wrap="square" lIns="0" tIns="0" rIns="0" bIns="0" rtlCol="0" anchor="ctr"/>
          <a:lstStyle/>
          <a:p>
            <a:pPr marL="0" indent="0">
              <a:buNone/>
            </a:pPr>
            <a:r>
              <a:rPr lang="en-US" sz="4400" b="1" dirty="0">
                <a:solidFill>
                  <a:schemeClr val="accent1"/>
                </a:solidFill>
                <a:latin typeface="Arial" pitchFamily="34" charset="0"/>
                <a:ea typeface="Arial" pitchFamily="34" charset="-122"/>
                <a:cs typeface="Arial" pitchFamily="34" charset="-120"/>
              </a:rPr>
              <a:t>210</a:t>
            </a:r>
            <a:endParaRPr lang="en-US" sz="4400" dirty="0"/>
          </a:p>
        </p:txBody>
      </p:sp>
      <p:sp>
        <p:nvSpPr>
          <p:cNvPr id="13" name="stat-label"/>
          <p:cNvSpPr txBox="1"/>
          <p:nvPr/>
        </p:nvSpPr>
        <p:spPr>
          <a:xfrm>
            <a:off x="9464040" y="4590288"/>
            <a:ext cx="2011680" cy="1005840"/>
          </a:xfrm>
          <a:prstGeom prst="rect">
            <a:avLst/>
          </a:prstGeom>
          <a:noFill/>
          <a:ln/>
        </p:spPr>
        <p:txBody>
          <a:bodyPr wrap="square" lIns="0" tIns="0" rIns="0" bIns="0" rtlCol="0" anchor="ctr"/>
          <a:lstStyle/>
          <a:p>
            <a:pPr marL="0" indent="0">
              <a:buNone/>
            </a:pPr>
            <a:r>
              <a:rPr lang="en-US" sz="1500" dirty="0">
                <a:solidFill>
                  <a:schemeClr val="tx2"/>
                </a:solidFill>
              </a:rPr>
              <a:t>postazioni totali</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1.1 Architettura campus ad alta affidabilità (Collapsed Core)</a:t>
            </a:r>
            <a:endParaRPr lang="en-US" sz="3000" dirty="0"/>
          </a:p>
        </p:txBody>
      </p:sp>
      <p:sp>
        <p:nvSpPr>
          <p:cNvPr id="4" name="intro"/>
          <p:cNvSpPr txBox="1"/>
          <p:nvPr/>
        </p:nvSpPr>
        <p:spPr>
          <a:xfrm>
            <a:off x="548640" y="1325880"/>
            <a:ext cx="11094415" cy="594360"/>
          </a:xfrm>
          <a:prstGeom prst="rect">
            <a:avLst/>
          </a:prstGeom>
          <a:noFill/>
          <a:ln/>
        </p:spPr>
        <p:txBody>
          <a:bodyPr wrap="square" lIns="0" tIns="0" rIns="0" bIns="0" rtlCol="0" anchor="ctr"/>
          <a:lstStyle/>
          <a:p>
            <a:pPr marL="0" indent="0">
              <a:buNone/>
            </a:pPr>
            <a:r>
              <a:rPr lang="en-US" sz="1500" dirty="0">
                <a:solidFill>
                  <a:schemeClr val="tx2"/>
                </a:solidFill>
              </a:rPr>
              <a:t>A sinistra la Sede 1 (nuova acquisizione, sei piani), al centro il nucleo della rete con il blocco firewall – router – Internet e la zona demilitarizzata (DMZ), a destra la Sede 2 (vecchio stabile restaurato, tre piani).</a:t>
            </a:r>
            <a:endParaRPr lang="en-US" sz="1500" dirty="0"/>
          </a:p>
        </p:txBody>
      </p:sp>
      <p:pic>
        <p:nvPicPr>
          <p:cNvPr id="5" name="img-topologia" descr="Schema topologico dell’infrastruttura di rete delle due sedi"/>
          <p:cNvPicPr>
            <a:picLocks noChangeAspect="1"/>
          </p:cNvPicPr>
          <p:nvPr/>
        </p:nvPicPr>
        <p:blipFill>
          <a:blip r:embed="rId3"/>
          <a:stretch>
            <a:fillRect/>
          </a:stretch>
        </p:blipFill>
        <p:spPr>
          <a:xfrm>
            <a:off x="2340777" y="2011680"/>
            <a:ext cx="7510141" cy="3886200"/>
          </a:xfrm>
          <a:prstGeom prst="rect">
            <a:avLst/>
          </a:prstGeom>
        </p:spPr>
      </p:pic>
      <p:sp>
        <p:nvSpPr>
          <p:cNvPr id="6" name="caption"/>
          <p:cNvSpPr txBox="1"/>
          <p:nvPr/>
        </p:nvSpPr>
        <p:spPr>
          <a:xfrm>
            <a:off x="548640" y="5943600"/>
            <a:ext cx="11094415"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1 – </a:t>
            </a:r>
            <a:r>
              <a:rPr lang="en-US" sz="1100" i="1" dirty="0">
                <a:solidFill>
                  <a:schemeClr val="accent4"/>
                </a:solidFill>
              </a:rPr>
              <a:t>Schema topologico dell’infrastruttura di rete delle due sedi.</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1.1.1 Panoramica dell’architettura</a:t>
            </a:r>
            <a:endParaRPr lang="en-US" sz="3000" dirty="0"/>
          </a:p>
        </p:txBody>
      </p:sp>
      <p:sp>
        <p:nvSpPr>
          <p:cNvPr id="4" name="intro"/>
          <p:cNvSpPr txBox="1"/>
          <p:nvPr/>
        </p:nvSpPr>
        <p:spPr>
          <a:xfrm>
            <a:off x="548640" y="1325880"/>
            <a:ext cx="11094415" cy="594360"/>
          </a:xfrm>
          <a:prstGeom prst="rect">
            <a:avLst/>
          </a:prstGeom>
          <a:noFill/>
          <a:ln/>
        </p:spPr>
        <p:txBody>
          <a:bodyPr wrap="square" lIns="0" tIns="0" rIns="0" bIns="0" rtlCol="0" anchor="ctr"/>
          <a:lstStyle/>
          <a:p>
            <a:pPr marL="0" indent="0">
              <a:buNone/>
            </a:pPr>
            <a:r>
              <a:rPr lang="en-US" sz="1500" dirty="0">
                <a:solidFill>
                  <a:schemeClr val="tx2"/>
                </a:solidFill>
              </a:rPr>
              <a:t>Infrastruttura distribuita su due sedi secondo il paradigma del Campus Model Compresso (Collapsed Core), con elevata ridondanza. I servizi DHCP sono integrati negli switch core e consentono la gestione dinamica degli indirizzi IP.</a:t>
            </a:r>
            <a:endParaRPr lang="en-US" sz="1500" dirty="0"/>
          </a:p>
        </p:txBody>
      </p:sp>
      <p:sp>
        <p:nvSpPr>
          <p:cNvPr id="5" name="card"/>
          <p:cNvSpPr/>
          <p:nvPr/>
        </p:nvSpPr>
        <p:spPr>
          <a:xfrm>
            <a:off x="548640" y="2011680"/>
            <a:ext cx="5410048" cy="2194560"/>
          </a:xfrm>
          <a:prstGeom prst="roundRect">
            <a:avLst>
              <a:gd name="adj" fmla="val 4167"/>
            </a:avLst>
          </a:prstGeom>
          <a:solidFill>
            <a:schemeClr val="bg2"/>
          </a:solidFill>
          <a:ln w="12700">
            <a:solidFill>
              <a:schemeClr val="bg2"/>
            </a:solidFill>
            <a:prstDash val="solid"/>
          </a:ln>
        </p:spPr>
      </p:sp>
      <p:sp>
        <p:nvSpPr>
          <p:cNvPr id="6" name="badge"/>
          <p:cNvSpPr/>
          <p:nvPr/>
        </p:nvSpPr>
        <p:spPr>
          <a:xfrm>
            <a:off x="777240" y="2240280"/>
            <a:ext cx="457200" cy="457200"/>
          </a:xfrm>
          <a:prstGeom prst="ellipse">
            <a:avLst/>
          </a:prstGeom>
          <a:solidFill>
            <a:schemeClr val="accent1"/>
          </a:solidFill>
          <a:ln w="12700">
            <a:solidFill>
              <a:schemeClr val="accent1"/>
            </a:solidFill>
            <a:prstDash val="solid"/>
          </a:ln>
        </p:spPr>
      </p:sp>
      <p:sp>
        <p:nvSpPr>
          <p:cNvPr id="7" name="badge-num"/>
          <p:cNvSpPr txBox="1"/>
          <p:nvPr/>
        </p:nvSpPr>
        <p:spPr>
          <a:xfrm>
            <a:off x="777240" y="224028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8" name="card-head"/>
          <p:cNvSpPr txBox="1"/>
          <p:nvPr/>
        </p:nvSpPr>
        <p:spPr>
          <a:xfrm>
            <a:off x="1417320" y="221284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Sede 1 – edificio principale, sei piani</a:t>
            </a:r>
            <a:endParaRPr lang="en-US" sz="1600" dirty="0"/>
          </a:p>
        </p:txBody>
      </p:sp>
      <p:sp>
        <p:nvSpPr>
          <p:cNvPr id="9" name="card-body"/>
          <p:cNvSpPr txBox="1"/>
          <p:nvPr/>
        </p:nvSpPr>
        <p:spPr>
          <a:xfrm>
            <a:off x="777240" y="2834640"/>
            <a:ext cx="4952848" cy="1234440"/>
          </a:xfrm>
          <a:prstGeom prst="rect">
            <a:avLst/>
          </a:prstGeom>
          <a:noFill/>
          <a:ln/>
        </p:spPr>
        <p:txBody>
          <a:bodyPr wrap="square" lIns="0" tIns="0" rIns="0" bIns="0" rtlCol="0" anchor="t"/>
          <a:lstStyle/>
          <a:p>
            <a:pPr marL="0" indent="0">
              <a:buNone/>
            </a:pPr>
            <a:r>
              <a:rPr lang="en-US" sz="1300" dirty="0">
                <a:solidFill>
                  <a:schemeClr val="tx2"/>
                </a:solidFill>
              </a:rPr>
              <a:t>Venti computer per piano (120 postazioni), ciascuno collegato a uno switch di piano dedicato, attestato ai due Multilayer Switch Core 1 e Core 2, che fungono da router centrale. Ospita firewall perimetrale, router edge verso Internet, DMZ con il server DVWA e il NAS, connesso allo switch del piano terra, in prossimità del nucleo, affinché i dati siano accessibili a tutti i computer aziendali.</a:t>
            </a:r>
            <a:endParaRPr lang="en-US" sz="1300" dirty="0"/>
          </a:p>
        </p:txBody>
      </p:sp>
      <p:sp>
        <p:nvSpPr>
          <p:cNvPr id="10" name="card"/>
          <p:cNvSpPr/>
          <p:nvPr/>
        </p:nvSpPr>
        <p:spPr>
          <a:xfrm>
            <a:off x="6233008" y="2011680"/>
            <a:ext cx="5410048" cy="2194560"/>
          </a:xfrm>
          <a:prstGeom prst="roundRect">
            <a:avLst>
              <a:gd name="adj" fmla="val 4167"/>
            </a:avLst>
          </a:prstGeom>
          <a:solidFill>
            <a:schemeClr val="bg2"/>
          </a:solidFill>
          <a:ln w="12700">
            <a:solidFill>
              <a:schemeClr val="bg2"/>
            </a:solidFill>
            <a:prstDash val="solid"/>
          </a:ln>
        </p:spPr>
      </p:sp>
      <p:sp>
        <p:nvSpPr>
          <p:cNvPr id="11" name="badge"/>
          <p:cNvSpPr/>
          <p:nvPr/>
        </p:nvSpPr>
        <p:spPr>
          <a:xfrm>
            <a:off x="6461608" y="2240280"/>
            <a:ext cx="457200" cy="457200"/>
          </a:xfrm>
          <a:prstGeom prst="ellipse">
            <a:avLst/>
          </a:prstGeom>
          <a:solidFill>
            <a:schemeClr val="accent1"/>
          </a:solidFill>
          <a:ln w="12700">
            <a:solidFill>
              <a:schemeClr val="accent1"/>
            </a:solidFill>
            <a:prstDash val="solid"/>
          </a:ln>
        </p:spPr>
      </p:sp>
      <p:sp>
        <p:nvSpPr>
          <p:cNvPr id="12" name="badge-num"/>
          <p:cNvSpPr txBox="1"/>
          <p:nvPr/>
        </p:nvSpPr>
        <p:spPr>
          <a:xfrm>
            <a:off x="6461608" y="224028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card-head"/>
          <p:cNvSpPr txBox="1"/>
          <p:nvPr/>
        </p:nvSpPr>
        <p:spPr>
          <a:xfrm>
            <a:off x="7101688" y="221284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Sede 2 – edificio secondario, tre piani</a:t>
            </a:r>
            <a:endParaRPr lang="en-US" sz="1600" dirty="0"/>
          </a:p>
        </p:txBody>
      </p:sp>
      <p:sp>
        <p:nvSpPr>
          <p:cNvPr id="14" name="card-body"/>
          <p:cNvSpPr txBox="1"/>
          <p:nvPr/>
        </p:nvSpPr>
        <p:spPr>
          <a:xfrm>
            <a:off x="6461608" y="2834640"/>
            <a:ext cx="4952848" cy="1234440"/>
          </a:xfrm>
          <a:prstGeom prst="rect">
            <a:avLst/>
          </a:prstGeom>
          <a:noFill/>
          <a:ln/>
        </p:spPr>
        <p:txBody>
          <a:bodyPr wrap="square" lIns="0" tIns="0" rIns="0" bIns="0" rtlCol="0" anchor="t"/>
          <a:lstStyle/>
          <a:p>
            <a:pPr marL="0" indent="0">
              <a:buNone/>
            </a:pPr>
            <a:r>
              <a:rPr lang="en-US" sz="1300" dirty="0">
                <a:solidFill>
                  <a:schemeClr val="tx2"/>
                </a:solidFill>
              </a:rPr>
              <a:t>Trenta computer per piano (90 postazioni), serviti da switch di piano e da una coppia di Multilayer Switch (Core 3 e Core 4) distribuiti su tre piani con le relative VLAN di piano. Il traffico è instradato verso la Sede 1 mediante il collegamento in fibra ottica ridondato descritto al paragrafo 1.5.</a:t>
            </a:r>
            <a:endParaRPr lang="en-US" sz="1300" dirty="0"/>
          </a:p>
        </p:txBody>
      </p:sp>
      <p:sp>
        <p:nvSpPr>
          <p:cNvPr id="15" name="card"/>
          <p:cNvSpPr/>
          <p:nvPr/>
        </p:nvSpPr>
        <p:spPr>
          <a:xfrm>
            <a:off x="548640" y="4389120"/>
            <a:ext cx="5410048" cy="1600200"/>
          </a:xfrm>
          <a:prstGeom prst="roundRect">
            <a:avLst>
              <a:gd name="adj" fmla="val 5714"/>
            </a:avLst>
          </a:prstGeom>
          <a:solidFill>
            <a:schemeClr val="bg2"/>
          </a:solidFill>
          <a:ln w="12700">
            <a:solidFill>
              <a:schemeClr val="bg2"/>
            </a:solidFill>
            <a:prstDash val="solid"/>
          </a:ln>
        </p:spPr>
      </p:sp>
      <p:sp>
        <p:nvSpPr>
          <p:cNvPr id="16" name="badge"/>
          <p:cNvSpPr/>
          <p:nvPr/>
        </p:nvSpPr>
        <p:spPr>
          <a:xfrm>
            <a:off x="777240" y="4617720"/>
            <a:ext cx="457200" cy="457200"/>
          </a:xfrm>
          <a:prstGeom prst="ellipse">
            <a:avLst/>
          </a:prstGeom>
          <a:solidFill>
            <a:schemeClr val="accent1"/>
          </a:solidFill>
          <a:ln w="12700">
            <a:solidFill>
              <a:schemeClr val="accent1"/>
            </a:solidFill>
            <a:prstDash val="solid"/>
          </a:ln>
        </p:spPr>
      </p:sp>
      <p:sp>
        <p:nvSpPr>
          <p:cNvPr id="17" name="badge-num"/>
          <p:cNvSpPr txBox="1"/>
          <p:nvPr/>
        </p:nvSpPr>
        <p:spPr>
          <a:xfrm>
            <a:off x="777240" y="461772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8" name="card-head"/>
          <p:cNvSpPr txBox="1"/>
          <p:nvPr/>
        </p:nvSpPr>
        <p:spPr>
          <a:xfrm>
            <a:off x="1417320" y="459028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DMZ unica</a:t>
            </a:r>
            <a:endParaRPr lang="en-US" sz="1600" dirty="0"/>
          </a:p>
        </p:txBody>
      </p:sp>
      <p:sp>
        <p:nvSpPr>
          <p:cNvPr id="19" name="card-body"/>
          <p:cNvSpPr txBox="1"/>
          <p:nvPr/>
        </p:nvSpPr>
        <p:spPr>
          <a:xfrm>
            <a:off x="777240" y="5212080"/>
            <a:ext cx="4952848" cy="640080"/>
          </a:xfrm>
          <a:prstGeom prst="rect">
            <a:avLst/>
          </a:prstGeom>
          <a:noFill/>
          <a:ln/>
        </p:spPr>
        <p:txBody>
          <a:bodyPr wrap="square" lIns="0" tIns="0" rIns="0" bIns="0" rtlCol="0" anchor="t"/>
          <a:lstStyle/>
          <a:p>
            <a:pPr marL="0" indent="0">
              <a:buNone/>
            </a:pPr>
            <a:r>
              <a:rPr lang="en-US" sz="1300" dirty="0">
                <a:solidFill>
                  <a:schemeClr val="tx2"/>
                </a:solidFill>
              </a:rPr>
              <a:t>L’intera infrastruttura utilizza una sola DMZ, ubicata nell’edificio della Sede 1. La Sede 2 non dispone di una DMZ propria e raggiunge i servizi pubblicati attraverso il perimetro della Sede 1.</a:t>
            </a:r>
            <a:endParaRPr lang="en-US" sz="1300" dirty="0"/>
          </a:p>
        </p:txBody>
      </p:sp>
      <p:sp>
        <p:nvSpPr>
          <p:cNvPr id="20" name="card"/>
          <p:cNvSpPr/>
          <p:nvPr/>
        </p:nvSpPr>
        <p:spPr>
          <a:xfrm>
            <a:off x="6233008" y="4389120"/>
            <a:ext cx="5410048" cy="1600200"/>
          </a:xfrm>
          <a:prstGeom prst="roundRect">
            <a:avLst>
              <a:gd name="adj" fmla="val 5714"/>
            </a:avLst>
          </a:prstGeom>
          <a:solidFill>
            <a:schemeClr val="bg2"/>
          </a:solidFill>
          <a:ln w="12700">
            <a:solidFill>
              <a:schemeClr val="bg2"/>
            </a:solidFill>
            <a:prstDash val="solid"/>
          </a:ln>
        </p:spPr>
      </p:sp>
      <p:sp>
        <p:nvSpPr>
          <p:cNvPr id="21" name="badge"/>
          <p:cNvSpPr/>
          <p:nvPr/>
        </p:nvSpPr>
        <p:spPr>
          <a:xfrm>
            <a:off x="6461608" y="4617720"/>
            <a:ext cx="457200" cy="457200"/>
          </a:xfrm>
          <a:prstGeom prst="ellipse">
            <a:avLst/>
          </a:prstGeom>
          <a:solidFill>
            <a:schemeClr val="accent1"/>
          </a:solidFill>
          <a:ln w="12700">
            <a:solidFill>
              <a:schemeClr val="accent1"/>
            </a:solidFill>
            <a:prstDash val="solid"/>
          </a:ln>
        </p:spPr>
      </p:sp>
      <p:sp>
        <p:nvSpPr>
          <p:cNvPr id="22" name="badge-num"/>
          <p:cNvSpPr txBox="1"/>
          <p:nvPr/>
        </p:nvSpPr>
        <p:spPr>
          <a:xfrm>
            <a:off x="6461608" y="461772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23" name="card-head"/>
          <p:cNvSpPr txBox="1"/>
          <p:nvPr/>
        </p:nvSpPr>
        <p:spPr>
          <a:xfrm>
            <a:off x="7101688" y="459028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Servizi DHCP integrati</a:t>
            </a:r>
            <a:endParaRPr lang="en-US" sz="1600" dirty="0"/>
          </a:p>
        </p:txBody>
      </p:sp>
      <p:sp>
        <p:nvSpPr>
          <p:cNvPr id="24" name="card-body"/>
          <p:cNvSpPr txBox="1"/>
          <p:nvPr/>
        </p:nvSpPr>
        <p:spPr>
          <a:xfrm>
            <a:off x="6461608" y="5212080"/>
            <a:ext cx="4952848" cy="640080"/>
          </a:xfrm>
          <a:prstGeom prst="rect">
            <a:avLst/>
          </a:prstGeom>
          <a:noFill/>
          <a:ln/>
        </p:spPr>
        <p:txBody>
          <a:bodyPr wrap="square" lIns="0" tIns="0" rIns="0" bIns="0" rtlCol="0" anchor="t"/>
          <a:lstStyle/>
          <a:p>
            <a:pPr marL="0" indent="0">
              <a:buNone/>
            </a:pPr>
            <a:r>
              <a:rPr lang="en-US" sz="1300" dirty="0">
                <a:solidFill>
                  <a:schemeClr val="tx2"/>
                </a:solidFill>
              </a:rPr>
              <a:t>I Multilayer Switch di ciascuna sede operano come server DHCP locali per le rispettive VLAN. I pool sono definiti escludendo i primi indirizzi, riservati alle interfacce SVI e agli indirizzi virtuali HSRP.</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1.1.2 Perché il modello Collapsed Core (due livelli)</a:t>
            </a:r>
            <a:endParaRPr lang="en-US" sz="3000" dirty="0"/>
          </a:p>
        </p:txBody>
      </p:sp>
      <p:sp>
        <p:nvSpPr>
          <p:cNvPr id="4" name="intro"/>
          <p:cNvSpPr txBox="1"/>
          <p:nvPr/>
        </p:nvSpPr>
        <p:spPr>
          <a:xfrm>
            <a:off x="548640" y="1325880"/>
            <a:ext cx="11094415" cy="640080"/>
          </a:xfrm>
          <a:prstGeom prst="rect">
            <a:avLst/>
          </a:prstGeom>
          <a:noFill/>
          <a:ln/>
        </p:spPr>
        <p:txBody>
          <a:bodyPr wrap="square" lIns="0" tIns="0" rIns="0" bIns="0" rtlCol="0" anchor="ctr"/>
          <a:lstStyle/>
          <a:p>
            <a:pPr marL="0" indent="0">
              <a:buNone/>
            </a:pPr>
            <a:r>
              <a:rPr lang="en-US" sz="1500" dirty="0">
                <a:solidFill>
                  <a:schemeClr val="tx2"/>
                </a:solidFill>
              </a:rPr>
              <a:t>Per il campus distribuito su due sedi è stata preferita la topologia Collapsed Core al tradizionale modello a tre livelli (Core, Distribution, Access). Tale scelta progettuale comporta i seguenti vantaggi operativi e prestazionali:</a:t>
            </a:r>
            <a:endParaRPr lang="en-US" sz="1500" dirty="0"/>
          </a:p>
        </p:txBody>
      </p:sp>
      <p:sp>
        <p:nvSpPr>
          <p:cNvPr id="5" name="card"/>
          <p:cNvSpPr/>
          <p:nvPr/>
        </p:nvSpPr>
        <p:spPr>
          <a:xfrm>
            <a:off x="548640" y="2194560"/>
            <a:ext cx="3515258" cy="3566160"/>
          </a:xfrm>
          <a:prstGeom prst="roundRect">
            <a:avLst>
              <a:gd name="adj" fmla="val 2601"/>
            </a:avLst>
          </a:prstGeom>
          <a:solidFill>
            <a:schemeClr val="bg2"/>
          </a:solidFill>
          <a:ln w="12700">
            <a:solidFill>
              <a:schemeClr val="bg2"/>
            </a:solidFill>
            <a:prstDash val="solid"/>
          </a:ln>
        </p:spPr>
      </p:sp>
      <p:sp>
        <p:nvSpPr>
          <p:cNvPr id="6" name="badge"/>
          <p:cNvSpPr/>
          <p:nvPr/>
        </p:nvSpPr>
        <p:spPr>
          <a:xfrm>
            <a:off x="777240" y="2423160"/>
            <a:ext cx="457200" cy="457200"/>
          </a:xfrm>
          <a:prstGeom prst="ellipse">
            <a:avLst/>
          </a:prstGeom>
          <a:solidFill>
            <a:schemeClr val="accent1"/>
          </a:solidFill>
          <a:ln w="12700">
            <a:solidFill>
              <a:schemeClr val="accent1"/>
            </a:solidFill>
            <a:prstDash val="solid"/>
          </a:ln>
        </p:spPr>
      </p:sp>
      <p:sp>
        <p:nvSpPr>
          <p:cNvPr id="7" name="badge-num"/>
          <p:cNvSpPr txBox="1"/>
          <p:nvPr/>
        </p:nvSpPr>
        <p:spPr>
          <a:xfrm>
            <a:off x="777240" y="242316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8" name="card-head"/>
          <p:cNvSpPr txBox="1"/>
          <p:nvPr/>
        </p:nvSpPr>
        <p:spPr>
          <a:xfrm>
            <a:off x="1417320" y="239572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Riduzione della latenza</a:t>
            </a:r>
            <a:endParaRPr lang="en-US" sz="1600" dirty="0"/>
          </a:p>
        </p:txBody>
      </p:sp>
      <p:sp>
        <p:nvSpPr>
          <p:cNvPr id="9" name="card-body"/>
          <p:cNvSpPr txBox="1"/>
          <p:nvPr/>
        </p:nvSpPr>
        <p:spPr>
          <a:xfrm>
            <a:off x="777240" y="3017520"/>
            <a:ext cx="3058058" cy="2606040"/>
          </a:xfrm>
          <a:prstGeom prst="rect">
            <a:avLst/>
          </a:prstGeom>
          <a:noFill/>
          <a:ln/>
        </p:spPr>
        <p:txBody>
          <a:bodyPr wrap="square" lIns="0" tIns="0" rIns="0" bIns="0" rtlCol="0" anchor="t"/>
          <a:lstStyle/>
          <a:p>
            <a:pPr marL="0" indent="0">
              <a:buNone/>
            </a:pPr>
            <a:r>
              <a:rPr lang="en-US" sz="1400" dirty="0">
                <a:solidFill>
                  <a:schemeClr val="tx2"/>
                </a:solidFill>
              </a:rPr>
              <a:t>L’unificazione dei livelli Core e Distribution in un unico layer multilivello riduce il numero di hop di routing per il traffico inter-VLAN e inter-sede, migliorando i tempi di risposta delle applicazioni.</a:t>
            </a:r>
            <a:endParaRPr lang="en-US" sz="1400" dirty="0"/>
          </a:p>
        </p:txBody>
      </p:sp>
      <p:sp>
        <p:nvSpPr>
          <p:cNvPr id="10" name="card"/>
          <p:cNvSpPr/>
          <p:nvPr/>
        </p:nvSpPr>
        <p:spPr>
          <a:xfrm>
            <a:off x="4338218" y="2194560"/>
            <a:ext cx="3515258" cy="3566160"/>
          </a:xfrm>
          <a:prstGeom prst="roundRect">
            <a:avLst>
              <a:gd name="adj" fmla="val 2601"/>
            </a:avLst>
          </a:prstGeom>
          <a:solidFill>
            <a:schemeClr val="bg2"/>
          </a:solidFill>
          <a:ln w="12700">
            <a:solidFill>
              <a:schemeClr val="bg2"/>
            </a:solidFill>
            <a:prstDash val="solid"/>
          </a:ln>
        </p:spPr>
      </p:sp>
      <p:sp>
        <p:nvSpPr>
          <p:cNvPr id="11" name="badge"/>
          <p:cNvSpPr/>
          <p:nvPr/>
        </p:nvSpPr>
        <p:spPr>
          <a:xfrm>
            <a:off x="4566818" y="2423160"/>
            <a:ext cx="457200" cy="457200"/>
          </a:xfrm>
          <a:prstGeom prst="ellipse">
            <a:avLst/>
          </a:prstGeom>
          <a:solidFill>
            <a:schemeClr val="accent1"/>
          </a:solidFill>
          <a:ln w="12700">
            <a:solidFill>
              <a:schemeClr val="accent1"/>
            </a:solidFill>
            <a:prstDash val="solid"/>
          </a:ln>
        </p:spPr>
      </p:sp>
      <p:sp>
        <p:nvSpPr>
          <p:cNvPr id="12" name="badge-num"/>
          <p:cNvSpPr txBox="1"/>
          <p:nvPr/>
        </p:nvSpPr>
        <p:spPr>
          <a:xfrm>
            <a:off x="4566818" y="242316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card-head"/>
          <p:cNvSpPr txBox="1"/>
          <p:nvPr/>
        </p:nvSpPr>
        <p:spPr>
          <a:xfrm>
            <a:off x="5206898" y="239572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Ottimizzazione dei costi e della gestione</a:t>
            </a:r>
            <a:endParaRPr lang="en-US" sz="1600" dirty="0"/>
          </a:p>
        </p:txBody>
      </p:sp>
      <p:sp>
        <p:nvSpPr>
          <p:cNvPr id="14" name="card-body"/>
          <p:cNvSpPr txBox="1"/>
          <p:nvPr/>
        </p:nvSpPr>
        <p:spPr>
          <a:xfrm>
            <a:off x="4566818" y="3017520"/>
            <a:ext cx="3058058" cy="2606040"/>
          </a:xfrm>
          <a:prstGeom prst="rect">
            <a:avLst/>
          </a:prstGeom>
          <a:noFill/>
          <a:ln/>
        </p:spPr>
        <p:txBody>
          <a:bodyPr wrap="square" lIns="0" tIns="0" rIns="0" bIns="0" rtlCol="0" anchor="t"/>
          <a:lstStyle/>
          <a:p>
            <a:pPr marL="0" indent="0">
              <a:buNone/>
            </a:pPr>
            <a:r>
              <a:rPr lang="en-US" sz="1400" dirty="0">
                <a:solidFill>
                  <a:schemeClr val="tx2"/>
                </a:solidFill>
              </a:rPr>
              <a:t>Riduce in misura significativa i costi di acquisizione dell’hardware, il consumo energetico e gli oneri di manutenzione, semplificando la topologia senza compromettere le funzionalità.</a:t>
            </a:r>
            <a:endParaRPr lang="en-US" sz="1400" dirty="0"/>
          </a:p>
        </p:txBody>
      </p:sp>
      <p:sp>
        <p:nvSpPr>
          <p:cNvPr id="15" name="card"/>
          <p:cNvSpPr/>
          <p:nvPr/>
        </p:nvSpPr>
        <p:spPr>
          <a:xfrm>
            <a:off x="8127797" y="2194560"/>
            <a:ext cx="3515258" cy="3566160"/>
          </a:xfrm>
          <a:prstGeom prst="roundRect">
            <a:avLst>
              <a:gd name="adj" fmla="val 2601"/>
            </a:avLst>
          </a:prstGeom>
          <a:solidFill>
            <a:schemeClr val="bg2"/>
          </a:solidFill>
          <a:ln w="12700">
            <a:solidFill>
              <a:schemeClr val="bg2"/>
            </a:solidFill>
            <a:prstDash val="solid"/>
          </a:ln>
        </p:spPr>
      </p:sp>
      <p:sp>
        <p:nvSpPr>
          <p:cNvPr id="16" name="badge"/>
          <p:cNvSpPr/>
          <p:nvPr/>
        </p:nvSpPr>
        <p:spPr>
          <a:xfrm>
            <a:off x="8356397" y="2423160"/>
            <a:ext cx="457200" cy="457200"/>
          </a:xfrm>
          <a:prstGeom prst="ellipse">
            <a:avLst/>
          </a:prstGeom>
          <a:solidFill>
            <a:schemeClr val="accent1"/>
          </a:solidFill>
          <a:ln w="12700">
            <a:solidFill>
              <a:schemeClr val="accent1"/>
            </a:solidFill>
            <a:prstDash val="solid"/>
          </a:ln>
        </p:spPr>
      </p:sp>
      <p:sp>
        <p:nvSpPr>
          <p:cNvPr id="17" name="badge-num"/>
          <p:cNvSpPr txBox="1"/>
          <p:nvPr/>
        </p:nvSpPr>
        <p:spPr>
          <a:xfrm>
            <a:off x="8356397" y="242316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8" name="card-head"/>
          <p:cNvSpPr txBox="1"/>
          <p:nvPr/>
        </p:nvSpPr>
        <p:spPr>
          <a:xfrm>
            <a:off x="8996477" y="239572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Eliminazione dei Single Point of Failure (SPOF)</a:t>
            </a:r>
            <a:endParaRPr lang="en-US" sz="1600" dirty="0"/>
          </a:p>
        </p:txBody>
      </p:sp>
      <p:sp>
        <p:nvSpPr>
          <p:cNvPr id="19" name="card-body"/>
          <p:cNvSpPr txBox="1"/>
          <p:nvPr/>
        </p:nvSpPr>
        <p:spPr>
          <a:xfrm>
            <a:off x="8356397" y="3017520"/>
            <a:ext cx="3058058" cy="2606040"/>
          </a:xfrm>
          <a:prstGeom prst="rect">
            <a:avLst/>
          </a:prstGeom>
          <a:noFill/>
          <a:ln/>
        </p:spPr>
        <p:txBody>
          <a:bodyPr wrap="square" lIns="0" tIns="0" rIns="0" bIns="0" rtlCol="0" anchor="t"/>
          <a:lstStyle/>
          <a:p>
            <a:pPr marL="0" indent="0">
              <a:buNone/>
            </a:pPr>
            <a:r>
              <a:rPr lang="en-US" sz="1400" dirty="0">
                <a:solidFill>
                  <a:schemeClr val="tx2"/>
                </a:solidFill>
              </a:rPr>
              <a:t>La ridondanza attiva-passiva a livello di gateway (HSRP), unita alle doppie dorsali in fibra ottica tra le sedi, garantisce la continuità del servizio anche in caso di guasto di un intero switch core o di un cavo di dorsale.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1.1.3 Sistemi e tecnologie utilizzati</a:t>
            </a:r>
            <a:endParaRPr lang="en-US" sz="3000" dirty="0"/>
          </a:p>
        </p:txBody>
      </p:sp>
      <p:sp>
        <p:nvSpPr>
          <p:cNvPr id="4" name="card"/>
          <p:cNvSpPr/>
          <p:nvPr/>
        </p:nvSpPr>
        <p:spPr>
          <a:xfrm>
            <a:off x="548640" y="1417320"/>
            <a:ext cx="3515258" cy="2240280"/>
          </a:xfrm>
          <a:prstGeom prst="roundRect">
            <a:avLst>
              <a:gd name="adj" fmla="val 4082"/>
            </a:avLst>
          </a:prstGeom>
          <a:solidFill>
            <a:schemeClr val="bg2"/>
          </a:solidFill>
          <a:ln w="12700">
            <a:solidFill>
              <a:schemeClr val="bg2"/>
            </a:solidFill>
            <a:prstDash val="solid"/>
          </a:ln>
        </p:spPr>
      </p:sp>
      <p:sp>
        <p:nvSpPr>
          <p:cNvPr id="5" name="badge"/>
          <p:cNvSpPr/>
          <p:nvPr/>
        </p:nvSpPr>
        <p:spPr>
          <a:xfrm>
            <a:off x="777240" y="1645920"/>
            <a:ext cx="457200" cy="457200"/>
          </a:xfrm>
          <a:prstGeom prst="ellipse">
            <a:avLst/>
          </a:prstGeom>
          <a:solidFill>
            <a:schemeClr val="accent1"/>
          </a:solidFill>
          <a:ln w="12700">
            <a:solidFill>
              <a:schemeClr val="accent1"/>
            </a:solidFill>
            <a:prstDash val="solid"/>
          </a:ln>
        </p:spPr>
      </p:sp>
      <p:sp>
        <p:nvSpPr>
          <p:cNvPr id="6" name="badge-num"/>
          <p:cNvSpPr txBox="1"/>
          <p:nvPr/>
        </p:nvSpPr>
        <p:spPr>
          <a:xfrm>
            <a:off x="777240" y="164592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card-head"/>
          <p:cNvSpPr txBox="1"/>
          <p:nvPr/>
        </p:nvSpPr>
        <p:spPr>
          <a:xfrm>
            <a:off x="1417320" y="1618488"/>
            <a:ext cx="2463698" cy="512064"/>
          </a:xfrm>
          <a:prstGeom prst="rect">
            <a:avLst/>
          </a:prstGeom>
          <a:noFill/>
          <a:ln/>
        </p:spPr>
        <p:txBody>
          <a:bodyPr wrap="square" lIns="0" tIns="0" rIns="0" bIns="0" rtlCol="0" anchor="ctr"/>
          <a:lstStyle/>
          <a:p>
            <a:pPr marL="0" indent="0">
              <a:buNone/>
            </a:pPr>
            <a:r>
              <a:rPr lang="en-US" sz="1500" b="1" dirty="0">
                <a:solidFill>
                  <a:schemeClr val="tx1"/>
                </a:solidFill>
                <a:latin typeface="Arial" pitchFamily="34" charset="0"/>
                <a:ea typeface="Arial" pitchFamily="34" charset="-122"/>
                <a:cs typeface="Arial" pitchFamily="34" charset="-120"/>
              </a:rPr>
              <a:t>Multilayer Switch</a:t>
            </a:r>
            <a:endParaRPr lang="en-US" sz="1500" dirty="0"/>
          </a:p>
        </p:txBody>
      </p:sp>
      <p:sp>
        <p:nvSpPr>
          <p:cNvPr id="8" name="card-body"/>
          <p:cNvSpPr txBox="1"/>
          <p:nvPr/>
        </p:nvSpPr>
        <p:spPr>
          <a:xfrm>
            <a:off x="777240" y="2240280"/>
            <a:ext cx="3058058" cy="1280160"/>
          </a:xfrm>
          <a:prstGeom prst="rect">
            <a:avLst/>
          </a:prstGeom>
          <a:noFill/>
          <a:ln/>
        </p:spPr>
        <p:txBody>
          <a:bodyPr wrap="square" lIns="0" tIns="0" rIns="0" bIns="0" rtlCol="0" anchor="t"/>
          <a:lstStyle/>
          <a:p>
            <a:pPr marL="0" indent="0">
              <a:buNone/>
            </a:pPr>
            <a:r>
              <a:rPr lang="en-US" sz="1300" dirty="0">
                <a:solidFill>
                  <a:schemeClr val="tx2"/>
                </a:solidFill>
              </a:rPr>
              <a:t>Centro nevralgico della rete: commutazione Layer 2 ad alta velocità e instradamento Layer 3 inter-VLAN in hardware. L’integrazione dei server DHCP riduce al minimo la latenza nell’assegnazione degli IP.</a:t>
            </a:r>
            <a:endParaRPr lang="en-US" sz="1300" dirty="0"/>
          </a:p>
        </p:txBody>
      </p:sp>
      <p:sp>
        <p:nvSpPr>
          <p:cNvPr id="9" name="card"/>
          <p:cNvSpPr/>
          <p:nvPr/>
        </p:nvSpPr>
        <p:spPr>
          <a:xfrm>
            <a:off x="4338218" y="1417320"/>
            <a:ext cx="3515258" cy="2240280"/>
          </a:xfrm>
          <a:prstGeom prst="roundRect">
            <a:avLst>
              <a:gd name="adj" fmla="val 4082"/>
            </a:avLst>
          </a:prstGeom>
          <a:solidFill>
            <a:schemeClr val="bg2"/>
          </a:solidFill>
          <a:ln w="12700">
            <a:solidFill>
              <a:schemeClr val="bg2"/>
            </a:solidFill>
            <a:prstDash val="solid"/>
          </a:ln>
        </p:spPr>
      </p:sp>
      <p:sp>
        <p:nvSpPr>
          <p:cNvPr id="10" name="badge"/>
          <p:cNvSpPr/>
          <p:nvPr/>
        </p:nvSpPr>
        <p:spPr>
          <a:xfrm>
            <a:off x="4566818" y="1645920"/>
            <a:ext cx="457200" cy="457200"/>
          </a:xfrm>
          <a:prstGeom prst="ellipse">
            <a:avLst/>
          </a:prstGeom>
          <a:solidFill>
            <a:schemeClr val="accent1"/>
          </a:solidFill>
          <a:ln w="12700">
            <a:solidFill>
              <a:schemeClr val="accent1"/>
            </a:solidFill>
            <a:prstDash val="solid"/>
          </a:ln>
        </p:spPr>
      </p:sp>
      <p:sp>
        <p:nvSpPr>
          <p:cNvPr id="11" name="badge-num"/>
          <p:cNvSpPr txBox="1"/>
          <p:nvPr/>
        </p:nvSpPr>
        <p:spPr>
          <a:xfrm>
            <a:off x="4566818" y="164592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2" name="card-head"/>
          <p:cNvSpPr txBox="1"/>
          <p:nvPr/>
        </p:nvSpPr>
        <p:spPr>
          <a:xfrm>
            <a:off x="5206898" y="1618488"/>
            <a:ext cx="2463698" cy="512064"/>
          </a:xfrm>
          <a:prstGeom prst="rect">
            <a:avLst/>
          </a:prstGeom>
          <a:noFill/>
          <a:ln/>
        </p:spPr>
        <p:txBody>
          <a:bodyPr wrap="square" lIns="0" tIns="0" rIns="0" bIns="0" rtlCol="0" anchor="ctr"/>
          <a:lstStyle/>
          <a:p>
            <a:pPr marL="0" indent="0">
              <a:buNone/>
            </a:pPr>
            <a:r>
              <a:rPr lang="en-US" sz="1500" b="1" dirty="0">
                <a:solidFill>
                  <a:schemeClr val="tx1"/>
                </a:solidFill>
                <a:latin typeface="Arial" pitchFamily="34" charset="0"/>
                <a:ea typeface="Arial" pitchFamily="34" charset="-122"/>
                <a:cs typeface="Arial" pitchFamily="34" charset="-120"/>
              </a:rPr>
              <a:t>HSRP (Hot Standby Router Protocol)</a:t>
            </a:r>
            <a:endParaRPr lang="en-US" sz="1500" dirty="0"/>
          </a:p>
        </p:txBody>
      </p:sp>
      <p:sp>
        <p:nvSpPr>
          <p:cNvPr id="13" name="card-body"/>
          <p:cNvSpPr txBox="1"/>
          <p:nvPr/>
        </p:nvSpPr>
        <p:spPr>
          <a:xfrm>
            <a:off x="4566818" y="2240280"/>
            <a:ext cx="3058058" cy="1280160"/>
          </a:xfrm>
          <a:prstGeom prst="rect">
            <a:avLst/>
          </a:prstGeom>
          <a:noFill/>
          <a:ln/>
        </p:spPr>
        <p:txBody>
          <a:bodyPr wrap="square" lIns="0" tIns="0" rIns="0" bIns="0" rtlCol="0" anchor="t"/>
          <a:lstStyle/>
          <a:p>
            <a:pPr marL="0" indent="0">
              <a:buNone/>
            </a:pPr>
            <a:r>
              <a:rPr lang="en-US" sz="1300" dirty="0">
                <a:solidFill>
                  <a:schemeClr val="tx2"/>
                </a:solidFill>
              </a:rPr>
              <a:t>Ridondanza trasparente per i gateway predefiniti delle VLAN: in caso di guasto dello switch primario, il secondario subentra in tempi molto ridotti, senza interruzioni percepibili.</a:t>
            </a:r>
            <a:endParaRPr lang="en-US" sz="1300" dirty="0"/>
          </a:p>
        </p:txBody>
      </p:sp>
      <p:sp>
        <p:nvSpPr>
          <p:cNvPr id="14" name="card"/>
          <p:cNvSpPr/>
          <p:nvPr/>
        </p:nvSpPr>
        <p:spPr>
          <a:xfrm>
            <a:off x="8127797" y="1417320"/>
            <a:ext cx="3515258" cy="2240280"/>
          </a:xfrm>
          <a:prstGeom prst="roundRect">
            <a:avLst>
              <a:gd name="adj" fmla="val 4082"/>
            </a:avLst>
          </a:prstGeom>
          <a:solidFill>
            <a:schemeClr val="bg2"/>
          </a:solidFill>
          <a:ln w="12700">
            <a:solidFill>
              <a:schemeClr val="bg2"/>
            </a:solidFill>
            <a:prstDash val="solid"/>
          </a:ln>
        </p:spPr>
      </p:sp>
      <p:sp>
        <p:nvSpPr>
          <p:cNvPr id="15" name="badge"/>
          <p:cNvSpPr/>
          <p:nvPr/>
        </p:nvSpPr>
        <p:spPr>
          <a:xfrm>
            <a:off x="8356397" y="1645920"/>
            <a:ext cx="457200" cy="457200"/>
          </a:xfrm>
          <a:prstGeom prst="ellipse">
            <a:avLst/>
          </a:prstGeom>
          <a:solidFill>
            <a:schemeClr val="accent1"/>
          </a:solidFill>
          <a:ln w="12700">
            <a:solidFill>
              <a:schemeClr val="accent1"/>
            </a:solidFill>
            <a:prstDash val="solid"/>
          </a:ln>
        </p:spPr>
      </p:sp>
      <p:sp>
        <p:nvSpPr>
          <p:cNvPr id="16" name="badge-num"/>
          <p:cNvSpPr txBox="1"/>
          <p:nvPr/>
        </p:nvSpPr>
        <p:spPr>
          <a:xfrm>
            <a:off x="8356397" y="164592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7" name="card-head"/>
          <p:cNvSpPr txBox="1"/>
          <p:nvPr/>
        </p:nvSpPr>
        <p:spPr>
          <a:xfrm>
            <a:off x="8996477" y="1618488"/>
            <a:ext cx="2463698" cy="512064"/>
          </a:xfrm>
          <a:prstGeom prst="rect">
            <a:avLst/>
          </a:prstGeom>
          <a:noFill/>
          <a:ln/>
        </p:spPr>
        <p:txBody>
          <a:bodyPr wrap="square" lIns="0" tIns="0" rIns="0" bIns="0" rtlCol="0" anchor="ctr"/>
          <a:lstStyle/>
          <a:p>
            <a:pPr marL="0" indent="0">
              <a:buNone/>
            </a:pPr>
            <a:r>
              <a:rPr lang="en-US" sz="1500" b="1" dirty="0">
                <a:solidFill>
                  <a:schemeClr val="tx1"/>
                </a:solidFill>
                <a:latin typeface="Arial" pitchFamily="34" charset="0"/>
                <a:ea typeface="Arial" pitchFamily="34" charset="-122"/>
                <a:cs typeface="Arial" pitchFamily="34" charset="-120"/>
              </a:rPr>
              <a:t>Rapid-PVST+ (Per-VLAN Spanning Tree Plus)</a:t>
            </a:r>
            <a:endParaRPr lang="en-US" sz="1500" dirty="0"/>
          </a:p>
        </p:txBody>
      </p:sp>
      <p:sp>
        <p:nvSpPr>
          <p:cNvPr id="18" name="card-body"/>
          <p:cNvSpPr txBox="1"/>
          <p:nvPr/>
        </p:nvSpPr>
        <p:spPr>
          <a:xfrm>
            <a:off x="8356397" y="2240280"/>
            <a:ext cx="3058058" cy="1280160"/>
          </a:xfrm>
          <a:prstGeom prst="rect">
            <a:avLst/>
          </a:prstGeom>
          <a:noFill/>
          <a:ln/>
        </p:spPr>
        <p:txBody>
          <a:bodyPr wrap="square" lIns="0" tIns="0" rIns="0" bIns="0" rtlCol="0" anchor="t"/>
          <a:lstStyle/>
          <a:p>
            <a:pPr marL="0" indent="0">
              <a:buNone/>
            </a:pPr>
            <a:r>
              <a:rPr lang="en-US" sz="1300" dirty="0">
                <a:solidFill>
                  <a:schemeClr val="tx2"/>
                </a:solidFill>
              </a:rPr>
              <a:t>Previene i loop Layer 2 sui trunk ridondati e assicura tempi di convergenza della topologia molto rapidi in caso di guasto di un collegamento.</a:t>
            </a:r>
            <a:endParaRPr lang="en-US" sz="1300" dirty="0"/>
          </a:p>
        </p:txBody>
      </p:sp>
      <p:sp>
        <p:nvSpPr>
          <p:cNvPr id="19" name="card"/>
          <p:cNvSpPr/>
          <p:nvPr/>
        </p:nvSpPr>
        <p:spPr>
          <a:xfrm>
            <a:off x="548640" y="3886200"/>
            <a:ext cx="3515258" cy="2240280"/>
          </a:xfrm>
          <a:prstGeom prst="roundRect">
            <a:avLst>
              <a:gd name="adj" fmla="val 4082"/>
            </a:avLst>
          </a:prstGeom>
          <a:solidFill>
            <a:schemeClr val="bg2"/>
          </a:solidFill>
          <a:ln w="12700">
            <a:solidFill>
              <a:schemeClr val="bg2"/>
            </a:solidFill>
            <a:prstDash val="solid"/>
          </a:ln>
        </p:spPr>
      </p:sp>
      <p:sp>
        <p:nvSpPr>
          <p:cNvPr id="20" name="badge"/>
          <p:cNvSpPr/>
          <p:nvPr/>
        </p:nvSpPr>
        <p:spPr>
          <a:xfrm>
            <a:off x="777240" y="4114800"/>
            <a:ext cx="457200" cy="457200"/>
          </a:xfrm>
          <a:prstGeom prst="ellipse">
            <a:avLst/>
          </a:prstGeom>
          <a:solidFill>
            <a:schemeClr val="accent1"/>
          </a:solidFill>
          <a:ln w="12700">
            <a:solidFill>
              <a:schemeClr val="accent1"/>
            </a:solidFill>
            <a:prstDash val="solid"/>
          </a:ln>
        </p:spPr>
      </p:sp>
      <p:sp>
        <p:nvSpPr>
          <p:cNvPr id="21" name="badge-num"/>
          <p:cNvSpPr txBox="1"/>
          <p:nvPr/>
        </p:nvSpPr>
        <p:spPr>
          <a:xfrm>
            <a:off x="777240" y="411480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22" name="card-head"/>
          <p:cNvSpPr txBox="1"/>
          <p:nvPr/>
        </p:nvSpPr>
        <p:spPr>
          <a:xfrm>
            <a:off x="1417320" y="4087368"/>
            <a:ext cx="2463698" cy="512064"/>
          </a:xfrm>
          <a:prstGeom prst="rect">
            <a:avLst/>
          </a:prstGeom>
          <a:noFill/>
          <a:ln/>
        </p:spPr>
        <p:txBody>
          <a:bodyPr wrap="square" lIns="0" tIns="0" rIns="0" bIns="0" rtlCol="0" anchor="ctr"/>
          <a:lstStyle/>
          <a:p>
            <a:pPr marL="0" indent="0">
              <a:buNone/>
            </a:pPr>
            <a:r>
              <a:rPr lang="en-US" sz="1500" b="1" dirty="0">
                <a:solidFill>
                  <a:schemeClr val="tx1"/>
                </a:solidFill>
                <a:latin typeface="Arial" pitchFamily="34" charset="0"/>
                <a:ea typeface="Arial" pitchFamily="34" charset="-122"/>
                <a:cs typeface="Arial" pitchFamily="34" charset="-120"/>
              </a:rPr>
              <a:t>Firewall perimetrale</a:t>
            </a:r>
            <a:endParaRPr lang="en-US" sz="1500" dirty="0"/>
          </a:p>
        </p:txBody>
      </p:sp>
      <p:sp>
        <p:nvSpPr>
          <p:cNvPr id="23" name="card-body"/>
          <p:cNvSpPr txBox="1"/>
          <p:nvPr/>
        </p:nvSpPr>
        <p:spPr>
          <a:xfrm>
            <a:off x="777240" y="4709160"/>
            <a:ext cx="3058058" cy="1280160"/>
          </a:xfrm>
          <a:prstGeom prst="rect">
            <a:avLst/>
          </a:prstGeom>
          <a:noFill/>
          <a:ln/>
        </p:spPr>
        <p:txBody>
          <a:bodyPr wrap="square" lIns="0" tIns="0" rIns="0" bIns="0" rtlCol="0" anchor="t"/>
          <a:lstStyle/>
          <a:p>
            <a:pPr marL="0" indent="0">
              <a:buNone/>
            </a:pPr>
            <a:r>
              <a:rPr lang="en-US" sz="1300" dirty="0">
                <a:solidFill>
                  <a:schemeClr val="tx2"/>
                </a:solidFill>
              </a:rPr>
              <a:t>Tre zone di fiducia: Inside (livello 100), DMZ (livello 50, servizi pubblici o isolati), Outside (livello 0, Internet). Ispezione stateful e Port Address Translation (PAT) dinamico.</a:t>
            </a:r>
            <a:endParaRPr lang="en-US" sz="1300" dirty="0"/>
          </a:p>
        </p:txBody>
      </p:sp>
      <p:sp>
        <p:nvSpPr>
          <p:cNvPr id="24" name="card"/>
          <p:cNvSpPr/>
          <p:nvPr/>
        </p:nvSpPr>
        <p:spPr>
          <a:xfrm>
            <a:off x="4338218" y="3886200"/>
            <a:ext cx="3515258" cy="2240280"/>
          </a:xfrm>
          <a:prstGeom prst="roundRect">
            <a:avLst>
              <a:gd name="adj" fmla="val 4082"/>
            </a:avLst>
          </a:prstGeom>
          <a:solidFill>
            <a:schemeClr val="bg2"/>
          </a:solidFill>
          <a:ln w="12700">
            <a:solidFill>
              <a:schemeClr val="bg2"/>
            </a:solidFill>
            <a:prstDash val="solid"/>
          </a:ln>
        </p:spPr>
      </p:sp>
      <p:sp>
        <p:nvSpPr>
          <p:cNvPr id="25" name="badge"/>
          <p:cNvSpPr/>
          <p:nvPr/>
        </p:nvSpPr>
        <p:spPr>
          <a:xfrm>
            <a:off x="4566818" y="4114800"/>
            <a:ext cx="457200" cy="457200"/>
          </a:xfrm>
          <a:prstGeom prst="ellipse">
            <a:avLst/>
          </a:prstGeom>
          <a:solidFill>
            <a:schemeClr val="accent1"/>
          </a:solidFill>
          <a:ln w="12700">
            <a:solidFill>
              <a:schemeClr val="accent1"/>
            </a:solidFill>
            <a:prstDash val="solid"/>
          </a:ln>
        </p:spPr>
      </p:sp>
      <p:sp>
        <p:nvSpPr>
          <p:cNvPr id="26" name="badge-num"/>
          <p:cNvSpPr txBox="1"/>
          <p:nvPr/>
        </p:nvSpPr>
        <p:spPr>
          <a:xfrm>
            <a:off x="4566818" y="411480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27" name="card-head"/>
          <p:cNvSpPr txBox="1"/>
          <p:nvPr/>
        </p:nvSpPr>
        <p:spPr>
          <a:xfrm>
            <a:off x="5206898" y="4087368"/>
            <a:ext cx="2463698" cy="512064"/>
          </a:xfrm>
          <a:prstGeom prst="rect">
            <a:avLst/>
          </a:prstGeom>
          <a:noFill/>
          <a:ln/>
        </p:spPr>
        <p:txBody>
          <a:bodyPr wrap="square" lIns="0" tIns="0" rIns="0" bIns="0" rtlCol="0" anchor="ctr"/>
          <a:lstStyle/>
          <a:p>
            <a:pPr marL="0" indent="0">
              <a:buNone/>
            </a:pPr>
            <a:r>
              <a:rPr lang="en-US" sz="1500" b="1" dirty="0">
                <a:solidFill>
                  <a:schemeClr val="tx1"/>
                </a:solidFill>
                <a:latin typeface="Arial" pitchFamily="34" charset="0"/>
                <a:ea typeface="Arial" pitchFamily="34" charset="-122"/>
                <a:cs typeface="Arial" pitchFamily="34" charset="-120"/>
              </a:rPr>
              <a:t>Router edge</a:t>
            </a:r>
            <a:endParaRPr lang="en-US" sz="1500" dirty="0"/>
          </a:p>
        </p:txBody>
      </p:sp>
      <p:sp>
        <p:nvSpPr>
          <p:cNvPr id="28" name="card-body"/>
          <p:cNvSpPr txBox="1"/>
          <p:nvPr/>
        </p:nvSpPr>
        <p:spPr>
          <a:xfrm>
            <a:off x="4566818" y="4709160"/>
            <a:ext cx="3058058" cy="1280160"/>
          </a:xfrm>
          <a:prstGeom prst="rect">
            <a:avLst/>
          </a:prstGeom>
          <a:noFill/>
          <a:ln/>
        </p:spPr>
        <p:txBody>
          <a:bodyPr wrap="square" lIns="0" tIns="0" rIns="0" bIns="0" rtlCol="0" anchor="t"/>
          <a:lstStyle/>
          <a:p>
            <a:pPr marL="0" indent="0">
              <a:buNone/>
            </a:pPr>
            <a:r>
              <a:rPr lang="en-US" sz="1300" dirty="0">
                <a:solidFill>
                  <a:schemeClr val="tx2"/>
                </a:solidFill>
              </a:rPr>
              <a:t>Termina la connessione verso il provider Internet (WAN/ISP) e gestisce l’instradamento verso l’esterno. Integra una funzione IPS interna (cfr. 1.4.6).</a:t>
            </a:r>
            <a:endParaRPr lang="en-US" sz="1300" dirty="0"/>
          </a:p>
        </p:txBody>
      </p:sp>
      <p:sp>
        <p:nvSpPr>
          <p:cNvPr id="29" name="card"/>
          <p:cNvSpPr/>
          <p:nvPr/>
        </p:nvSpPr>
        <p:spPr>
          <a:xfrm>
            <a:off x="8127797" y="3886200"/>
            <a:ext cx="3515258" cy="2240280"/>
          </a:xfrm>
          <a:prstGeom prst="roundRect">
            <a:avLst>
              <a:gd name="adj" fmla="val 4082"/>
            </a:avLst>
          </a:prstGeom>
          <a:solidFill>
            <a:schemeClr val="bg2"/>
          </a:solidFill>
          <a:ln w="12700">
            <a:solidFill>
              <a:schemeClr val="bg2"/>
            </a:solidFill>
            <a:prstDash val="solid"/>
          </a:ln>
        </p:spPr>
      </p:sp>
      <p:sp>
        <p:nvSpPr>
          <p:cNvPr id="30" name="badge"/>
          <p:cNvSpPr/>
          <p:nvPr/>
        </p:nvSpPr>
        <p:spPr>
          <a:xfrm>
            <a:off x="8356397" y="4114800"/>
            <a:ext cx="457200" cy="457200"/>
          </a:xfrm>
          <a:prstGeom prst="ellipse">
            <a:avLst/>
          </a:prstGeom>
          <a:solidFill>
            <a:schemeClr val="accent1"/>
          </a:solidFill>
          <a:ln w="12700">
            <a:solidFill>
              <a:schemeClr val="accent1"/>
            </a:solidFill>
            <a:prstDash val="solid"/>
          </a:ln>
        </p:spPr>
      </p:sp>
      <p:sp>
        <p:nvSpPr>
          <p:cNvPr id="31" name="badge-num"/>
          <p:cNvSpPr txBox="1"/>
          <p:nvPr/>
        </p:nvSpPr>
        <p:spPr>
          <a:xfrm>
            <a:off x="8356397" y="411480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6</a:t>
            </a:r>
            <a:endParaRPr lang="en-US" sz="1500" dirty="0"/>
          </a:p>
        </p:txBody>
      </p:sp>
      <p:sp>
        <p:nvSpPr>
          <p:cNvPr id="32" name="card-head"/>
          <p:cNvSpPr txBox="1"/>
          <p:nvPr/>
        </p:nvSpPr>
        <p:spPr>
          <a:xfrm>
            <a:off x="8996477" y="4087368"/>
            <a:ext cx="2463698" cy="512064"/>
          </a:xfrm>
          <a:prstGeom prst="rect">
            <a:avLst/>
          </a:prstGeom>
          <a:noFill/>
          <a:ln/>
        </p:spPr>
        <p:txBody>
          <a:bodyPr wrap="square" lIns="0" tIns="0" rIns="0" bIns="0" rtlCol="0" anchor="ctr"/>
          <a:lstStyle/>
          <a:p>
            <a:pPr marL="0" indent="0">
              <a:buNone/>
            </a:pPr>
            <a:r>
              <a:rPr lang="en-US" sz="1500" b="1" dirty="0">
                <a:solidFill>
                  <a:schemeClr val="tx1"/>
                </a:solidFill>
                <a:latin typeface="Arial" pitchFamily="34" charset="0"/>
                <a:ea typeface="Arial" pitchFamily="34" charset="-122"/>
                <a:cs typeface="Arial" pitchFamily="34" charset="-120"/>
              </a:rPr>
              <a:t>IPS dedicato</a:t>
            </a:r>
            <a:endParaRPr lang="en-US" sz="1500" dirty="0"/>
          </a:p>
        </p:txBody>
      </p:sp>
      <p:sp>
        <p:nvSpPr>
          <p:cNvPr id="33" name="card-body"/>
          <p:cNvSpPr txBox="1"/>
          <p:nvPr/>
        </p:nvSpPr>
        <p:spPr>
          <a:xfrm>
            <a:off x="8356397" y="4709160"/>
            <a:ext cx="3058058" cy="1280160"/>
          </a:xfrm>
          <a:prstGeom prst="rect">
            <a:avLst/>
          </a:prstGeom>
          <a:noFill/>
          <a:ln/>
        </p:spPr>
        <p:txBody>
          <a:bodyPr wrap="square" lIns="0" tIns="0" rIns="0" bIns="0" rtlCol="0" anchor="t"/>
          <a:lstStyle/>
          <a:p>
            <a:pPr marL="0" indent="0">
              <a:buNone/>
            </a:pPr>
            <a:r>
              <a:rPr lang="en-US" sz="1300" dirty="0">
                <a:solidFill>
                  <a:schemeClr val="tx2"/>
                </a:solidFill>
              </a:rPr>
              <a:t>Apparato di prevenzione delle intrusioni collocato tra il firewall e il server DVWA, a protezione della DMZ (cfr. 1.4.6).</a:t>
            </a:r>
            <a:endParaRPr lang="en-US" sz="1300" dirty="0"/>
          </a:p>
        </p:txBody>
      </p:sp>
      <p:sp>
        <p:nvSpPr>
          <p:cNvPr id="34"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1.2.1 Modello Collapsed Core e ruoli degli apparati</a:t>
            </a:r>
            <a:endParaRPr lang="en-US" sz="3000" dirty="0"/>
          </a:p>
        </p:txBody>
      </p:sp>
      <p:sp>
        <p:nvSpPr>
          <p:cNvPr id="4" name="intro"/>
          <p:cNvSpPr txBox="1"/>
          <p:nvPr/>
        </p:nvSpPr>
        <p:spPr>
          <a:xfrm>
            <a:off x="548640" y="1325880"/>
            <a:ext cx="11094415" cy="548640"/>
          </a:xfrm>
          <a:prstGeom prst="rect">
            <a:avLst/>
          </a:prstGeom>
          <a:noFill/>
          <a:ln/>
        </p:spPr>
        <p:txBody>
          <a:bodyPr wrap="square" lIns="0" tIns="0" rIns="0" bIns="0" rtlCol="0" anchor="ctr"/>
          <a:lstStyle/>
          <a:p>
            <a:pPr marL="0" indent="0">
              <a:buNone/>
            </a:pPr>
            <a:r>
              <a:rPr lang="en-US" sz="1500" dirty="0">
                <a:solidFill>
                  <a:schemeClr val="tx2"/>
                </a:solidFill>
              </a:rPr>
              <a:t>Il design adotta un’architettura Collapsed Core a due livelli, al fine di ottimizzare i percorsi di instradamento, ridurre le latenze intra-sito e consolidare la gestione dell’infrastruttura.</a:t>
            </a:r>
            <a:endParaRPr lang="en-US" sz="1500" dirty="0"/>
          </a:p>
        </p:txBody>
      </p:sp>
      <p:sp>
        <p:nvSpPr>
          <p:cNvPr id="5" name="body-text"/>
          <p:cNvSpPr txBox="1"/>
          <p:nvPr/>
        </p:nvSpPr>
        <p:spPr>
          <a:xfrm>
            <a:off x="548640" y="2011680"/>
            <a:ext cx="11094415" cy="128016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500" b="1" dirty="0">
                <a:solidFill>
                  <a:schemeClr val="tx1"/>
                </a:solidFill>
              </a:rPr>
              <a:t>Architettura distribuita: </a:t>
            </a:r>
            <a:r>
              <a:rPr lang="en-US" sz="1500" dirty="0">
                <a:solidFill>
                  <a:schemeClr val="tx2"/>
                </a:solidFill>
              </a:rPr>
              <a:t>l’infrastruttura si articola su due sedi mediante quattro Multilayer Switch. Sede 1: Core Switch 1 e Core Switch 2; Sede 2: Core Switch 3 e Core Switch 4.</a:t>
            </a:r>
            <a:endParaRPr lang="en-US" sz="1500" dirty="0"/>
          </a:p>
          <a:p>
            <a:pPr marL="342900" indent="-342900">
              <a:spcAft>
                <a:spcPts val="800"/>
              </a:spcAft>
              <a:buSzPct val="100000"/>
              <a:buFont typeface="+mj-lt"/>
              <a:buAutoNum type="arabicPeriod"/>
            </a:pPr>
            <a:r>
              <a:rPr lang="en-US" sz="1500" b="1" dirty="0">
                <a:solidFill>
                  <a:schemeClr val="tx1"/>
                </a:solidFill>
              </a:rPr>
              <a:t>Resilienza e alta disponibilità (HA): </a:t>
            </a:r>
            <a:r>
              <a:rPr lang="en-US" sz="1500" dirty="0">
                <a:solidFill>
                  <a:schemeClr val="tx2"/>
                </a:solidFill>
              </a:rPr>
              <a:t>l’integrazione funzionale del livello Distribution all’interno del Core consente di rimuovere qualsiasi singolo punto di guasto (SPOF), garantendo continuità operativa e bilanciamento del carico tra i nodi ridondati.</a:t>
            </a:r>
            <a:endParaRPr lang="en-US" sz="1500" dirty="0"/>
          </a:p>
        </p:txBody>
      </p:sp>
      <p:sp>
        <p:nvSpPr>
          <p:cNvPr id="6" name="tcap"/>
          <p:cNvSpPr txBox="1"/>
          <p:nvPr/>
        </p:nvSpPr>
        <p:spPr>
          <a:xfrm>
            <a:off x="548640" y="3383280"/>
            <a:ext cx="11094415" cy="274320"/>
          </a:xfrm>
          <a:prstGeom prst="rect">
            <a:avLst/>
          </a:prstGeom>
          <a:noFill/>
          <a:ln/>
        </p:spPr>
        <p:txBody>
          <a:bodyPr wrap="square" lIns="0" tIns="0" rIns="0" bIns="0" rtlCol="0" anchor="ctr"/>
          <a:lstStyle/>
          <a:p>
            <a:pPr marL="0" indent="0">
              <a:buNone/>
            </a:pPr>
            <a:r>
              <a:rPr lang="en-US" sz="1100" i="1" dirty="0">
                <a:solidFill>
                  <a:schemeClr val="accent4"/>
                </a:solidFill>
              </a:rPr>
              <a:t>Tabella 1 – Ruoli degli apparati core.</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3703320"/>
          <a:ext cx="11094415" cy="2194560"/>
        </p:xfrm>
        <a:graphic>
          <a:graphicData uri="http://schemas.openxmlformats.org/drawingml/2006/table">
            <a:tbl>
              <a:tblPr/>
              <a:tblGrid>
                <a:gridCol w="12801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4327855">
                  <a:extLst>
                    <a:ext uri="{9D8B030D-6E8A-4147-A177-3AD203B41FA5}">
                      <a16:colId xmlns:a16="http://schemas.microsoft.com/office/drawing/2014/main" val="20003"/>
                    </a:ext>
                  </a:extLst>
                </a:gridCol>
              </a:tblGrid>
              <a:tr h="438912">
                <a:tc>
                  <a:txBody>
                    <a:bodyPr/>
                    <a:lstStyle/>
                    <a:p>
                      <a:pPr marL="0" indent="0">
                        <a:buNone/>
                      </a:pPr>
                      <a:r>
                        <a:rPr lang="en-US" sz="1400" b="1" dirty="0">
                          <a:solidFill>
                            <a:schemeClr val="bg1"/>
                          </a:solidFill>
                        </a:rPr>
                        <a:t>Sede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Dispositivo</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Ruolo primario</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Tipologia di connessione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38912">
                <a:tc>
                  <a:txBody>
                    <a:bodyPr/>
                    <a:lstStyle/>
                    <a:p>
                      <a:pPr marL="0" indent="0">
                        <a:buNone/>
                      </a:pPr>
                      <a:r>
                        <a:rPr lang="en-US" sz="1400" dirty="0">
                          <a:solidFill>
                            <a:schemeClr val="tx2"/>
                          </a:solidFill>
                        </a:rPr>
                        <a:t>Sede 1</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Core 1</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Core/Distribution primario</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Interconnessione L3 con il firewall e uplink verso Sede 2</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8912">
                <a:tc>
                  <a:txBody>
                    <a:bodyPr/>
                    <a:lstStyle/>
                    <a:p>
                      <a:pPr marL="0" indent="0">
                        <a:buNone/>
                      </a:pPr>
                      <a:r>
                        <a:rPr lang="en-US" sz="1400" dirty="0">
                          <a:solidFill>
                            <a:schemeClr val="tx2"/>
                          </a:solidFill>
                        </a:rPr>
                        <a:t>Sede 1</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Core 2</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Core/Distribution secondario (HSRP Standby)</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Ridondanza locale e cross-link</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38912">
                <a:tc>
                  <a:txBody>
                    <a:bodyPr/>
                    <a:lstStyle/>
                    <a:p>
                      <a:pPr marL="0" indent="0">
                        <a:buNone/>
                      </a:pPr>
                      <a:r>
                        <a:rPr lang="en-US" sz="1400" dirty="0">
                          <a:solidFill>
                            <a:schemeClr val="tx2"/>
                          </a:solidFill>
                        </a:rPr>
                        <a:t>Sede 2</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Core 3</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Core/Distribution primario della sede remota</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Dorsale inter-sede punto-punto</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8912">
                <a:tc>
                  <a:txBody>
                    <a:bodyPr/>
                    <a:lstStyle/>
                    <a:p>
                      <a:pPr marL="0" indent="0">
                        <a:buNone/>
                      </a:pPr>
                      <a:r>
                        <a:rPr lang="en-US" sz="1400" dirty="0">
                          <a:solidFill>
                            <a:schemeClr val="tx2"/>
                          </a:solidFill>
                        </a:rPr>
                        <a:t>Sede 2</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Core 4</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Core/Distribution secondario della sede remota</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Ridondanza locale inter-sede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1.2.2 Conversione delle interfacce a Livello 3 (no switchport)</a:t>
            </a:r>
            <a:endParaRPr lang="en-US" sz="3000" dirty="0"/>
          </a:p>
        </p:txBody>
      </p:sp>
      <p:sp>
        <p:nvSpPr>
          <p:cNvPr id="4" name="body-text"/>
          <p:cNvSpPr txBox="1"/>
          <p:nvPr/>
        </p:nvSpPr>
        <p:spPr>
          <a:xfrm>
            <a:off x="548640" y="1463040"/>
            <a:ext cx="5669280" cy="4480560"/>
          </a:xfrm>
          <a:prstGeom prst="rect">
            <a:avLst/>
          </a:prstGeom>
          <a:noFill/>
          <a:ln/>
        </p:spPr>
        <p:txBody>
          <a:bodyPr wrap="square" lIns="0" tIns="0" rIns="0" bIns="0" rtlCol="0" anchor="t"/>
          <a:lstStyle/>
          <a:p>
            <a:pPr marL="0" indent="0">
              <a:spcAft>
                <a:spcPts val="800"/>
              </a:spcAft>
              <a:buNone/>
            </a:pPr>
            <a:r>
              <a:rPr lang="en-US" sz="1500" dirty="0">
                <a:solidFill>
                  <a:schemeClr val="tx2"/>
                </a:solidFill>
              </a:rPr>
              <a:t>Per ottimizzare le prestazioni ed eliminare l’overhead introdotto dai protocolli di switching (STP) sui segmenti critici di dorsale e perimetrali, le interfacce selezionate sono configurate in modalità routed.</a:t>
            </a:r>
            <a:endParaRPr lang="en-US" sz="1500" dirty="0"/>
          </a:p>
          <a:p>
            <a:pPr marL="342900" indent="-342900">
              <a:spcAft>
                <a:spcPts val="800"/>
              </a:spcAft>
              <a:buSzPct val="100000"/>
              <a:buChar char="▪"/>
            </a:pPr>
            <a:r>
              <a:rPr lang="en-US" sz="1500" b="1" dirty="0">
                <a:solidFill>
                  <a:schemeClr val="tx1"/>
                </a:solidFill>
              </a:rPr>
              <a:t>Ambito di applicazione: </a:t>
            </a:r>
            <a:r>
              <a:rPr lang="en-US" sz="1500" dirty="0">
                <a:solidFill>
                  <a:schemeClr val="tx2"/>
                </a:solidFill>
              </a:rPr>
              <a:t>porte fisiche di transito verso il firewall perimetrale e collegamenti dedicati punto-punto (dorsali inter-sede).</a:t>
            </a:r>
            <a:endParaRPr lang="en-US" sz="1500" dirty="0"/>
          </a:p>
          <a:p>
            <a:pPr marL="342900" indent="-342900">
              <a:spcAft>
                <a:spcPts val="800"/>
              </a:spcAft>
              <a:buSzPct val="100000"/>
              <a:buChar char="▪"/>
            </a:pPr>
            <a:r>
              <a:rPr lang="en-US" sz="1500" b="1" dirty="0">
                <a:solidFill>
                  <a:schemeClr val="tx1"/>
                </a:solidFill>
              </a:rPr>
              <a:t>Meccanismo operativo: </a:t>
            </a:r>
            <a:r>
              <a:rPr lang="en-US" sz="1500" dirty="0">
                <a:solidFill>
                  <a:schemeClr val="tx2"/>
                </a:solidFill>
              </a:rPr>
              <a:t>il comando no switchport disabilita l’incapsulamento Layer 2 (802.1Q) e lo switching di trama, trasformando la porta in un’interfaccia instradabile a Layer 3, alla quale è assegnato direttamente un indirizzo IP dedicato (ip address &lt;IP&gt; &lt;Subnet&gt;).</a:t>
            </a:r>
            <a:endParaRPr lang="en-US" sz="1500" dirty="0"/>
          </a:p>
        </p:txBody>
      </p:sp>
      <p:sp>
        <p:nvSpPr>
          <p:cNvPr id="5" name="code-bg"/>
          <p:cNvSpPr/>
          <p:nvPr/>
        </p:nvSpPr>
        <p:spPr>
          <a:xfrm>
            <a:off x="6492240" y="1554480"/>
            <a:ext cx="5148072" cy="2194560"/>
          </a:xfrm>
          <a:prstGeom prst="roundRect">
            <a:avLst>
              <a:gd name="adj" fmla="val 3333"/>
            </a:avLst>
          </a:prstGeom>
          <a:solidFill>
            <a:srgbClr val="0F1117"/>
          </a:solidFill>
          <a:ln w="12700">
            <a:solidFill>
              <a:srgbClr val="0F1117"/>
            </a:solidFill>
            <a:prstDash val="solid"/>
          </a:ln>
        </p:spPr>
      </p:sp>
      <p:sp>
        <p:nvSpPr>
          <p:cNvPr id="6" name="code-label"/>
          <p:cNvSpPr txBox="1"/>
          <p:nvPr/>
        </p:nvSpPr>
        <p:spPr>
          <a:xfrm>
            <a:off x="6720840" y="1664208"/>
            <a:ext cx="4690872" cy="256032"/>
          </a:xfrm>
          <a:prstGeom prst="rect">
            <a:avLst/>
          </a:prstGeom>
          <a:noFill/>
          <a:ln/>
        </p:spPr>
        <p:txBody>
          <a:bodyPr wrap="square" lIns="0" tIns="0" rIns="0" bIns="0" rtlCol="0" anchor="ctr"/>
          <a:lstStyle/>
          <a:p>
            <a:pPr marL="0" indent="0">
              <a:buNone/>
            </a:pPr>
            <a:r>
              <a:rPr lang="en-US" sz="1000" b="1" dirty="0">
                <a:solidFill>
                  <a:srgbClr val="F87171"/>
                </a:solidFill>
              </a:rPr>
              <a:t>LISTATO 1 – Configurazione di un’interfaccia routed</a:t>
            </a:r>
            <a:endParaRPr lang="en-US" sz="1000" dirty="0"/>
          </a:p>
        </p:txBody>
      </p:sp>
      <p:sp>
        <p:nvSpPr>
          <p:cNvPr id="7" name="code"/>
          <p:cNvSpPr txBox="1"/>
          <p:nvPr/>
        </p:nvSpPr>
        <p:spPr>
          <a:xfrm>
            <a:off x="6720840" y="1938528"/>
            <a:ext cx="4690872" cy="1700784"/>
          </a:xfrm>
          <a:prstGeom prst="rect">
            <a:avLst/>
          </a:prstGeom>
          <a:noFill/>
          <a:ln/>
        </p:spPr>
        <p:txBody>
          <a:bodyPr wrap="square" lIns="0" tIns="0" rIns="0" bIns="0" rtlCol="0" anchor="t"/>
          <a:lstStyle/>
          <a:p>
            <a:pPr marL="0" indent="0">
              <a:buNone/>
            </a:pPr>
            <a:r>
              <a:rPr lang="en-US" sz="1200" dirty="0">
                <a:solidFill>
                  <a:srgbClr val="E5E7EB"/>
                </a:solidFill>
                <a:latin typeface="Courier New" pitchFamily="34" charset="0"/>
                <a:ea typeface="Courier New" pitchFamily="34" charset="-122"/>
                <a:cs typeface="Courier New" pitchFamily="34" charset="-120"/>
              </a:rPr>
              <a:t>interface GigabitEthernet0/1</a:t>
            </a: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 description UPLINK-ROUTED-TO-FIREWALL</a:t>
            </a: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 no switchport</a:t>
            </a: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 ip address &lt;ip_core1_verso_firewall&gt; &lt;subnet_mask_p2p&gt;</a:t>
            </a: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 no shutdown</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1.2.3 Ridondanza first-hop e Spanning Tree</a:t>
            </a:r>
            <a:endParaRPr lang="en-US" sz="3000" dirty="0"/>
          </a:p>
        </p:txBody>
      </p:sp>
      <p:sp>
        <p:nvSpPr>
          <p:cNvPr id="4" name="intro"/>
          <p:cNvSpPr txBox="1"/>
          <p:nvPr/>
        </p:nvSpPr>
        <p:spPr>
          <a:xfrm>
            <a:off x="548640" y="1325880"/>
            <a:ext cx="11094415" cy="548640"/>
          </a:xfrm>
          <a:prstGeom prst="rect">
            <a:avLst/>
          </a:prstGeom>
          <a:noFill/>
          <a:ln/>
        </p:spPr>
        <p:txBody>
          <a:bodyPr wrap="square" lIns="0" tIns="0" rIns="0" bIns="0" rtlCol="0" anchor="ctr"/>
          <a:lstStyle/>
          <a:p>
            <a:pPr marL="0" indent="0">
              <a:buNone/>
            </a:pPr>
            <a:r>
              <a:rPr lang="en-US" sz="1500" dirty="0">
                <a:solidFill>
                  <a:schemeClr val="tx2"/>
                </a:solidFill>
              </a:rPr>
              <a:t>La stabilità dell’accesso e la continuità di servizio per i nodi terminali si fondano sulla combinazione di protocolli FHRP e di meccanismi anti-loop avanzati.</a:t>
            </a:r>
            <a:endParaRPr lang="en-US" sz="1500" dirty="0"/>
          </a:p>
        </p:txBody>
      </p:sp>
      <p:sp>
        <p:nvSpPr>
          <p:cNvPr id="5" name="card"/>
          <p:cNvSpPr/>
          <p:nvPr/>
        </p:nvSpPr>
        <p:spPr>
          <a:xfrm>
            <a:off x="548640" y="2057400"/>
            <a:ext cx="5410048" cy="3840480"/>
          </a:xfrm>
          <a:prstGeom prst="roundRect">
            <a:avLst>
              <a:gd name="adj" fmla="val 2381"/>
            </a:avLst>
          </a:prstGeom>
          <a:solidFill>
            <a:schemeClr val="bg2"/>
          </a:solidFill>
          <a:ln w="12700">
            <a:solidFill>
              <a:schemeClr val="bg2"/>
            </a:solidFill>
            <a:prstDash val="solid"/>
          </a:ln>
        </p:spPr>
      </p:sp>
      <p:sp>
        <p:nvSpPr>
          <p:cNvPr id="6" name="badge"/>
          <p:cNvSpPr/>
          <p:nvPr/>
        </p:nvSpPr>
        <p:spPr>
          <a:xfrm>
            <a:off x="777240" y="2286000"/>
            <a:ext cx="457200" cy="457200"/>
          </a:xfrm>
          <a:prstGeom prst="ellipse">
            <a:avLst/>
          </a:prstGeom>
          <a:solidFill>
            <a:schemeClr val="accent1"/>
          </a:solidFill>
          <a:ln w="12700">
            <a:solidFill>
              <a:schemeClr val="accent1"/>
            </a:solidFill>
            <a:prstDash val="solid"/>
          </a:ln>
        </p:spPr>
      </p:sp>
      <p:sp>
        <p:nvSpPr>
          <p:cNvPr id="7" name="badge-num"/>
          <p:cNvSpPr txBox="1"/>
          <p:nvPr/>
        </p:nvSpPr>
        <p:spPr>
          <a:xfrm>
            <a:off x="777240" y="228600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H</a:t>
            </a:r>
            <a:endParaRPr lang="en-US" sz="1500" dirty="0"/>
          </a:p>
        </p:txBody>
      </p:sp>
      <p:sp>
        <p:nvSpPr>
          <p:cNvPr id="8" name="card-head"/>
          <p:cNvSpPr txBox="1"/>
          <p:nvPr/>
        </p:nvSpPr>
        <p:spPr>
          <a:xfrm>
            <a:off x="1417320" y="225856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Hot Standby Router Protocol (HSRP)</a:t>
            </a:r>
            <a:endParaRPr lang="en-US" sz="1600" dirty="0"/>
          </a:p>
        </p:txBody>
      </p:sp>
      <p:sp>
        <p:nvSpPr>
          <p:cNvPr id="9" name="card-body"/>
          <p:cNvSpPr txBox="1"/>
          <p:nvPr/>
        </p:nvSpPr>
        <p:spPr>
          <a:xfrm>
            <a:off x="777240" y="2880360"/>
            <a:ext cx="4952848" cy="2880360"/>
          </a:xfrm>
          <a:prstGeom prst="rect">
            <a:avLst/>
          </a:prstGeom>
          <a:noFill/>
          <a:ln/>
        </p:spPr>
        <p:txBody>
          <a:bodyPr wrap="square" lIns="0" tIns="0" rIns="0" bIns="0" rtlCol="0" anchor="t"/>
          <a:lstStyle/>
          <a:p>
            <a:pPr marL="0" indent="0">
              <a:spcAft>
                <a:spcPts val="400"/>
              </a:spcAft>
              <a:buNone/>
            </a:pPr>
            <a:r>
              <a:rPr lang="en-US" sz="1400" dirty="0">
                <a:solidFill>
                  <a:schemeClr val="tx2"/>
                </a:solidFill>
              </a:rPr>
              <a:t>Configurato a livello delle Switch Virtual Interface (SVI, ad esempio interface Vlan10) per offrire un gateway predefinito condiviso e trasparente (Virtual IP):</a:t>
            </a:r>
            <a:endParaRPr lang="en-US" sz="1400" dirty="0"/>
          </a:p>
          <a:p>
            <a:pPr marL="342900" indent="-342900">
              <a:spcAft>
                <a:spcPts val="400"/>
              </a:spcAft>
              <a:buSzPct val="100000"/>
              <a:buChar char="▪"/>
            </a:pPr>
            <a:r>
              <a:rPr lang="en-US" sz="1400" b="1" dirty="0">
                <a:solidFill>
                  <a:schemeClr val="tx1"/>
                </a:solidFill>
              </a:rPr>
              <a:t>Switch primario: </a:t>
            </a:r>
            <a:r>
              <a:rPr lang="en-US" sz="1400" dirty="0">
                <a:solidFill>
                  <a:schemeClr val="tx2"/>
                </a:solidFill>
              </a:rPr>
              <a:t>priorità elevata a 110 (standby 10 priority 110), con ripristino automatico del ruolo (standby 10 preempt).</a:t>
            </a:r>
            <a:endParaRPr lang="en-US" sz="1400" dirty="0"/>
          </a:p>
          <a:p>
            <a:pPr marL="342900" indent="-342900">
              <a:spcAft>
                <a:spcPts val="400"/>
              </a:spcAft>
              <a:buSzPct val="100000"/>
              <a:buChar char="▪"/>
            </a:pPr>
            <a:r>
              <a:rPr lang="en-US" sz="1400" b="1" dirty="0">
                <a:solidFill>
                  <a:schemeClr val="tx1"/>
                </a:solidFill>
              </a:rPr>
              <a:t>Switch secondario: </a:t>
            </a:r>
            <a:r>
              <a:rPr lang="en-US" sz="1400" dirty="0">
                <a:solidFill>
                  <a:schemeClr val="tx2"/>
                </a:solidFill>
              </a:rPr>
              <a:t>priorità standard pari a 100, in modalità standby attivo.</a:t>
            </a:r>
            <a:endParaRPr lang="en-US" sz="1400" dirty="0"/>
          </a:p>
        </p:txBody>
      </p:sp>
      <p:sp>
        <p:nvSpPr>
          <p:cNvPr id="10" name="card"/>
          <p:cNvSpPr/>
          <p:nvPr/>
        </p:nvSpPr>
        <p:spPr>
          <a:xfrm>
            <a:off x="6233008" y="2057400"/>
            <a:ext cx="5410048" cy="3840480"/>
          </a:xfrm>
          <a:prstGeom prst="roundRect">
            <a:avLst>
              <a:gd name="adj" fmla="val 2381"/>
            </a:avLst>
          </a:prstGeom>
          <a:solidFill>
            <a:schemeClr val="bg2"/>
          </a:solidFill>
          <a:ln w="12700">
            <a:solidFill>
              <a:schemeClr val="bg2"/>
            </a:solidFill>
            <a:prstDash val="solid"/>
          </a:ln>
        </p:spPr>
      </p:sp>
      <p:sp>
        <p:nvSpPr>
          <p:cNvPr id="11" name="badge"/>
          <p:cNvSpPr/>
          <p:nvPr/>
        </p:nvSpPr>
        <p:spPr>
          <a:xfrm>
            <a:off x="6461608" y="2286000"/>
            <a:ext cx="457200" cy="457200"/>
          </a:xfrm>
          <a:prstGeom prst="ellipse">
            <a:avLst/>
          </a:prstGeom>
          <a:solidFill>
            <a:schemeClr val="accent1"/>
          </a:solidFill>
          <a:ln w="12700">
            <a:solidFill>
              <a:schemeClr val="accent1"/>
            </a:solidFill>
            <a:prstDash val="solid"/>
          </a:ln>
        </p:spPr>
      </p:sp>
      <p:sp>
        <p:nvSpPr>
          <p:cNvPr id="12" name="badge-num"/>
          <p:cNvSpPr txBox="1"/>
          <p:nvPr/>
        </p:nvSpPr>
        <p:spPr>
          <a:xfrm>
            <a:off x="6461608" y="228600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R</a:t>
            </a:r>
            <a:endParaRPr lang="en-US" sz="1500" dirty="0"/>
          </a:p>
        </p:txBody>
      </p:sp>
      <p:sp>
        <p:nvSpPr>
          <p:cNvPr id="13" name="card-head"/>
          <p:cNvSpPr txBox="1"/>
          <p:nvPr/>
        </p:nvSpPr>
        <p:spPr>
          <a:xfrm>
            <a:off x="7101688" y="225856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Rapid Per-VLAN Spanning Tree Plus (Rapid-PVST+)</a:t>
            </a:r>
            <a:endParaRPr lang="en-US" sz="1600" dirty="0"/>
          </a:p>
        </p:txBody>
      </p:sp>
      <p:sp>
        <p:nvSpPr>
          <p:cNvPr id="14" name="card-body"/>
          <p:cNvSpPr txBox="1"/>
          <p:nvPr/>
        </p:nvSpPr>
        <p:spPr>
          <a:xfrm>
            <a:off x="6461608" y="2880360"/>
            <a:ext cx="4952848" cy="2880360"/>
          </a:xfrm>
          <a:prstGeom prst="rect">
            <a:avLst/>
          </a:prstGeom>
          <a:noFill/>
          <a:ln/>
        </p:spPr>
        <p:txBody>
          <a:bodyPr wrap="square" lIns="0" tIns="0" rIns="0" bIns="0" rtlCol="0" anchor="t"/>
          <a:lstStyle/>
          <a:p>
            <a:pPr marL="0" indent="0">
              <a:buNone/>
            </a:pPr>
            <a:r>
              <a:rPr lang="en-US" sz="1400" dirty="0">
                <a:solidFill>
                  <a:schemeClr val="tx2"/>
                </a:solidFill>
              </a:rPr>
              <a:t>Il protocollo è attivo a livello globale sui collegamenti L2 di distribuzione e accesso, per prevenire la formazione di loop di commutazione e garantire una convergenza deterministica in caso di modifiche topologiche o di guasto di un collegamento.</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1.2.4 Servizi di assegnazione dinamica (DHCP)</a:t>
            </a:r>
            <a:endParaRPr lang="en-US" sz="3000" dirty="0"/>
          </a:p>
        </p:txBody>
      </p:sp>
      <p:sp>
        <p:nvSpPr>
          <p:cNvPr id="4" name="body-text"/>
          <p:cNvSpPr txBox="1"/>
          <p:nvPr/>
        </p:nvSpPr>
        <p:spPr>
          <a:xfrm>
            <a:off x="548640" y="1463040"/>
            <a:ext cx="5669280" cy="4480560"/>
          </a:xfrm>
          <a:prstGeom prst="rect">
            <a:avLst/>
          </a:prstGeom>
          <a:noFill/>
          <a:ln/>
        </p:spPr>
        <p:txBody>
          <a:bodyPr wrap="square" lIns="0" tIns="0" rIns="0" bIns="0" rtlCol="0" anchor="t"/>
          <a:lstStyle/>
          <a:p>
            <a:pPr marL="0" indent="0">
              <a:spcAft>
                <a:spcPts val="800"/>
              </a:spcAft>
              <a:buNone/>
            </a:pPr>
            <a:r>
              <a:rPr lang="en-US" sz="1500" dirty="0">
                <a:solidFill>
                  <a:schemeClr val="tx2"/>
                </a:solidFill>
              </a:rPr>
              <a:t>I Multilayer Switch Core svolgono la funzione di server DHCP per i segmenti utente delle rispettive sedi.</a:t>
            </a:r>
            <a:endParaRPr lang="en-US" sz="1500" dirty="0"/>
          </a:p>
          <a:p>
            <a:pPr marL="342900" indent="-342900">
              <a:spcAft>
                <a:spcPts val="800"/>
              </a:spcAft>
              <a:buSzPct val="100000"/>
              <a:buChar char="▪"/>
            </a:pPr>
            <a:r>
              <a:rPr lang="en-US" sz="1500" b="1" dirty="0">
                <a:solidFill>
                  <a:schemeClr val="tx1"/>
                </a:solidFill>
              </a:rPr>
              <a:t>Esclusione e riserva degli indirizzi: </a:t>
            </a:r>
            <a:r>
              <a:rPr lang="en-US" sz="1500" dirty="0">
                <a:solidFill>
                  <a:schemeClr val="tx2"/>
                </a:solidFill>
              </a:rPr>
              <a:t>gli indirizzi critici (VIP HSRP, indirizzi fisici di router e switch, stampanti di rete e server fissi) sono isolati preventivamente tramite la direttiva ip dhcp excluded-address &lt;IP_Inizio&gt; &lt;IP_Fine&gt;.</a:t>
            </a:r>
            <a:endParaRPr lang="en-US" sz="1500" dirty="0"/>
          </a:p>
          <a:p>
            <a:pPr marL="342900" indent="-342900">
              <a:spcAft>
                <a:spcPts val="800"/>
              </a:spcAft>
              <a:buSzPct val="100000"/>
              <a:buChar char="▪"/>
            </a:pPr>
            <a:r>
              <a:rPr lang="en-US" sz="1500" b="1" dirty="0">
                <a:solidFill>
                  <a:schemeClr val="tx1"/>
                </a:solidFill>
              </a:rPr>
              <a:t>Configurazione degli scope: </a:t>
            </a:r>
            <a:r>
              <a:rPr lang="en-US" sz="1500" dirty="0">
                <a:solidFill>
                  <a:schemeClr val="tx2"/>
                </a:solidFill>
              </a:rPr>
              <a:t>ogni VLAN utente dispone di un pool dedicato, che definisce lo spazio di indirizzamento e indica come default router il gateway virtuale HSRP.</a:t>
            </a:r>
            <a:endParaRPr lang="en-US" sz="1500" dirty="0"/>
          </a:p>
        </p:txBody>
      </p:sp>
      <p:sp>
        <p:nvSpPr>
          <p:cNvPr id="5" name="code-bg"/>
          <p:cNvSpPr/>
          <p:nvPr/>
        </p:nvSpPr>
        <p:spPr>
          <a:xfrm>
            <a:off x="6492240" y="1554480"/>
            <a:ext cx="5148072" cy="2468880"/>
          </a:xfrm>
          <a:prstGeom prst="roundRect">
            <a:avLst>
              <a:gd name="adj" fmla="val 2963"/>
            </a:avLst>
          </a:prstGeom>
          <a:solidFill>
            <a:srgbClr val="0F1117"/>
          </a:solidFill>
          <a:ln w="12700">
            <a:solidFill>
              <a:srgbClr val="0F1117"/>
            </a:solidFill>
            <a:prstDash val="solid"/>
          </a:ln>
        </p:spPr>
      </p:sp>
      <p:sp>
        <p:nvSpPr>
          <p:cNvPr id="6" name="code-label"/>
          <p:cNvSpPr txBox="1"/>
          <p:nvPr/>
        </p:nvSpPr>
        <p:spPr>
          <a:xfrm>
            <a:off x="6720840" y="1664208"/>
            <a:ext cx="4690872" cy="256032"/>
          </a:xfrm>
          <a:prstGeom prst="rect">
            <a:avLst/>
          </a:prstGeom>
          <a:noFill/>
          <a:ln/>
        </p:spPr>
        <p:txBody>
          <a:bodyPr wrap="square" lIns="0" tIns="0" rIns="0" bIns="0" rtlCol="0" anchor="ctr"/>
          <a:lstStyle/>
          <a:p>
            <a:pPr marL="0" indent="0">
              <a:buNone/>
            </a:pPr>
            <a:r>
              <a:rPr lang="en-US" sz="1000" b="1" dirty="0">
                <a:solidFill>
                  <a:srgbClr val="F87171"/>
                </a:solidFill>
              </a:rPr>
              <a:t>LISTATO 2 – Esclusione indirizzi e pool DHCP per la VLAN 10</a:t>
            </a:r>
            <a:endParaRPr lang="en-US" sz="1000" dirty="0"/>
          </a:p>
        </p:txBody>
      </p:sp>
      <p:sp>
        <p:nvSpPr>
          <p:cNvPr id="7" name="code"/>
          <p:cNvSpPr txBox="1"/>
          <p:nvPr/>
        </p:nvSpPr>
        <p:spPr>
          <a:xfrm>
            <a:off x="6720840" y="1938528"/>
            <a:ext cx="4690872" cy="1975104"/>
          </a:xfrm>
          <a:prstGeom prst="rect">
            <a:avLst/>
          </a:prstGeom>
          <a:noFill/>
          <a:ln/>
        </p:spPr>
        <p:txBody>
          <a:bodyPr wrap="square" lIns="0" tIns="0" rIns="0" bIns="0" rtlCol="0" anchor="t"/>
          <a:lstStyle/>
          <a:p>
            <a:pPr marL="0" indent="0">
              <a:buNone/>
            </a:pPr>
            <a:r>
              <a:rPr lang="en-US" sz="1100" dirty="0">
                <a:solidFill>
                  <a:srgbClr val="E5E7EB"/>
                </a:solidFill>
                <a:latin typeface="Courier New" pitchFamily="34" charset="0"/>
                <a:ea typeface="Courier New" pitchFamily="34" charset="-122"/>
                <a:cs typeface="Courier New" pitchFamily="34" charset="-120"/>
              </a:rPr>
              <a:t>ip dhcp excluded-address &lt;ip_inizio_esclusi&gt; &lt;ip_fine_esclusi&gt;</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ip dhcp pool VLAN10-CLIENTS</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network &lt;rete_vlan10&gt; &lt;subnet_mask_vlan10&gt;</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default-router &lt;ip_vip_hsrp_vlan10&gt;</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dns-server &lt;ip_dns_primario&gt; &lt;ip_dns_secondario&gt;</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1.3 Piano di indirizzamento e subnetting</a:t>
            </a:r>
            <a:endParaRPr lang="en-US" sz="3000" dirty="0"/>
          </a:p>
        </p:txBody>
      </p:sp>
      <p:sp>
        <p:nvSpPr>
          <p:cNvPr id="4" name="intro"/>
          <p:cNvSpPr txBox="1"/>
          <p:nvPr/>
        </p:nvSpPr>
        <p:spPr>
          <a:xfrm>
            <a:off x="548640" y="1325880"/>
            <a:ext cx="11094415" cy="640080"/>
          </a:xfrm>
          <a:prstGeom prst="rect">
            <a:avLst/>
          </a:prstGeom>
          <a:noFill/>
          <a:ln/>
        </p:spPr>
        <p:txBody>
          <a:bodyPr wrap="square" lIns="0" tIns="0" rIns="0" bIns="0" rtlCol="0" anchor="ctr"/>
          <a:lstStyle/>
          <a:p>
            <a:pPr marL="0" indent="0">
              <a:buNone/>
            </a:pPr>
            <a:r>
              <a:rPr lang="en-US" sz="1500" dirty="0">
                <a:solidFill>
                  <a:schemeClr val="tx2"/>
                </a:solidFill>
              </a:rPr>
              <a:t>Il dimensionamento delle subnet è stato eseguito sul numero di postazioni di ciascun piano, aggiungendo gli indirizzi necessari alle interfacce SVI dei due core (due indirizzi), all’indirizzo virtuale HSRP (uno) e un margine per stampanti e dispositivi di rete.</a:t>
            </a:r>
            <a:endParaRPr lang="en-US" sz="1500" dirty="0"/>
          </a:p>
        </p:txBody>
      </p:sp>
      <p:sp>
        <p:nvSpPr>
          <p:cNvPr id="5" name="tcap"/>
          <p:cNvSpPr txBox="1"/>
          <p:nvPr/>
        </p:nvSpPr>
        <p:spPr>
          <a:xfrm>
            <a:off x="548640" y="2057400"/>
            <a:ext cx="11094415" cy="274320"/>
          </a:xfrm>
          <a:prstGeom prst="rect">
            <a:avLst/>
          </a:prstGeom>
          <a:noFill/>
          <a:ln/>
        </p:spPr>
        <p:txBody>
          <a:bodyPr wrap="square" lIns="0" tIns="0" rIns="0" bIns="0" rtlCol="0" anchor="ctr"/>
          <a:lstStyle/>
          <a:p>
            <a:pPr marL="0" indent="0">
              <a:buNone/>
            </a:pPr>
            <a:r>
              <a:rPr lang="en-US" sz="1100" i="1" dirty="0">
                <a:solidFill>
                  <a:schemeClr val="accent4"/>
                </a:solidFill>
              </a:rPr>
              <a:t>Tabella 2 – Dimensionamento delle subnet di piano.</a:t>
            </a:r>
            <a:endParaRPr lang="en-US" sz="11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2377440"/>
          <a:ext cx="11094415" cy="1493520"/>
        </p:xfrm>
        <a:graphic>
          <a:graphicData uri="http://schemas.openxmlformats.org/drawingml/2006/table">
            <a:tbl>
              <a:tblPr/>
              <a:tblGrid>
                <a:gridCol w="10972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gridCol w="2864815">
                  <a:extLst>
                    <a:ext uri="{9D8B030D-6E8A-4147-A177-3AD203B41FA5}">
                      <a16:colId xmlns:a16="http://schemas.microsoft.com/office/drawing/2014/main" val="20005"/>
                    </a:ext>
                  </a:extLst>
                </a:gridCol>
              </a:tblGrid>
              <a:tr h="457200">
                <a:tc>
                  <a:txBody>
                    <a:bodyPr/>
                    <a:lstStyle/>
                    <a:p>
                      <a:pPr marL="0" indent="0">
                        <a:buNone/>
                      </a:pPr>
                      <a:r>
                        <a:rPr lang="en-US" sz="1400" b="1" dirty="0">
                          <a:solidFill>
                            <a:schemeClr val="bg1"/>
                          </a:solidFill>
                        </a:rPr>
                        <a:t>Sede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Piani</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PC per piano</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Indirizzi minimi per piano</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Subnet minima</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Subnet adottata</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chemeClr val="tx2"/>
                          </a:solidFill>
                        </a:rPr>
                        <a:t>Sede 1</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6 (VLAN 10–60)</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20</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20 + 3 + margine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/27 (30 host utili)</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/24 – &lt;rete_vlan_N&gt; per ciascuna VLAN</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chemeClr val="tx2"/>
                          </a:solidFill>
                        </a:rPr>
                        <a:t>Sede 2</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3 (VLAN 70–90)</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30</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30 + 3 + margine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/26 (62 host utili)</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/24 – &lt;rete_vlan_N&gt; per ciascuna VLAN</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7" name="body-text"/>
          <p:cNvSpPr txBox="1"/>
          <p:nvPr/>
        </p:nvSpPr>
        <p:spPr>
          <a:xfrm>
            <a:off x="548640" y="3977640"/>
            <a:ext cx="11094415" cy="2103120"/>
          </a:xfrm>
          <a:prstGeom prst="rect">
            <a:avLst/>
          </a:prstGeom>
          <a:noFill/>
          <a:ln/>
        </p:spPr>
        <p:txBody>
          <a:bodyPr wrap="square" lIns="0" tIns="0" rIns="0" bIns="0" rtlCol="0" anchor="t"/>
          <a:lstStyle/>
          <a:p>
            <a:pPr marL="0" indent="0">
              <a:spcAft>
                <a:spcPts val="800"/>
              </a:spcAft>
              <a:buNone/>
            </a:pPr>
            <a:r>
              <a:rPr lang="en-US" sz="1400" dirty="0">
                <a:solidFill>
                  <a:schemeClr val="tx2"/>
                </a:solidFill>
              </a:rPr>
              <a:t>Pur essendo teoricamente sufficienti una /27 per i piani della Sede 1 e una /26 per quelli della Sede 2, è stata adottata una /24 per ciascuna VLAN: semplicità di gestione (a ogni VLAN una subnet dedicata), margine di crescita e possibilità di riassumere l’intera rete interna in un unico prefisso aggregato (&lt;rete_interna_aggregata&gt;) nelle regole di instradamento, NAT e filtraggio.</a:t>
            </a:r>
            <a:endParaRPr lang="en-US" sz="1400" dirty="0"/>
          </a:p>
          <a:p>
            <a:pPr marL="0" indent="0">
              <a:spcAft>
                <a:spcPts val="800"/>
              </a:spcAft>
              <a:buNone/>
            </a:pPr>
            <a:r>
              <a:rPr lang="en-US" sz="1400" dirty="0">
                <a:solidFill>
                  <a:schemeClr val="tx2"/>
                </a:solidFill>
              </a:rPr>
              <a:t>Le reti punto-punto tra gli apparati utilizzano subnet /30 (&lt;rete_p2p_core1_firewall&gt; e &lt;rete_p2p_core2_firewall&gt; tra i core e il firewall, &lt;rete_p2p_firewall_router&gt; tra firewall e router edge); la DMZ utilizza una /24 dedicata (&lt;rete_dmz&gt;).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1.4.1 Firewall perimetrale e zone di sicurezza</a:t>
            </a:r>
            <a:endParaRPr lang="en-US" sz="3000" dirty="0"/>
          </a:p>
        </p:txBody>
      </p:sp>
      <p:sp>
        <p:nvSpPr>
          <p:cNvPr id="4" name="intro"/>
          <p:cNvSpPr txBox="1"/>
          <p:nvPr/>
        </p:nvSpPr>
        <p:spPr>
          <a:xfrm>
            <a:off x="548640" y="1325880"/>
            <a:ext cx="11094415" cy="548640"/>
          </a:xfrm>
          <a:prstGeom prst="rect">
            <a:avLst/>
          </a:prstGeom>
          <a:noFill/>
          <a:ln/>
        </p:spPr>
        <p:txBody>
          <a:bodyPr wrap="square" lIns="0" tIns="0" rIns="0" bIns="0" rtlCol="0" anchor="ctr"/>
          <a:lstStyle/>
          <a:p>
            <a:pPr marL="0" indent="0">
              <a:buNone/>
            </a:pPr>
            <a:r>
              <a:rPr lang="en-US" sz="1500" dirty="0">
                <a:solidFill>
                  <a:schemeClr val="tx2"/>
                </a:solidFill>
              </a:rPr>
              <a:t>Il firewall perimetrale è posizionato tra il router interno e la connessione a Internet. La segmentazione è governata da un modello a zone gerarchiche basato sui Security Levels (da 0 a 100).</a:t>
            </a:r>
            <a:endParaRPr lang="en-US" sz="1500" dirty="0"/>
          </a:p>
        </p:txBody>
      </p:sp>
      <p:sp>
        <p:nvSpPr>
          <p:cNvPr id="5" name="zone"/>
          <p:cNvSpPr/>
          <p:nvPr/>
        </p:nvSpPr>
        <p:spPr>
          <a:xfrm>
            <a:off x="548640" y="2103120"/>
            <a:ext cx="3515258" cy="3794760"/>
          </a:xfrm>
          <a:prstGeom prst="roundRect">
            <a:avLst>
              <a:gd name="adj" fmla="val 2601"/>
            </a:avLst>
          </a:prstGeom>
          <a:solidFill>
            <a:schemeClr val="tx2"/>
          </a:solidFill>
          <a:ln w="12700">
            <a:solidFill>
              <a:schemeClr val="tx2"/>
            </a:solidFill>
            <a:prstDash val="solid"/>
          </a:ln>
        </p:spPr>
      </p:sp>
      <p:sp>
        <p:nvSpPr>
          <p:cNvPr id="6" name="zone-name"/>
          <p:cNvSpPr txBox="1"/>
          <p:nvPr/>
        </p:nvSpPr>
        <p:spPr>
          <a:xfrm>
            <a:off x="822960" y="2331720"/>
            <a:ext cx="1686458" cy="457200"/>
          </a:xfrm>
          <a:prstGeom prst="rect">
            <a:avLst/>
          </a:prstGeom>
          <a:noFill/>
          <a:ln/>
        </p:spPr>
        <p:txBody>
          <a:bodyPr wrap="square" lIns="0" tIns="0" rIns="0" bIns="0" rtlCol="0" anchor="ctr"/>
          <a:lstStyle/>
          <a:p>
            <a:pPr marL="0" indent="0">
              <a:buNone/>
            </a:pPr>
            <a:r>
              <a:rPr lang="en-US" sz="2200" b="1" dirty="0">
                <a:solidFill>
                  <a:schemeClr val="bg1"/>
                </a:solidFill>
                <a:latin typeface="Arial" pitchFamily="34" charset="0"/>
                <a:ea typeface="Arial" pitchFamily="34" charset="-122"/>
                <a:cs typeface="Arial" pitchFamily="34" charset="-120"/>
              </a:rPr>
              <a:t>Inside</a:t>
            </a:r>
            <a:endParaRPr lang="en-US" sz="2200" dirty="0"/>
          </a:p>
        </p:txBody>
      </p:sp>
      <p:sp>
        <p:nvSpPr>
          <p:cNvPr id="7" name="zone-level"/>
          <p:cNvSpPr txBox="1"/>
          <p:nvPr/>
        </p:nvSpPr>
        <p:spPr>
          <a:xfrm>
            <a:off x="2417978" y="2194560"/>
            <a:ext cx="1371600" cy="731520"/>
          </a:xfrm>
          <a:prstGeom prst="rect">
            <a:avLst/>
          </a:prstGeom>
          <a:noFill/>
          <a:ln/>
        </p:spPr>
        <p:txBody>
          <a:bodyPr wrap="square" lIns="0" tIns="0" rIns="0" bIns="0" rtlCol="0" anchor="ctr"/>
          <a:lstStyle/>
          <a:p>
            <a:pPr marL="0" indent="0" algn="r">
              <a:buNone/>
            </a:pPr>
            <a:r>
              <a:rPr lang="en-US" sz="4000" b="1" dirty="0">
                <a:solidFill>
                  <a:schemeClr val="accent6"/>
                </a:solidFill>
                <a:latin typeface="Arial" pitchFamily="34" charset="0"/>
                <a:ea typeface="Arial" pitchFamily="34" charset="-122"/>
                <a:cs typeface="Arial" pitchFamily="34" charset="-120"/>
              </a:rPr>
              <a:t>100</a:t>
            </a:r>
            <a:endParaRPr lang="en-US" sz="4000" dirty="0"/>
          </a:p>
        </p:txBody>
      </p:sp>
      <p:sp>
        <p:nvSpPr>
          <p:cNvPr id="8" name="zone-sl"/>
          <p:cNvSpPr txBox="1"/>
          <p:nvPr/>
        </p:nvSpPr>
        <p:spPr>
          <a:xfrm>
            <a:off x="1960778" y="2907792"/>
            <a:ext cx="1828800" cy="228600"/>
          </a:xfrm>
          <a:prstGeom prst="rect">
            <a:avLst/>
          </a:prstGeom>
          <a:noFill/>
          <a:ln/>
        </p:spPr>
        <p:txBody>
          <a:bodyPr wrap="square" lIns="0" tIns="0" rIns="0" bIns="0" rtlCol="0" anchor="ctr"/>
          <a:lstStyle/>
          <a:p>
            <a:pPr marL="0" indent="0" algn="r">
              <a:buNone/>
            </a:pPr>
            <a:r>
              <a:rPr lang="en-US" sz="1000" b="1" dirty="0">
                <a:solidFill>
                  <a:schemeClr val="accent5"/>
                </a:solidFill>
              </a:rPr>
              <a:t>SECURITY LEVEL</a:t>
            </a:r>
            <a:endParaRPr lang="en-US" sz="1000" dirty="0"/>
          </a:p>
        </p:txBody>
      </p:sp>
      <p:sp>
        <p:nvSpPr>
          <p:cNvPr id="9" name="zone-body"/>
          <p:cNvSpPr txBox="1"/>
          <p:nvPr/>
        </p:nvSpPr>
        <p:spPr>
          <a:xfrm>
            <a:off x="822960" y="3337560"/>
            <a:ext cx="2966618" cy="2377440"/>
          </a:xfrm>
          <a:prstGeom prst="rect">
            <a:avLst/>
          </a:prstGeom>
          <a:noFill/>
          <a:ln/>
        </p:spPr>
        <p:txBody>
          <a:bodyPr wrap="square" lIns="0" tIns="0" rIns="0" bIns="0" rtlCol="0" anchor="t"/>
          <a:lstStyle/>
          <a:p>
            <a:pPr marL="0" indent="0">
              <a:buNone/>
            </a:pPr>
            <a:r>
              <a:rPr lang="en-US" sz="1200" b="1" dirty="0">
                <a:solidFill>
                  <a:schemeClr val="accent6"/>
                </a:solidFill>
              </a:rPr>
              <a:t>Ruolo e descrizione</a:t>
            </a:r>
            <a:endParaRPr lang="en-US" sz="1500" dirty="0"/>
          </a:p>
          <a:p>
            <a:pPr marL="0" indent="0">
              <a:spcAft>
                <a:spcPts val="1400"/>
              </a:spcAft>
              <a:buNone/>
            </a:pPr>
            <a:r>
              <a:rPr lang="en-US" sz="1500" dirty="0">
                <a:solidFill>
                  <a:schemeClr val="bg1"/>
                </a:solidFill>
              </a:rPr>
              <a:t>Rete interna fidata, connessa ai Core Switch della Sede 1 (e, tramite essi, alla Sede 2).</a:t>
            </a:r>
            <a:endParaRPr lang="en-US" sz="1500" dirty="0"/>
          </a:p>
          <a:p>
            <a:pPr marL="0" indent="0">
              <a:buNone/>
            </a:pPr>
            <a:r>
              <a:rPr lang="en-US" sz="1200" b="1" dirty="0">
                <a:solidFill>
                  <a:schemeClr val="accent6"/>
                </a:solidFill>
              </a:rPr>
              <a:t>Policy di transito predefinita</a:t>
            </a:r>
            <a:endParaRPr lang="en-US" sz="1500" dirty="0"/>
          </a:p>
          <a:p>
            <a:pPr marL="0" indent="0">
              <a:buNone/>
            </a:pPr>
            <a:r>
              <a:rPr lang="en-US" sz="1500" dirty="0">
                <a:solidFill>
                  <a:schemeClr val="bg1"/>
                </a:solidFill>
              </a:rPr>
              <a:t>Accesso autorizzato verso i livelli inferiori (DMZ e Outside).</a:t>
            </a:r>
            <a:endParaRPr lang="en-US" sz="1500" dirty="0"/>
          </a:p>
        </p:txBody>
      </p:sp>
      <p:sp>
        <p:nvSpPr>
          <p:cNvPr id="10" name="zone"/>
          <p:cNvSpPr/>
          <p:nvPr/>
        </p:nvSpPr>
        <p:spPr>
          <a:xfrm>
            <a:off x="4338218" y="2103120"/>
            <a:ext cx="3515258" cy="3794760"/>
          </a:xfrm>
          <a:prstGeom prst="roundRect">
            <a:avLst>
              <a:gd name="adj" fmla="val 2601"/>
            </a:avLst>
          </a:prstGeom>
          <a:solidFill>
            <a:schemeClr val="bg2"/>
          </a:solidFill>
          <a:ln w="12700">
            <a:solidFill>
              <a:schemeClr val="bg2"/>
            </a:solidFill>
            <a:prstDash val="solid"/>
          </a:ln>
        </p:spPr>
      </p:sp>
      <p:sp>
        <p:nvSpPr>
          <p:cNvPr id="11" name="zone-name"/>
          <p:cNvSpPr txBox="1"/>
          <p:nvPr/>
        </p:nvSpPr>
        <p:spPr>
          <a:xfrm>
            <a:off x="4612538" y="2331720"/>
            <a:ext cx="1686458" cy="457200"/>
          </a:xfrm>
          <a:prstGeom prst="rect">
            <a:avLst/>
          </a:prstGeom>
          <a:noFill/>
          <a:ln/>
        </p:spPr>
        <p:txBody>
          <a:bodyPr wrap="square" lIns="0" tIns="0" rIns="0" bIns="0" rtlCol="0" anchor="ctr"/>
          <a:lstStyle/>
          <a:p>
            <a:pPr marL="0" indent="0">
              <a:buNone/>
            </a:pPr>
            <a:r>
              <a:rPr lang="en-US" sz="2200" b="1" dirty="0">
                <a:solidFill>
                  <a:schemeClr val="tx1"/>
                </a:solidFill>
                <a:latin typeface="Arial" pitchFamily="34" charset="0"/>
                <a:ea typeface="Arial" pitchFamily="34" charset="-122"/>
                <a:cs typeface="Arial" pitchFamily="34" charset="-120"/>
              </a:rPr>
              <a:t>DMZ</a:t>
            </a:r>
            <a:endParaRPr lang="en-US" sz="2200" dirty="0"/>
          </a:p>
        </p:txBody>
      </p:sp>
      <p:sp>
        <p:nvSpPr>
          <p:cNvPr id="12" name="zone-level"/>
          <p:cNvSpPr txBox="1"/>
          <p:nvPr/>
        </p:nvSpPr>
        <p:spPr>
          <a:xfrm>
            <a:off x="6207557" y="2194560"/>
            <a:ext cx="1371600" cy="731520"/>
          </a:xfrm>
          <a:prstGeom prst="rect">
            <a:avLst/>
          </a:prstGeom>
          <a:noFill/>
          <a:ln/>
        </p:spPr>
        <p:txBody>
          <a:bodyPr wrap="square" lIns="0" tIns="0" rIns="0" bIns="0" rtlCol="0" anchor="ctr"/>
          <a:lstStyle/>
          <a:p>
            <a:pPr marL="0" indent="0" algn="r">
              <a:buNone/>
            </a:pPr>
            <a:r>
              <a:rPr lang="en-US" sz="4000" b="1" dirty="0">
                <a:solidFill>
                  <a:schemeClr val="accent1"/>
                </a:solidFill>
                <a:latin typeface="Arial" pitchFamily="34" charset="0"/>
                <a:ea typeface="Arial" pitchFamily="34" charset="-122"/>
                <a:cs typeface="Arial" pitchFamily="34" charset="-120"/>
              </a:rPr>
              <a:t>50</a:t>
            </a:r>
            <a:endParaRPr lang="en-US" sz="4000" dirty="0"/>
          </a:p>
        </p:txBody>
      </p:sp>
      <p:sp>
        <p:nvSpPr>
          <p:cNvPr id="13" name="zone-sl"/>
          <p:cNvSpPr txBox="1"/>
          <p:nvPr/>
        </p:nvSpPr>
        <p:spPr>
          <a:xfrm>
            <a:off x="5750357" y="2907792"/>
            <a:ext cx="1828800" cy="228600"/>
          </a:xfrm>
          <a:prstGeom prst="rect">
            <a:avLst/>
          </a:prstGeom>
          <a:noFill/>
          <a:ln/>
        </p:spPr>
        <p:txBody>
          <a:bodyPr wrap="square" lIns="0" tIns="0" rIns="0" bIns="0" rtlCol="0" anchor="ctr"/>
          <a:lstStyle/>
          <a:p>
            <a:pPr marL="0" indent="0" algn="r">
              <a:buNone/>
            </a:pPr>
            <a:r>
              <a:rPr lang="en-US" sz="1000" b="1" dirty="0">
                <a:solidFill>
                  <a:schemeClr val="accent4"/>
                </a:solidFill>
              </a:rPr>
              <a:t>SECURITY LEVEL</a:t>
            </a:r>
            <a:endParaRPr lang="en-US" sz="1000" dirty="0"/>
          </a:p>
        </p:txBody>
      </p:sp>
      <p:sp>
        <p:nvSpPr>
          <p:cNvPr id="14" name="zone-body"/>
          <p:cNvSpPr txBox="1"/>
          <p:nvPr/>
        </p:nvSpPr>
        <p:spPr>
          <a:xfrm>
            <a:off x="4612538" y="3337560"/>
            <a:ext cx="2966618" cy="2377440"/>
          </a:xfrm>
          <a:prstGeom prst="rect">
            <a:avLst/>
          </a:prstGeom>
          <a:noFill/>
          <a:ln/>
        </p:spPr>
        <p:txBody>
          <a:bodyPr wrap="square" lIns="0" tIns="0" rIns="0" bIns="0" rtlCol="0" anchor="t"/>
          <a:lstStyle/>
          <a:p>
            <a:pPr marL="0" indent="0">
              <a:buNone/>
            </a:pPr>
            <a:r>
              <a:rPr lang="en-US" sz="1200" b="1" dirty="0">
                <a:solidFill>
                  <a:schemeClr val="accent1"/>
                </a:solidFill>
              </a:rPr>
              <a:t>Ruolo e descrizione</a:t>
            </a:r>
            <a:endParaRPr lang="en-US" sz="1500" dirty="0"/>
          </a:p>
          <a:p>
            <a:pPr marL="0" indent="0">
              <a:spcAft>
                <a:spcPts val="1400"/>
              </a:spcAft>
              <a:buNone/>
            </a:pPr>
            <a:r>
              <a:rPr lang="en-US" sz="1500" dirty="0">
                <a:solidFill>
                  <a:schemeClr val="tx2"/>
                </a:solidFill>
              </a:rPr>
              <a:t>Segmento cuscinetto contenente i servizi esposti (server DVWA).</a:t>
            </a:r>
            <a:endParaRPr lang="en-US" sz="1500" dirty="0"/>
          </a:p>
          <a:p>
            <a:pPr marL="0" indent="0">
              <a:buNone/>
            </a:pPr>
            <a:r>
              <a:rPr lang="en-US" sz="1200" b="1" dirty="0">
                <a:solidFill>
                  <a:schemeClr val="accent1"/>
                </a:solidFill>
              </a:rPr>
              <a:t>Policy di transito predefinita</a:t>
            </a:r>
            <a:endParaRPr lang="en-US" sz="1500" dirty="0"/>
          </a:p>
          <a:p>
            <a:pPr marL="0" indent="0">
              <a:buNone/>
            </a:pPr>
            <a:r>
              <a:rPr lang="en-US" sz="1500" dirty="0">
                <a:solidFill>
                  <a:schemeClr val="tx2"/>
                </a:solidFill>
              </a:rPr>
              <a:t>Accesso consentito verso Outside (0); bloccato verso Inside (100).</a:t>
            </a:r>
            <a:endParaRPr lang="en-US" sz="1500" dirty="0"/>
          </a:p>
        </p:txBody>
      </p:sp>
      <p:sp>
        <p:nvSpPr>
          <p:cNvPr id="15" name="zone"/>
          <p:cNvSpPr/>
          <p:nvPr/>
        </p:nvSpPr>
        <p:spPr>
          <a:xfrm>
            <a:off x="8127797" y="2103120"/>
            <a:ext cx="3515258" cy="3794760"/>
          </a:xfrm>
          <a:prstGeom prst="roundRect">
            <a:avLst>
              <a:gd name="adj" fmla="val 2601"/>
            </a:avLst>
          </a:prstGeom>
          <a:solidFill>
            <a:schemeClr val="bg2"/>
          </a:solidFill>
          <a:ln w="12700">
            <a:solidFill>
              <a:schemeClr val="bg2"/>
            </a:solidFill>
            <a:prstDash val="solid"/>
          </a:ln>
        </p:spPr>
      </p:sp>
      <p:sp>
        <p:nvSpPr>
          <p:cNvPr id="16" name="zone-name"/>
          <p:cNvSpPr txBox="1"/>
          <p:nvPr/>
        </p:nvSpPr>
        <p:spPr>
          <a:xfrm>
            <a:off x="8402117" y="2331720"/>
            <a:ext cx="1686458" cy="457200"/>
          </a:xfrm>
          <a:prstGeom prst="rect">
            <a:avLst/>
          </a:prstGeom>
          <a:noFill/>
          <a:ln/>
        </p:spPr>
        <p:txBody>
          <a:bodyPr wrap="square" lIns="0" tIns="0" rIns="0" bIns="0" rtlCol="0" anchor="ctr"/>
          <a:lstStyle/>
          <a:p>
            <a:pPr marL="0" indent="0">
              <a:buNone/>
            </a:pPr>
            <a:r>
              <a:rPr lang="en-US" sz="2200" b="1" dirty="0">
                <a:solidFill>
                  <a:schemeClr val="tx1"/>
                </a:solidFill>
                <a:latin typeface="Arial" pitchFamily="34" charset="0"/>
                <a:ea typeface="Arial" pitchFamily="34" charset="-122"/>
                <a:cs typeface="Arial" pitchFamily="34" charset="-120"/>
              </a:rPr>
              <a:t>Outside</a:t>
            </a:r>
            <a:endParaRPr lang="en-US" sz="2200" dirty="0"/>
          </a:p>
        </p:txBody>
      </p:sp>
      <p:sp>
        <p:nvSpPr>
          <p:cNvPr id="17" name="zone-level"/>
          <p:cNvSpPr txBox="1"/>
          <p:nvPr/>
        </p:nvSpPr>
        <p:spPr>
          <a:xfrm>
            <a:off x="9997135" y="2194560"/>
            <a:ext cx="1371600" cy="731520"/>
          </a:xfrm>
          <a:prstGeom prst="rect">
            <a:avLst/>
          </a:prstGeom>
          <a:noFill/>
          <a:ln/>
        </p:spPr>
        <p:txBody>
          <a:bodyPr wrap="square" lIns="0" tIns="0" rIns="0" bIns="0" rtlCol="0" anchor="ctr"/>
          <a:lstStyle/>
          <a:p>
            <a:pPr marL="0" indent="0" algn="r">
              <a:buNone/>
            </a:pPr>
            <a:r>
              <a:rPr lang="en-US" sz="4000" b="1" dirty="0">
                <a:solidFill>
                  <a:schemeClr val="accent1"/>
                </a:solidFill>
                <a:latin typeface="Arial" pitchFamily="34" charset="0"/>
                <a:ea typeface="Arial" pitchFamily="34" charset="-122"/>
                <a:cs typeface="Arial" pitchFamily="34" charset="-120"/>
              </a:rPr>
              <a:t>0</a:t>
            </a:r>
            <a:endParaRPr lang="en-US" sz="4000" dirty="0"/>
          </a:p>
        </p:txBody>
      </p:sp>
      <p:sp>
        <p:nvSpPr>
          <p:cNvPr id="18" name="zone-sl"/>
          <p:cNvSpPr txBox="1"/>
          <p:nvPr/>
        </p:nvSpPr>
        <p:spPr>
          <a:xfrm>
            <a:off x="9539935" y="2907792"/>
            <a:ext cx="1828800" cy="228600"/>
          </a:xfrm>
          <a:prstGeom prst="rect">
            <a:avLst/>
          </a:prstGeom>
          <a:noFill/>
          <a:ln/>
        </p:spPr>
        <p:txBody>
          <a:bodyPr wrap="square" lIns="0" tIns="0" rIns="0" bIns="0" rtlCol="0" anchor="ctr"/>
          <a:lstStyle/>
          <a:p>
            <a:pPr marL="0" indent="0" algn="r">
              <a:buNone/>
            </a:pPr>
            <a:r>
              <a:rPr lang="en-US" sz="1000" b="1" dirty="0">
                <a:solidFill>
                  <a:schemeClr val="accent4"/>
                </a:solidFill>
              </a:rPr>
              <a:t>SECURITY LEVEL</a:t>
            </a:r>
            <a:endParaRPr lang="en-US" sz="1000" dirty="0"/>
          </a:p>
        </p:txBody>
      </p:sp>
      <p:sp>
        <p:nvSpPr>
          <p:cNvPr id="19" name="zone-body"/>
          <p:cNvSpPr txBox="1"/>
          <p:nvPr/>
        </p:nvSpPr>
        <p:spPr>
          <a:xfrm>
            <a:off x="8402117" y="3337560"/>
            <a:ext cx="2966618" cy="2377440"/>
          </a:xfrm>
          <a:prstGeom prst="rect">
            <a:avLst/>
          </a:prstGeom>
          <a:noFill/>
          <a:ln/>
        </p:spPr>
        <p:txBody>
          <a:bodyPr wrap="square" lIns="0" tIns="0" rIns="0" bIns="0" rtlCol="0" anchor="t"/>
          <a:lstStyle/>
          <a:p>
            <a:pPr marL="0" indent="0">
              <a:buNone/>
            </a:pPr>
            <a:r>
              <a:rPr lang="en-US" sz="1200" b="1" dirty="0">
                <a:solidFill>
                  <a:schemeClr val="accent1"/>
                </a:solidFill>
              </a:rPr>
              <a:t>Ruolo e descrizione</a:t>
            </a:r>
            <a:endParaRPr lang="en-US" sz="1500" dirty="0"/>
          </a:p>
          <a:p>
            <a:pPr marL="0" indent="0">
              <a:spcAft>
                <a:spcPts val="1400"/>
              </a:spcAft>
              <a:buNone/>
            </a:pPr>
            <a:r>
              <a:rPr lang="en-US" sz="1500" dirty="0">
                <a:solidFill>
                  <a:schemeClr val="tx2"/>
                </a:solidFill>
              </a:rPr>
              <a:t>Rete esterna non attendibile, attestata sul router edge/ISP.</a:t>
            </a:r>
            <a:endParaRPr lang="en-US" sz="1500" dirty="0"/>
          </a:p>
          <a:p>
            <a:pPr marL="0" indent="0">
              <a:buNone/>
            </a:pPr>
            <a:r>
              <a:rPr lang="en-US" sz="1200" b="1" dirty="0">
                <a:solidFill>
                  <a:schemeClr val="accent1"/>
                </a:solidFill>
              </a:rPr>
              <a:t>Policy di transito predefinita</a:t>
            </a:r>
            <a:endParaRPr lang="en-US" sz="1500" dirty="0"/>
          </a:p>
          <a:p>
            <a:pPr marL="0" indent="0">
              <a:buNone/>
            </a:pPr>
            <a:r>
              <a:rPr lang="en-US" sz="1500" dirty="0">
                <a:solidFill>
                  <a:schemeClr val="tx2"/>
                </a:solidFill>
              </a:rPr>
              <a:t>Tutto il traffico in ingresso è negato (implicit deny).</a:t>
            </a:r>
            <a:endParaRPr lang="en-US" sz="1500" dirty="0"/>
          </a:p>
        </p:txBody>
      </p:sp>
      <p:sp>
        <p:nvSpPr>
          <p:cNvPr id="20" name="tcap"/>
          <p:cNvSpPr txBox="1"/>
          <p:nvPr/>
        </p:nvSpPr>
        <p:spPr>
          <a:xfrm>
            <a:off x="548640" y="5943600"/>
            <a:ext cx="11094415" cy="274320"/>
          </a:xfrm>
          <a:prstGeom prst="rect">
            <a:avLst/>
          </a:prstGeom>
          <a:noFill/>
          <a:ln/>
        </p:spPr>
        <p:txBody>
          <a:bodyPr wrap="square" lIns="0" tIns="0" rIns="0" bIns="0" rtlCol="0" anchor="ctr"/>
          <a:lstStyle/>
          <a:p>
            <a:pPr marL="0" indent="0" algn="ctr">
              <a:buNone/>
            </a:pPr>
            <a:r>
              <a:rPr lang="en-US" sz="1100" i="1" dirty="0">
                <a:solidFill>
                  <a:schemeClr val="accent4"/>
                </a:solidFill>
              </a:rPr>
              <a:t>Tabella 3 – Zone di sicurezza del firewall perimetrale.</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1.4.2 Sintesi della configurazione del firewall</a:t>
            </a:r>
            <a:endParaRPr lang="en-US" sz="3000" dirty="0"/>
          </a:p>
        </p:txBody>
      </p:sp>
      <p:sp>
        <p:nvSpPr>
          <p:cNvPr id="4" name="body-text"/>
          <p:cNvSpPr txBox="1"/>
          <p:nvPr/>
        </p:nvSpPr>
        <p:spPr>
          <a:xfrm>
            <a:off x="548640" y="1463040"/>
            <a:ext cx="5669280" cy="4480560"/>
          </a:xfrm>
          <a:prstGeom prst="rect">
            <a:avLst/>
          </a:prstGeom>
          <a:noFill/>
          <a:ln/>
        </p:spPr>
        <p:txBody>
          <a:bodyPr wrap="square" lIns="0" tIns="0" rIns="0" bIns="0" rtlCol="0" anchor="t"/>
          <a:lstStyle/>
          <a:p>
            <a:pPr marL="0" indent="0">
              <a:spcAft>
                <a:spcPts val="800"/>
              </a:spcAft>
              <a:buNone/>
            </a:pPr>
            <a:r>
              <a:rPr lang="en-US" sz="1500" dirty="0">
                <a:solidFill>
                  <a:schemeClr val="tx2"/>
                </a:solidFill>
              </a:rPr>
              <a:t>Il firewall dispone di quattro interfacce: due collegamenti punto-punto verso i Core Switch della Sede 1 (percorso primario e percorso di ridondanza, entrambi in zona Inside), il collegamento verso il router edge (zona Outside) e il collegamento verso la DMZ.</a:t>
            </a:r>
            <a:endParaRPr lang="en-US" sz="1500" dirty="0"/>
          </a:p>
          <a:p>
            <a:pPr marL="0" indent="0">
              <a:spcAft>
                <a:spcPts val="800"/>
              </a:spcAft>
              <a:buNone/>
            </a:pPr>
            <a:r>
              <a:rPr lang="en-US" sz="1500" dirty="0">
                <a:solidFill>
                  <a:schemeClr val="tx2"/>
                </a:solidFill>
              </a:rPr>
              <a:t>Le reti interne (&lt;reti_vlan_sede1&gt; e &lt;reti_vlan_sede2&gt;) sono raggiunte tramite rotte statiche con metrica preferenziale sul percorso primario e metrica più elevata sul percorso di ridondanza, mentre la rotta predefinita è diretta al router edge. Il traffico verso l’esterno è tradotto mediante PAT dinamico sull’indirizzo dell’interfaccia Outside.</a:t>
            </a:r>
            <a:endParaRPr lang="en-US" sz="1500" dirty="0"/>
          </a:p>
        </p:txBody>
      </p:sp>
      <p:sp>
        <p:nvSpPr>
          <p:cNvPr id="5" name="pat"/>
          <p:cNvSpPr txBox="1"/>
          <p:nvPr/>
        </p:nvSpPr>
        <p:spPr>
          <a:xfrm>
            <a:off x="6492240" y="1463040"/>
            <a:ext cx="5148072" cy="1645920"/>
          </a:xfrm>
          <a:prstGeom prst="rect">
            <a:avLst/>
          </a:prstGeom>
          <a:noFill/>
          <a:ln/>
        </p:spPr>
        <p:txBody>
          <a:bodyPr wrap="square" lIns="0" tIns="0" rIns="0" bIns="0" rtlCol="0" anchor="t"/>
          <a:lstStyle/>
          <a:p>
            <a:pPr marL="0" indent="0">
              <a:buNone/>
            </a:pPr>
            <a:r>
              <a:rPr lang="en-US" sz="1500" b="1" dirty="0">
                <a:solidFill>
                  <a:schemeClr val="accent1"/>
                </a:solidFill>
              </a:rPr>
              <a:t>Dynamic Interface PAT (Auto NAT)</a:t>
            </a:r>
            <a:endParaRPr lang="en-US" sz="1500" dirty="0"/>
          </a:p>
          <a:p>
            <a:pPr marL="0" indent="0">
              <a:buNone/>
            </a:pPr>
            <a:r>
              <a:rPr lang="en-US" sz="1500" dirty="0">
                <a:solidFill>
                  <a:schemeClr val="tx2"/>
                </a:solidFill>
              </a:rPr>
              <a:t>La tecnica consente di mascherare cumulativamente tutte le workstation interne di entrambe le sedi durante le sessioni di navigazione verso la rete esterna, mediante l’indirizzo IP pubblico associato alla porta Outside.</a:t>
            </a:r>
            <a:endParaRPr lang="en-US" sz="1500" dirty="0"/>
          </a:p>
        </p:txBody>
      </p:sp>
      <p:sp>
        <p:nvSpPr>
          <p:cNvPr id="6" name="code-bg"/>
          <p:cNvSpPr/>
          <p:nvPr/>
        </p:nvSpPr>
        <p:spPr>
          <a:xfrm>
            <a:off x="6492240" y="3291840"/>
            <a:ext cx="5148072" cy="1554480"/>
          </a:xfrm>
          <a:prstGeom prst="roundRect">
            <a:avLst>
              <a:gd name="adj" fmla="val 4706"/>
            </a:avLst>
          </a:prstGeom>
          <a:solidFill>
            <a:srgbClr val="0F1117"/>
          </a:solidFill>
          <a:ln w="12700">
            <a:solidFill>
              <a:srgbClr val="0F1117"/>
            </a:solidFill>
            <a:prstDash val="solid"/>
          </a:ln>
        </p:spPr>
      </p:sp>
      <p:sp>
        <p:nvSpPr>
          <p:cNvPr id="7" name="code-label"/>
          <p:cNvSpPr txBox="1"/>
          <p:nvPr/>
        </p:nvSpPr>
        <p:spPr>
          <a:xfrm>
            <a:off x="6720840" y="3401568"/>
            <a:ext cx="4690872" cy="256032"/>
          </a:xfrm>
          <a:prstGeom prst="rect">
            <a:avLst/>
          </a:prstGeom>
          <a:noFill/>
          <a:ln/>
        </p:spPr>
        <p:txBody>
          <a:bodyPr wrap="square" lIns="0" tIns="0" rIns="0" bIns="0" rtlCol="0" anchor="ctr"/>
          <a:lstStyle/>
          <a:p>
            <a:pPr marL="0" indent="0">
              <a:buNone/>
            </a:pPr>
            <a:r>
              <a:rPr lang="en-US" sz="1000" b="1" dirty="0">
                <a:solidFill>
                  <a:srgbClr val="F87171"/>
                </a:solidFill>
              </a:rPr>
              <a:t>LISTATO 3 – PAT dinamico ad interfaccia</a:t>
            </a:r>
            <a:endParaRPr lang="en-US" sz="1000" dirty="0"/>
          </a:p>
        </p:txBody>
      </p:sp>
      <p:sp>
        <p:nvSpPr>
          <p:cNvPr id="8" name="code"/>
          <p:cNvSpPr txBox="1"/>
          <p:nvPr/>
        </p:nvSpPr>
        <p:spPr>
          <a:xfrm>
            <a:off x="6720840" y="3675888"/>
            <a:ext cx="4690872" cy="1060704"/>
          </a:xfrm>
          <a:prstGeom prst="rect">
            <a:avLst/>
          </a:prstGeom>
          <a:noFill/>
          <a:ln/>
        </p:spPr>
        <p:txBody>
          <a:bodyPr wrap="square" lIns="0" tIns="0" rIns="0" bIns="0" rtlCol="0" anchor="t"/>
          <a:lstStyle/>
          <a:p>
            <a:pPr marL="0" indent="0">
              <a:buNone/>
            </a:pPr>
            <a:r>
              <a:rPr lang="en-US" sz="1100" dirty="0">
                <a:solidFill>
                  <a:srgbClr val="E5E7EB"/>
                </a:solidFill>
                <a:latin typeface="Courier New" pitchFamily="34" charset="0"/>
                <a:ea typeface="Courier New" pitchFamily="34" charset="-122"/>
                <a:cs typeface="Courier New" pitchFamily="34" charset="-120"/>
              </a:rPr>
              <a:t>object network OBJ-RETE-INTERNA</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subnet &lt;rete_interna_aggregata&gt; &lt;subnet_mask_aggregata&gt;</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nat (inside,outside) dynamic interface</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1.4.3 Configurazione del router edge</a:t>
            </a:r>
            <a:endParaRPr lang="en-US" sz="3000" dirty="0"/>
          </a:p>
        </p:txBody>
      </p:sp>
      <p:sp>
        <p:nvSpPr>
          <p:cNvPr id="4" name="intro"/>
          <p:cNvSpPr txBox="1"/>
          <p:nvPr/>
        </p:nvSpPr>
        <p:spPr>
          <a:xfrm>
            <a:off x="548640" y="1325880"/>
            <a:ext cx="11094415" cy="411480"/>
          </a:xfrm>
          <a:prstGeom prst="rect">
            <a:avLst/>
          </a:prstGeom>
          <a:noFill/>
          <a:ln/>
        </p:spPr>
        <p:txBody>
          <a:bodyPr wrap="square" lIns="0" tIns="0" rIns="0" bIns="0" rtlCol="0" anchor="ctr"/>
          <a:lstStyle/>
          <a:p>
            <a:pPr marL="0" indent="0">
              <a:buNone/>
            </a:pPr>
            <a:r>
              <a:rPr lang="en-US" sz="1500" dirty="0">
                <a:solidFill>
                  <a:schemeClr val="tx2"/>
                </a:solidFill>
              </a:rPr>
              <a:t>Il router edge gestisce la connessione verso l’esterno (Cloud/ISP), con rotta di ritorno verso il firewall.</a:t>
            </a:r>
            <a:endParaRPr lang="en-US" sz="1500" dirty="0"/>
          </a:p>
        </p:txBody>
      </p:sp>
      <p:sp>
        <p:nvSpPr>
          <p:cNvPr id="5" name="code-bg"/>
          <p:cNvSpPr/>
          <p:nvPr/>
        </p:nvSpPr>
        <p:spPr>
          <a:xfrm>
            <a:off x="548640" y="1874520"/>
            <a:ext cx="11094415" cy="4114800"/>
          </a:xfrm>
          <a:prstGeom prst="roundRect">
            <a:avLst>
              <a:gd name="adj" fmla="val 1778"/>
            </a:avLst>
          </a:prstGeom>
          <a:solidFill>
            <a:srgbClr val="0F1117"/>
          </a:solidFill>
          <a:ln w="12700">
            <a:solidFill>
              <a:srgbClr val="0F1117"/>
            </a:solidFill>
            <a:prstDash val="solid"/>
          </a:ln>
        </p:spPr>
      </p:sp>
      <p:sp>
        <p:nvSpPr>
          <p:cNvPr id="6" name="code-label"/>
          <p:cNvSpPr txBox="1"/>
          <p:nvPr/>
        </p:nvSpPr>
        <p:spPr>
          <a:xfrm>
            <a:off x="777240" y="1984248"/>
            <a:ext cx="10637215" cy="256032"/>
          </a:xfrm>
          <a:prstGeom prst="rect">
            <a:avLst/>
          </a:prstGeom>
          <a:noFill/>
          <a:ln/>
        </p:spPr>
        <p:txBody>
          <a:bodyPr wrap="square" lIns="0" tIns="0" rIns="0" bIns="0" rtlCol="0" anchor="ctr"/>
          <a:lstStyle/>
          <a:p>
            <a:pPr marL="0" indent="0">
              <a:buNone/>
            </a:pPr>
            <a:r>
              <a:rPr lang="en-US" sz="1000" b="1" dirty="0">
                <a:solidFill>
                  <a:srgbClr val="F87171"/>
                </a:solidFill>
              </a:rPr>
              <a:t>LISTATO 4 – Configurazione di base del router edge</a:t>
            </a:r>
            <a:endParaRPr lang="en-US" sz="1000" dirty="0"/>
          </a:p>
        </p:txBody>
      </p:sp>
      <p:sp>
        <p:nvSpPr>
          <p:cNvPr id="7" name="code"/>
          <p:cNvSpPr txBox="1"/>
          <p:nvPr/>
        </p:nvSpPr>
        <p:spPr>
          <a:xfrm>
            <a:off x="777240" y="2258568"/>
            <a:ext cx="10637215" cy="3621024"/>
          </a:xfrm>
          <a:prstGeom prst="rect">
            <a:avLst/>
          </a:prstGeom>
          <a:noFill/>
          <a:ln/>
        </p:spPr>
        <p:txBody>
          <a:bodyPr wrap="square" lIns="0" tIns="0" rIns="0" bIns="0" rtlCol="0" anchor="t"/>
          <a:lstStyle/>
          <a:p>
            <a:pPr marL="0" indent="0">
              <a:buNone/>
            </a:pPr>
            <a:r>
              <a:rPr lang="en-US" sz="1300" dirty="0">
                <a:solidFill>
                  <a:srgbClr val="E5E7EB"/>
                </a:solidFill>
                <a:latin typeface="Courier New" pitchFamily="34" charset="0"/>
                <a:ea typeface="Courier New" pitchFamily="34" charset="-122"/>
                <a:cs typeface="Courier New" pitchFamily="34" charset="-120"/>
              </a:rPr>
              <a:t>hostname RTV-EDGE</a:t>
            </a:r>
            <a:endParaRPr lang="en-US" sz="1300" dirty="0"/>
          </a:p>
          <a:p>
            <a:pPr marL="0" indent="0">
              <a:buNone/>
            </a:pPr>
            <a:r>
              <a:rPr lang="en-US" sz="1300" dirty="0">
                <a:solidFill>
                  <a:srgbClr val="E5E7EB"/>
                </a:solidFill>
                <a:latin typeface="Courier New" pitchFamily="34" charset="0"/>
                <a:ea typeface="Courier New" pitchFamily="34" charset="-122"/>
                <a:cs typeface="Courier New" pitchFamily="34" charset="-120"/>
              </a:rPr>
              <a:t>ip routing</a:t>
            </a:r>
            <a:endParaRPr lang="en-US" sz="1300" dirty="0"/>
          </a:p>
          <a:p>
            <a:pPr marL="0" indent="0">
              <a:buNone/>
            </a:pPr>
            <a:endParaRPr lang="en-US" sz="1300" dirty="0"/>
          </a:p>
          <a:p>
            <a:pPr marL="0" indent="0">
              <a:buNone/>
            </a:pPr>
            <a:r>
              <a:rPr lang="en-US" sz="1300" dirty="0">
                <a:solidFill>
                  <a:srgbClr val="E5E7EB"/>
                </a:solidFill>
                <a:latin typeface="Courier New" pitchFamily="34" charset="0"/>
                <a:ea typeface="Courier New" pitchFamily="34" charset="-122"/>
                <a:cs typeface="Courier New" pitchFamily="34" charset="-120"/>
              </a:rPr>
              <a:t>interface GigabitEthernet0/0/0</a:t>
            </a:r>
            <a:endParaRPr lang="en-US" sz="1300" dirty="0"/>
          </a:p>
          <a:p>
            <a:pPr marL="0" indent="0">
              <a:buNone/>
            </a:pPr>
            <a:r>
              <a:rPr lang="en-US" sz="1300" dirty="0">
                <a:solidFill>
                  <a:srgbClr val="E5E7EB"/>
                </a:solidFill>
                <a:latin typeface="Courier New" pitchFamily="34" charset="0"/>
                <a:ea typeface="Courier New" pitchFamily="34" charset="-122"/>
                <a:cs typeface="Courier New" pitchFamily="34" charset="-120"/>
              </a:rPr>
              <a:t> description LINK-TO-FIREWALL-OUTSIDE</a:t>
            </a:r>
            <a:endParaRPr lang="en-US" sz="1300" dirty="0"/>
          </a:p>
          <a:p>
            <a:pPr marL="0" indent="0">
              <a:buNone/>
            </a:pPr>
            <a:r>
              <a:rPr lang="en-US" sz="1300" dirty="0">
                <a:solidFill>
                  <a:srgbClr val="E5E7EB"/>
                </a:solidFill>
                <a:latin typeface="Courier New" pitchFamily="34" charset="0"/>
                <a:ea typeface="Courier New" pitchFamily="34" charset="-122"/>
                <a:cs typeface="Courier New" pitchFamily="34" charset="-120"/>
              </a:rPr>
              <a:t> ip address &lt;ip_router_verso_firewall&gt; &lt;subnet_mask_p2p&gt;</a:t>
            </a:r>
            <a:endParaRPr lang="en-US" sz="1300" dirty="0"/>
          </a:p>
          <a:p>
            <a:pPr marL="0" indent="0">
              <a:buNone/>
            </a:pPr>
            <a:r>
              <a:rPr lang="en-US" sz="1300" dirty="0">
                <a:solidFill>
                  <a:srgbClr val="E5E7EB"/>
                </a:solidFill>
                <a:latin typeface="Courier New" pitchFamily="34" charset="0"/>
                <a:ea typeface="Courier New" pitchFamily="34" charset="-122"/>
                <a:cs typeface="Courier New" pitchFamily="34" charset="-120"/>
              </a:rPr>
              <a:t> no shutdown</a:t>
            </a:r>
            <a:endParaRPr lang="en-US" sz="1300" dirty="0"/>
          </a:p>
          <a:p>
            <a:pPr marL="0" indent="0">
              <a:buNone/>
            </a:pPr>
            <a:endParaRPr lang="en-US" sz="1300" dirty="0"/>
          </a:p>
          <a:p>
            <a:pPr marL="0" indent="0">
              <a:buNone/>
            </a:pPr>
            <a:r>
              <a:rPr lang="en-US" sz="1300" dirty="0">
                <a:solidFill>
                  <a:srgbClr val="E5E7EB"/>
                </a:solidFill>
                <a:latin typeface="Courier New" pitchFamily="34" charset="0"/>
                <a:ea typeface="Courier New" pitchFamily="34" charset="-122"/>
                <a:cs typeface="Courier New" pitchFamily="34" charset="-120"/>
              </a:rPr>
              <a:t>interface GigabitEthernet0/0/1</a:t>
            </a:r>
            <a:endParaRPr lang="en-US" sz="1300" dirty="0"/>
          </a:p>
          <a:p>
            <a:pPr marL="0" indent="0">
              <a:buNone/>
            </a:pPr>
            <a:r>
              <a:rPr lang="en-US" sz="1300" dirty="0">
                <a:solidFill>
                  <a:srgbClr val="E5E7EB"/>
                </a:solidFill>
                <a:latin typeface="Courier New" pitchFamily="34" charset="0"/>
                <a:ea typeface="Courier New" pitchFamily="34" charset="-122"/>
                <a:cs typeface="Courier New" pitchFamily="34" charset="-120"/>
              </a:rPr>
              <a:t> description LINK-TO-CLOUD-ISP</a:t>
            </a:r>
            <a:endParaRPr lang="en-US" sz="1300" dirty="0"/>
          </a:p>
          <a:p>
            <a:pPr marL="0" indent="0">
              <a:buNone/>
            </a:pPr>
            <a:r>
              <a:rPr lang="en-US" sz="1300" dirty="0">
                <a:solidFill>
                  <a:srgbClr val="E5E7EB"/>
                </a:solidFill>
                <a:latin typeface="Courier New" pitchFamily="34" charset="0"/>
                <a:ea typeface="Courier New" pitchFamily="34" charset="-122"/>
                <a:cs typeface="Courier New" pitchFamily="34" charset="-120"/>
              </a:rPr>
              <a:t> ip address dhcp</a:t>
            </a:r>
            <a:endParaRPr lang="en-US" sz="1300" dirty="0"/>
          </a:p>
          <a:p>
            <a:pPr marL="0" indent="0">
              <a:buNone/>
            </a:pPr>
            <a:r>
              <a:rPr lang="en-US" sz="1300" dirty="0">
                <a:solidFill>
                  <a:srgbClr val="E5E7EB"/>
                </a:solidFill>
                <a:latin typeface="Courier New" pitchFamily="34" charset="0"/>
                <a:ea typeface="Courier New" pitchFamily="34" charset="-122"/>
                <a:cs typeface="Courier New" pitchFamily="34" charset="-120"/>
              </a:rPr>
              <a:t> no shutdown</a:t>
            </a:r>
            <a:endParaRPr lang="en-US" sz="1300" dirty="0"/>
          </a:p>
          <a:p>
            <a:pPr marL="0" indent="0">
              <a:buNone/>
            </a:pPr>
            <a:endParaRPr lang="en-US" sz="1300" dirty="0"/>
          </a:p>
          <a:p>
            <a:pPr marL="0" indent="0">
              <a:buNone/>
            </a:pPr>
            <a:r>
              <a:rPr lang="en-US" sz="1300" dirty="0">
                <a:solidFill>
                  <a:srgbClr val="E5E7EB"/>
                </a:solidFill>
                <a:latin typeface="Courier New" pitchFamily="34" charset="0"/>
                <a:ea typeface="Courier New" pitchFamily="34" charset="-122"/>
                <a:cs typeface="Courier New" pitchFamily="34" charset="-120"/>
              </a:rPr>
              <a:t>ip route &lt;rete_interna_aggregata&gt; &lt;subnet_mask_aggregata&gt; &lt;ip_firewall_outside&gt;</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1.4.4 DMZ unica  ·  1.4.5 Collegamento del NAS</a:t>
            </a:r>
            <a:endParaRPr lang="en-US" sz="3000" dirty="0"/>
          </a:p>
        </p:txBody>
      </p:sp>
      <p:sp>
        <p:nvSpPr>
          <p:cNvPr id="4" name="card"/>
          <p:cNvSpPr/>
          <p:nvPr/>
        </p:nvSpPr>
        <p:spPr>
          <a:xfrm>
            <a:off x="548640" y="1463040"/>
            <a:ext cx="5410048" cy="4434840"/>
          </a:xfrm>
          <a:prstGeom prst="roundRect">
            <a:avLst>
              <a:gd name="adj" fmla="val 2062"/>
            </a:avLst>
          </a:prstGeom>
          <a:solidFill>
            <a:schemeClr val="bg2"/>
          </a:solidFill>
          <a:ln w="12700">
            <a:solidFill>
              <a:schemeClr val="bg2"/>
            </a:solidFill>
            <a:prstDash val="solid"/>
          </a:ln>
        </p:spPr>
      </p:sp>
      <p:sp>
        <p:nvSpPr>
          <p:cNvPr id="5" name="badge"/>
          <p:cNvSpPr/>
          <p:nvPr/>
        </p:nvSpPr>
        <p:spPr>
          <a:xfrm>
            <a:off x="777240" y="1691640"/>
            <a:ext cx="457200" cy="457200"/>
          </a:xfrm>
          <a:prstGeom prst="ellipse">
            <a:avLst/>
          </a:prstGeom>
          <a:solidFill>
            <a:schemeClr val="accent1"/>
          </a:solidFill>
          <a:ln w="12700">
            <a:solidFill>
              <a:schemeClr val="accent1"/>
            </a:solidFill>
            <a:prstDash val="solid"/>
          </a:ln>
        </p:spPr>
      </p:sp>
      <p:sp>
        <p:nvSpPr>
          <p:cNvPr id="6" name="badge-num"/>
          <p:cNvSpPr txBox="1"/>
          <p:nvPr/>
        </p:nvSpPr>
        <p:spPr>
          <a:xfrm>
            <a:off x="77724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D</a:t>
            </a:r>
            <a:endParaRPr lang="en-US" sz="1500" dirty="0"/>
          </a:p>
        </p:txBody>
      </p:sp>
      <p:sp>
        <p:nvSpPr>
          <p:cNvPr id="7" name="card-head"/>
          <p:cNvSpPr txBox="1"/>
          <p:nvPr/>
        </p:nvSpPr>
        <p:spPr>
          <a:xfrm>
            <a:off x="1417320" y="166420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DMZ unica</a:t>
            </a:r>
            <a:endParaRPr lang="en-US" sz="1600" dirty="0"/>
          </a:p>
        </p:txBody>
      </p:sp>
      <p:sp>
        <p:nvSpPr>
          <p:cNvPr id="8" name="card-body"/>
          <p:cNvSpPr txBox="1"/>
          <p:nvPr/>
        </p:nvSpPr>
        <p:spPr>
          <a:xfrm>
            <a:off x="777240" y="2286000"/>
            <a:ext cx="4952848" cy="3474720"/>
          </a:xfrm>
          <a:prstGeom prst="rect">
            <a:avLst/>
          </a:prstGeom>
          <a:noFill/>
          <a:ln/>
        </p:spPr>
        <p:txBody>
          <a:bodyPr wrap="square" lIns="0" tIns="0" rIns="0" bIns="0" rtlCol="0" anchor="t"/>
          <a:lstStyle/>
          <a:p>
            <a:pPr marL="0" indent="0">
              <a:buNone/>
            </a:pPr>
            <a:r>
              <a:rPr lang="en-US" sz="1500" dirty="0">
                <a:solidFill>
                  <a:schemeClr val="tx2"/>
                </a:solidFill>
              </a:rPr>
              <a:t>L’infrastruttura utilizza una sola DMZ, ubicata nell’edificio della Sede 1 (sei piani), tra il firewall e la connessione a Internet. Nella DMZ è collocato il web server (DVWA di Metasploitable), raggiungibile dall’esterno in condizioni di sicurezza e isolato dalla rete interna.</a:t>
            </a:r>
            <a:endParaRPr lang="en-US" sz="1500" dirty="0"/>
          </a:p>
          <a:p>
            <a:pPr marL="0" indent="0">
              <a:buNone/>
            </a:pPr>
            <a:endParaRPr lang="en-US" sz="1500" dirty="0"/>
          </a:p>
          <a:p>
            <a:pPr marL="0" indent="0">
              <a:buNone/>
            </a:pPr>
            <a:r>
              <a:rPr lang="en-US" sz="1500" dirty="0">
                <a:solidFill>
                  <a:schemeClr val="tx2"/>
                </a:solidFill>
              </a:rPr>
              <a:t>La Sede 2 non dispone di una DMZ propria: i suoi utenti accedono al web server attraverso il Collapsed Core e il perimetro della Sede 1, e il traffico originato dalla DMZ non può raggiungere le reti interne di nessuna delle due sedi.</a:t>
            </a:r>
            <a:endParaRPr lang="en-US" sz="1500" dirty="0"/>
          </a:p>
        </p:txBody>
      </p:sp>
      <p:sp>
        <p:nvSpPr>
          <p:cNvPr id="9" name="card"/>
          <p:cNvSpPr/>
          <p:nvPr/>
        </p:nvSpPr>
        <p:spPr>
          <a:xfrm>
            <a:off x="6233008" y="1463040"/>
            <a:ext cx="5410048" cy="4434840"/>
          </a:xfrm>
          <a:prstGeom prst="roundRect">
            <a:avLst>
              <a:gd name="adj" fmla="val 2062"/>
            </a:avLst>
          </a:prstGeom>
          <a:solidFill>
            <a:schemeClr val="bg2"/>
          </a:solidFill>
          <a:ln w="12700">
            <a:solidFill>
              <a:schemeClr val="bg2"/>
            </a:solidFill>
            <a:prstDash val="solid"/>
          </a:ln>
        </p:spPr>
      </p:sp>
      <p:sp>
        <p:nvSpPr>
          <p:cNvPr id="10" name="badge"/>
          <p:cNvSpPr/>
          <p:nvPr/>
        </p:nvSpPr>
        <p:spPr>
          <a:xfrm>
            <a:off x="6461608" y="1691640"/>
            <a:ext cx="457200" cy="457200"/>
          </a:xfrm>
          <a:prstGeom prst="ellipse">
            <a:avLst/>
          </a:prstGeom>
          <a:solidFill>
            <a:schemeClr val="accent1"/>
          </a:solidFill>
          <a:ln w="12700">
            <a:solidFill>
              <a:schemeClr val="accent1"/>
            </a:solidFill>
            <a:prstDash val="solid"/>
          </a:ln>
        </p:spPr>
      </p:sp>
      <p:sp>
        <p:nvSpPr>
          <p:cNvPr id="11" name="badge-num"/>
          <p:cNvSpPr txBox="1"/>
          <p:nvPr/>
        </p:nvSpPr>
        <p:spPr>
          <a:xfrm>
            <a:off x="6461608"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N</a:t>
            </a:r>
            <a:endParaRPr lang="en-US" sz="1500" dirty="0"/>
          </a:p>
        </p:txBody>
      </p:sp>
      <p:sp>
        <p:nvSpPr>
          <p:cNvPr id="12" name="card-head"/>
          <p:cNvSpPr txBox="1"/>
          <p:nvPr/>
        </p:nvSpPr>
        <p:spPr>
          <a:xfrm>
            <a:off x="7101688" y="166420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Collegamento del NAS</a:t>
            </a:r>
            <a:endParaRPr lang="en-US" sz="1600" dirty="0"/>
          </a:p>
        </p:txBody>
      </p:sp>
      <p:sp>
        <p:nvSpPr>
          <p:cNvPr id="13" name="card-body"/>
          <p:cNvSpPr txBox="1"/>
          <p:nvPr/>
        </p:nvSpPr>
        <p:spPr>
          <a:xfrm>
            <a:off x="6461608" y="2286000"/>
            <a:ext cx="4952848" cy="3474720"/>
          </a:xfrm>
          <a:prstGeom prst="rect">
            <a:avLst/>
          </a:prstGeom>
          <a:noFill/>
          <a:ln/>
        </p:spPr>
        <p:txBody>
          <a:bodyPr wrap="square" lIns="0" tIns="0" rIns="0" bIns="0" rtlCol="0" anchor="t"/>
          <a:lstStyle/>
          <a:p>
            <a:pPr marL="0" indent="0">
              <a:buNone/>
            </a:pPr>
            <a:r>
              <a:rPr lang="en-US" sz="1500" dirty="0">
                <a:solidFill>
                  <a:schemeClr val="tx2"/>
                </a:solidFill>
              </a:rPr>
              <a:t>Il NAS è collegato allo switch del piano terra della Sede 1, in prossimità dei Core Switch, e risulta raggiungibile da tutti i computer aziendali: quelli della Sede 1 direttamente, quelli della Sede 2 attraverso il collegamento in fibra ottica tra le sedi.</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1.4.6 Sistemi di prevenzione delle intrusioni (IPS)</a:t>
            </a:r>
            <a:endParaRPr lang="en-US" sz="3000" dirty="0"/>
          </a:p>
        </p:txBody>
      </p:sp>
      <p:sp>
        <p:nvSpPr>
          <p:cNvPr id="4" name="intro"/>
          <p:cNvSpPr txBox="1"/>
          <p:nvPr/>
        </p:nvSpPr>
        <p:spPr>
          <a:xfrm>
            <a:off x="548640" y="1325880"/>
            <a:ext cx="11094415" cy="411480"/>
          </a:xfrm>
          <a:prstGeom prst="rect">
            <a:avLst/>
          </a:prstGeom>
          <a:noFill/>
          <a:ln/>
        </p:spPr>
        <p:txBody>
          <a:bodyPr wrap="square" lIns="0" tIns="0" rIns="0" bIns="0" rtlCol="0" anchor="ctr"/>
          <a:lstStyle/>
          <a:p>
            <a:pPr marL="0" indent="0">
              <a:buNone/>
            </a:pPr>
            <a:r>
              <a:rPr lang="en-US" sz="1500" dirty="0">
                <a:solidFill>
                  <a:schemeClr val="tx2"/>
                </a:solidFill>
              </a:rPr>
              <a:t>Per il monitoraggio del traffico e la prevenzione delle intrusioni sono implementati due IPS, con funzioni e posizioni complementari:</a:t>
            </a:r>
            <a:endParaRPr lang="en-US" sz="1500" dirty="0"/>
          </a:p>
        </p:txBody>
      </p:sp>
      <p:sp>
        <p:nvSpPr>
          <p:cNvPr id="5" name="card"/>
          <p:cNvSpPr/>
          <p:nvPr/>
        </p:nvSpPr>
        <p:spPr>
          <a:xfrm>
            <a:off x="548640" y="1920240"/>
            <a:ext cx="5410048" cy="2926080"/>
          </a:xfrm>
          <a:prstGeom prst="roundRect">
            <a:avLst>
              <a:gd name="adj" fmla="val 3125"/>
            </a:avLst>
          </a:prstGeom>
          <a:solidFill>
            <a:schemeClr val="bg2"/>
          </a:solidFill>
          <a:ln w="12700">
            <a:solidFill>
              <a:schemeClr val="bg2"/>
            </a:solidFill>
            <a:prstDash val="solid"/>
          </a:ln>
        </p:spPr>
      </p:sp>
      <p:sp>
        <p:nvSpPr>
          <p:cNvPr id="6" name="badge"/>
          <p:cNvSpPr/>
          <p:nvPr/>
        </p:nvSpPr>
        <p:spPr>
          <a:xfrm>
            <a:off x="777240" y="2148840"/>
            <a:ext cx="457200" cy="457200"/>
          </a:xfrm>
          <a:prstGeom prst="ellipse">
            <a:avLst/>
          </a:prstGeom>
          <a:solidFill>
            <a:schemeClr val="accent1"/>
          </a:solidFill>
          <a:ln w="12700">
            <a:solidFill>
              <a:schemeClr val="accent1"/>
            </a:solidFill>
            <a:prstDash val="solid"/>
          </a:ln>
        </p:spPr>
      </p:sp>
      <p:sp>
        <p:nvSpPr>
          <p:cNvPr id="7" name="badge-num"/>
          <p:cNvSpPr txBox="1"/>
          <p:nvPr/>
        </p:nvSpPr>
        <p:spPr>
          <a:xfrm>
            <a:off x="777240" y="21488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8" name="card-head"/>
          <p:cNvSpPr txBox="1"/>
          <p:nvPr/>
        </p:nvSpPr>
        <p:spPr>
          <a:xfrm>
            <a:off x="1417320" y="212140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IPS integrato nel router edge</a:t>
            </a:r>
            <a:endParaRPr lang="en-US" sz="1600" dirty="0"/>
          </a:p>
        </p:txBody>
      </p:sp>
      <p:sp>
        <p:nvSpPr>
          <p:cNvPr id="9" name="card-body"/>
          <p:cNvSpPr txBox="1"/>
          <p:nvPr/>
        </p:nvSpPr>
        <p:spPr>
          <a:xfrm>
            <a:off x="777240" y="2743200"/>
            <a:ext cx="4952848" cy="1965960"/>
          </a:xfrm>
          <a:prstGeom prst="rect">
            <a:avLst/>
          </a:prstGeom>
          <a:noFill/>
          <a:ln/>
        </p:spPr>
        <p:txBody>
          <a:bodyPr wrap="square" lIns="0" tIns="0" rIns="0" bIns="0" rtlCol="0" anchor="t"/>
          <a:lstStyle/>
          <a:p>
            <a:pPr marL="0" indent="0">
              <a:buNone/>
            </a:pPr>
            <a:r>
              <a:rPr lang="en-US" sz="1500" dirty="0">
                <a:solidFill>
                  <a:schemeClr val="tx2"/>
                </a:solidFill>
              </a:rPr>
              <a:t>Funzione interna al router, che ispeziona il traffico in transito tra Internet e il perimetro aziendale e blocca le comunicazioni corrispondenti a firme di attacco note, prima che raggiungano il firewall.</a:t>
            </a:r>
            <a:endParaRPr lang="en-US" sz="1500" dirty="0"/>
          </a:p>
        </p:txBody>
      </p:sp>
      <p:sp>
        <p:nvSpPr>
          <p:cNvPr id="10" name="card"/>
          <p:cNvSpPr/>
          <p:nvPr/>
        </p:nvSpPr>
        <p:spPr>
          <a:xfrm>
            <a:off x="6233008" y="1920240"/>
            <a:ext cx="5410048" cy="2926080"/>
          </a:xfrm>
          <a:prstGeom prst="roundRect">
            <a:avLst>
              <a:gd name="adj" fmla="val 3125"/>
            </a:avLst>
          </a:prstGeom>
          <a:solidFill>
            <a:schemeClr val="bg2"/>
          </a:solidFill>
          <a:ln w="12700">
            <a:solidFill>
              <a:schemeClr val="bg2"/>
            </a:solidFill>
            <a:prstDash val="solid"/>
          </a:ln>
        </p:spPr>
      </p:sp>
      <p:sp>
        <p:nvSpPr>
          <p:cNvPr id="11" name="badge"/>
          <p:cNvSpPr/>
          <p:nvPr/>
        </p:nvSpPr>
        <p:spPr>
          <a:xfrm>
            <a:off x="6461608" y="2148840"/>
            <a:ext cx="457200" cy="457200"/>
          </a:xfrm>
          <a:prstGeom prst="ellipse">
            <a:avLst/>
          </a:prstGeom>
          <a:solidFill>
            <a:schemeClr val="accent1"/>
          </a:solidFill>
          <a:ln w="12700">
            <a:solidFill>
              <a:schemeClr val="accent1"/>
            </a:solidFill>
            <a:prstDash val="solid"/>
          </a:ln>
        </p:spPr>
      </p:sp>
      <p:sp>
        <p:nvSpPr>
          <p:cNvPr id="12" name="badge-num"/>
          <p:cNvSpPr txBox="1"/>
          <p:nvPr/>
        </p:nvSpPr>
        <p:spPr>
          <a:xfrm>
            <a:off x="6461608" y="21488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card-head"/>
          <p:cNvSpPr txBox="1"/>
          <p:nvPr/>
        </p:nvSpPr>
        <p:spPr>
          <a:xfrm>
            <a:off x="7101688" y="212140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IPS dedicato tra il firewall e la DVWA</a:t>
            </a:r>
            <a:endParaRPr lang="en-US" sz="1600" dirty="0"/>
          </a:p>
        </p:txBody>
      </p:sp>
      <p:sp>
        <p:nvSpPr>
          <p:cNvPr id="14" name="card-body"/>
          <p:cNvSpPr txBox="1"/>
          <p:nvPr/>
        </p:nvSpPr>
        <p:spPr>
          <a:xfrm>
            <a:off x="6461608" y="2743200"/>
            <a:ext cx="4952848" cy="1965960"/>
          </a:xfrm>
          <a:prstGeom prst="rect">
            <a:avLst/>
          </a:prstGeom>
          <a:noFill/>
          <a:ln/>
        </p:spPr>
        <p:txBody>
          <a:bodyPr wrap="square" lIns="0" tIns="0" rIns="0" bIns="0" rtlCol="0" anchor="t"/>
          <a:lstStyle/>
          <a:p>
            <a:pPr marL="0" indent="0">
              <a:buNone/>
            </a:pPr>
            <a:r>
              <a:rPr lang="en-US" sz="1500" dirty="0">
                <a:solidFill>
                  <a:schemeClr val="tx2"/>
                </a:solidFill>
              </a:rPr>
              <a:t>Apparato in linea sul segmento che collega il firewall al server DVWA, a protezione della DMZ. Ispeziona il traffico diretto al web server (la componente più esposta della rete) e quello da esso originato, rilevando tentativi di sfruttamento delle vulnerabilità applicative e comportamenti anomali di un eventuale server compromesso.</a:t>
            </a:r>
            <a:endParaRPr lang="en-US" sz="1500" dirty="0"/>
          </a:p>
        </p:txBody>
      </p:sp>
      <p:sp>
        <p:nvSpPr>
          <p:cNvPr id="15" name="takeaway"/>
          <p:cNvSpPr txBox="1"/>
          <p:nvPr/>
        </p:nvSpPr>
        <p:spPr>
          <a:xfrm>
            <a:off x="548640" y="5074920"/>
            <a:ext cx="11094415" cy="731520"/>
          </a:xfrm>
          <a:prstGeom prst="rect">
            <a:avLst/>
          </a:prstGeom>
          <a:noFill/>
          <a:ln/>
        </p:spPr>
        <p:txBody>
          <a:bodyPr wrap="square" lIns="0" tIns="0" rIns="0" bIns="0" rtlCol="0" anchor="ctr"/>
          <a:lstStyle/>
          <a:p>
            <a:pPr marL="0" indent="0">
              <a:buNone/>
            </a:pPr>
            <a:r>
              <a:rPr lang="en-US" sz="1700" i="1" dirty="0">
                <a:solidFill>
                  <a:schemeClr val="accent1"/>
                </a:solidFill>
              </a:rPr>
              <a:t>La combinazione dei due sistemi realizza una difesa a più livelli: il primo IPS filtra il traffico ostile alla frontiera della rete, il secondo presidia la zona a maggiore rischio.</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1.5 Collegamento inter-sede: requisiti e scelta</a:t>
            </a:r>
            <a:endParaRPr lang="en-US" sz="3000" dirty="0"/>
          </a:p>
        </p:txBody>
      </p:sp>
      <p:sp>
        <p:nvSpPr>
          <p:cNvPr id="4" name="card"/>
          <p:cNvSpPr/>
          <p:nvPr/>
        </p:nvSpPr>
        <p:spPr>
          <a:xfrm>
            <a:off x="548640" y="1463040"/>
            <a:ext cx="5120640" cy="4434840"/>
          </a:xfrm>
          <a:prstGeom prst="roundRect">
            <a:avLst>
              <a:gd name="adj" fmla="val 2062"/>
            </a:avLst>
          </a:prstGeom>
          <a:solidFill>
            <a:schemeClr val="bg2"/>
          </a:solidFill>
          <a:ln w="12700">
            <a:solidFill>
              <a:schemeClr val="bg2"/>
            </a:solidFill>
            <a:prstDash val="solid"/>
          </a:ln>
        </p:spPr>
      </p:sp>
      <p:sp>
        <p:nvSpPr>
          <p:cNvPr id="5" name="badge"/>
          <p:cNvSpPr/>
          <p:nvPr/>
        </p:nvSpPr>
        <p:spPr>
          <a:xfrm>
            <a:off x="777240" y="1691640"/>
            <a:ext cx="457200" cy="457200"/>
          </a:xfrm>
          <a:prstGeom prst="ellipse">
            <a:avLst/>
          </a:prstGeom>
          <a:solidFill>
            <a:schemeClr val="accent1"/>
          </a:solidFill>
          <a:ln w="12700">
            <a:solidFill>
              <a:schemeClr val="accent1"/>
            </a:solidFill>
            <a:prstDash val="solid"/>
          </a:ln>
        </p:spPr>
      </p:sp>
      <p:sp>
        <p:nvSpPr>
          <p:cNvPr id="6" name="badge-num"/>
          <p:cNvSpPr txBox="1"/>
          <p:nvPr/>
        </p:nvSpPr>
        <p:spPr>
          <a:xfrm>
            <a:off x="77724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card-head"/>
          <p:cNvSpPr txBox="1"/>
          <p:nvPr/>
        </p:nvSpPr>
        <p:spPr>
          <a:xfrm>
            <a:off x="1417320" y="1664208"/>
            <a:ext cx="4069080"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1.5.1 Requisiti</a:t>
            </a:r>
            <a:endParaRPr lang="en-US" sz="1600" dirty="0"/>
          </a:p>
        </p:txBody>
      </p:sp>
      <p:sp>
        <p:nvSpPr>
          <p:cNvPr id="8" name="card-body"/>
          <p:cNvSpPr txBox="1"/>
          <p:nvPr/>
        </p:nvSpPr>
        <p:spPr>
          <a:xfrm>
            <a:off x="777240" y="2286000"/>
            <a:ext cx="4663440" cy="3474720"/>
          </a:xfrm>
          <a:prstGeom prst="rect">
            <a:avLst/>
          </a:prstGeom>
          <a:noFill/>
          <a:ln/>
        </p:spPr>
        <p:txBody>
          <a:bodyPr wrap="square" lIns="0" tIns="0" rIns="0" bIns="0" rtlCol="0" anchor="t"/>
          <a:lstStyle/>
          <a:p>
            <a:pPr marL="0" indent="0">
              <a:buNone/>
            </a:pPr>
            <a:r>
              <a:rPr lang="en-US" sz="1500" dirty="0">
                <a:solidFill>
                  <a:schemeClr val="tx2"/>
                </a:solidFill>
              </a:rPr>
              <a:t>La dirigenza di Theta richiede una connessione tra le due sedi, situate nella zona PIP del Comune di Cavenago di Brianza a circa 250 metri di distanza, che sia quanto più veloce possibile.</a:t>
            </a:r>
            <a:endParaRPr lang="en-US" sz="1500" dirty="0"/>
          </a:p>
          <a:p>
            <a:pPr marL="0" indent="0">
              <a:buNone/>
            </a:pPr>
            <a:endParaRPr lang="en-US" sz="1500" dirty="0"/>
          </a:p>
          <a:p>
            <a:pPr marL="0" indent="0">
              <a:buNone/>
            </a:pPr>
            <a:r>
              <a:rPr lang="en-US" sz="1500" dirty="0">
                <a:solidFill>
                  <a:schemeClr val="tx2"/>
                </a:solidFill>
              </a:rPr>
              <a:t>Lo studio di fattibilità riguarda la scelta della tecnologia, i costi degli apparati, la posa dei mezzi trasmissivi e la gestione dei vincoli burocratici, normativi e dei permessi comunali necessari per attraversare l’area industriale.</a:t>
            </a:r>
            <a:endParaRPr lang="en-US" sz="1500" dirty="0"/>
          </a:p>
        </p:txBody>
      </p:sp>
      <p:sp>
        <p:nvSpPr>
          <p:cNvPr id="9" name="lbl"/>
          <p:cNvSpPr txBox="1"/>
          <p:nvPr/>
        </p:nvSpPr>
        <p:spPr>
          <a:xfrm>
            <a:off x="5943600" y="1508760"/>
            <a:ext cx="5669280" cy="320040"/>
          </a:xfrm>
          <a:prstGeom prst="rect">
            <a:avLst/>
          </a:prstGeom>
          <a:noFill/>
          <a:ln/>
        </p:spPr>
        <p:txBody>
          <a:bodyPr wrap="square" lIns="0" tIns="0" rIns="0" bIns="0" rtlCol="0" anchor="ctr"/>
          <a:lstStyle/>
          <a:p>
            <a:pPr marL="0" indent="0">
              <a:buNone/>
            </a:pPr>
            <a:r>
              <a:rPr lang="en-US" sz="1300" b="1" kern="0" spc="200" dirty="0">
                <a:solidFill>
                  <a:schemeClr val="accent1"/>
                </a:solidFill>
              </a:rPr>
              <a:t>Scelta adottata</a:t>
            </a:r>
            <a:endParaRPr lang="en-US" sz="1300" dirty="0"/>
          </a:p>
        </p:txBody>
      </p:sp>
      <p:sp>
        <p:nvSpPr>
          <p:cNvPr id="10" name="choice"/>
          <p:cNvSpPr txBox="1"/>
          <p:nvPr/>
        </p:nvSpPr>
        <p:spPr>
          <a:xfrm>
            <a:off x="5943600" y="1828800"/>
            <a:ext cx="5669280" cy="548640"/>
          </a:xfrm>
          <a:prstGeom prst="rect">
            <a:avLst/>
          </a:prstGeom>
          <a:noFill/>
          <a:ln/>
        </p:spPr>
        <p:txBody>
          <a:bodyPr wrap="square" lIns="0" tIns="0" rIns="0" bIns="0" rtlCol="0" anchor="ctr"/>
          <a:lstStyle/>
          <a:p>
            <a:pPr marL="0" indent="0">
              <a:buNone/>
            </a:pPr>
            <a:r>
              <a:rPr lang="en-US" sz="2400" b="1" dirty="0">
                <a:solidFill>
                  <a:schemeClr val="tx1"/>
                </a:solidFill>
                <a:latin typeface="Arial" pitchFamily="34" charset="0"/>
                <a:ea typeface="Arial" pitchFamily="34" charset="-122"/>
                <a:cs typeface="Arial" pitchFamily="34" charset="-120"/>
              </a:rPr>
              <a:t>Fibra ottica multimodale di proprietà</a:t>
            </a:r>
            <a:endParaRPr lang="en-US" sz="2400" dirty="0"/>
          </a:p>
        </p:txBody>
      </p:sp>
      <p:sp>
        <p:nvSpPr>
          <p:cNvPr id="11" name="body-text"/>
          <p:cNvSpPr txBox="1"/>
          <p:nvPr/>
        </p:nvSpPr>
        <p:spPr>
          <a:xfrm>
            <a:off x="5943600" y="2514600"/>
            <a:ext cx="5696712" cy="2377440"/>
          </a:xfrm>
          <a:prstGeom prst="rect">
            <a:avLst/>
          </a:prstGeom>
          <a:noFill/>
          <a:ln/>
        </p:spPr>
        <p:txBody>
          <a:bodyPr wrap="square" lIns="0" tIns="0" rIns="0" bIns="0" rtlCol="0" anchor="t"/>
          <a:lstStyle/>
          <a:p>
            <a:pPr marL="0" indent="0">
              <a:spcAft>
                <a:spcPts val="800"/>
              </a:spcAft>
              <a:buNone/>
            </a:pPr>
            <a:r>
              <a:rPr lang="en-US" sz="1500" dirty="0">
                <a:solidFill>
                  <a:schemeClr val="tx2"/>
                </a:solidFill>
              </a:rPr>
              <a:t>Le ottiche multimodali a 850 nm garantiscono, su fibra di tipo OM3, portate di 550 m a 1 Gbit/s e di 300 m a 10 Gbit/s, ampiamente superiori ai 250 m da coprire, e consentono di raggiungere la massima velocità oggi sostenibile dagli apparati previsti.</a:t>
            </a:r>
            <a:endParaRPr lang="en-US" sz="1500" dirty="0"/>
          </a:p>
          <a:p>
            <a:pPr marL="0" indent="0">
              <a:spcAft>
                <a:spcPts val="800"/>
              </a:spcAft>
              <a:buNone/>
            </a:pPr>
            <a:r>
              <a:rPr lang="en-US" sz="1500" dirty="0">
                <a:solidFill>
                  <a:schemeClr val="tx2"/>
                </a:solidFill>
              </a:rPr>
              <a:t>Il collegamento è realizzato con almeno due fibre su percorsi attestati a core diversi (rispettivamente Core 1–Core 3 e Core 2–Core 4), in coerenza con il principio di eliminazione dei Single Point of Failure.</a:t>
            </a:r>
            <a:endParaRPr lang="en-US" sz="1500" dirty="0"/>
          </a:p>
        </p:txBody>
      </p:sp>
      <p:sp>
        <p:nvSpPr>
          <p:cNvPr id="12" name="stat"/>
          <p:cNvSpPr txBox="1"/>
          <p:nvPr/>
        </p:nvSpPr>
        <p:spPr>
          <a:xfrm>
            <a:off x="5943600" y="4983480"/>
            <a:ext cx="2743200" cy="914400"/>
          </a:xfrm>
          <a:prstGeom prst="rect">
            <a:avLst/>
          </a:prstGeom>
          <a:noFill/>
          <a:ln/>
        </p:spPr>
        <p:txBody>
          <a:bodyPr wrap="square" lIns="0" tIns="0" rIns="0" bIns="0" rtlCol="0" anchor="ctr"/>
          <a:lstStyle/>
          <a:p>
            <a:pPr marL="0" indent="0">
              <a:buNone/>
            </a:pPr>
            <a:r>
              <a:rPr lang="en-US" sz="2800" b="1" dirty="0">
                <a:solidFill>
                  <a:schemeClr val="accent1"/>
                </a:solidFill>
              </a:rPr>
              <a:t>550 m</a:t>
            </a:r>
            <a:endParaRPr lang="en-US" sz="2800" dirty="0"/>
          </a:p>
          <a:p>
            <a:pPr marL="0" indent="0">
              <a:buNone/>
            </a:pPr>
            <a:r>
              <a:rPr lang="en-US" sz="1300" dirty="0">
                <a:solidFill>
                  <a:schemeClr val="accent4"/>
                </a:solidFill>
              </a:rPr>
              <a:t>a 1 Gbit/s (OM3)</a:t>
            </a:r>
            <a:endParaRPr lang="en-US" sz="2800" dirty="0"/>
          </a:p>
        </p:txBody>
      </p:sp>
      <p:sp>
        <p:nvSpPr>
          <p:cNvPr id="13" name="stat"/>
          <p:cNvSpPr txBox="1"/>
          <p:nvPr/>
        </p:nvSpPr>
        <p:spPr>
          <a:xfrm>
            <a:off x="8778240" y="4983480"/>
            <a:ext cx="2743200" cy="914400"/>
          </a:xfrm>
          <a:prstGeom prst="rect">
            <a:avLst/>
          </a:prstGeom>
          <a:noFill/>
          <a:ln/>
        </p:spPr>
        <p:txBody>
          <a:bodyPr wrap="square" lIns="0" tIns="0" rIns="0" bIns="0" rtlCol="0" anchor="ctr"/>
          <a:lstStyle/>
          <a:p>
            <a:pPr marL="0" indent="0">
              <a:buNone/>
            </a:pPr>
            <a:r>
              <a:rPr lang="en-US" sz="2800" b="1" dirty="0">
                <a:solidFill>
                  <a:schemeClr val="accent1"/>
                </a:solidFill>
              </a:rPr>
              <a:t>300 m</a:t>
            </a:r>
            <a:endParaRPr lang="en-US" sz="2800" dirty="0"/>
          </a:p>
          <a:p>
            <a:pPr marL="0" indent="0">
              <a:buNone/>
            </a:pPr>
            <a:r>
              <a:rPr lang="en-US" sz="1300" dirty="0">
                <a:solidFill>
                  <a:schemeClr val="accent4"/>
                </a:solidFill>
              </a:rPr>
              <a:t>a 10 Gbit/s (OM3)</a:t>
            </a:r>
            <a:endParaRPr lang="en-US" sz="2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1.5.2 Confronto tra le tecnologie di collegamento</a:t>
            </a:r>
            <a:endParaRPr lang="en-US" sz="300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6517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864815">
                  <a:extLst>
                    <a:ext uri="{9D8B030D-6E8A-4147-A177-3AD203B41FA5}">
                      <a16:colId xmlns:a16="http://schemas.microsoft.com/office/drawing/2014/main" val="20003"/>
                    </a:ext>
                  </a:extLst>
                </a:gridCol>
              </a:tblGrid>
              <a:tr h="457200">
                <a:tc>
                  <a:txBody>
                    <a:bodyPr/>
                    <a:lstStyle/>
                    <a:p>
                      <a:pPr marL="0" indent="0">
                        <a:buNone/>
                      </a:pPr>
                      <a:r>
                        <a:rPr lang="en-US" sz="1400" b="1" dirty="0">
                          <a:solidFill>
                            <a:schemeClr val="bg1"/>
                          </a:solidFill>
                        </a:rPr>
                        <a:t>Soluzione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Prestazioni</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Vantaggi</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Criticità</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914400">
                <a:tc>
                  <a:txBody>
                    <a:bodyPr/>
                    <a:lstStyle/>
                    <a:p>
                      <a:pPr marL="0" indent="0">
                        <a:buNone/>
                      </a:pPr>
                      <a:r>
                        <a:rPr lang="en-US" sz="1400" b="1" dirty="0">
                          <a:solidFill>
                            <a:schemeClr val="accent1"/>
                          </a:solidFill>
                        </a:rPr>
                        <a:t>Fibra ottica multimodale di proprietà (scelta adottata)</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Da 1 a 10 Gbit/s su 250 m, con margini di crescita</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Massima velocità, bassissima latenza, immunità ai disturbi elettromagnetici, nessun canone ricorrente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Opere di scavo e permessi comunali</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22960">
                <a:tc>
                  <a:txBody>
                    <a:bodyPr/>
                    <a:lstStyle/>
                    <a:p>
                      <a:pPr marL="0" indent="0">
                        <a:buNone/>
                      </a:pPr>
                      <a:r>
                        <a:rPr lang="en-US" sz="1400" b="1" dirty="0">
                          <a:solidFill>
                            <a:schemeClr val="tx2"/>
                          </a:solidFill>
                        </a:rPr>
                        <a:t>Fibra ottica monomodale di proprietà</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Oltre 10 Gbit/s, portata di chilometri</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Massima scalabilità</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Costo di fibra e ottiche superiore, non giustificato da una distanza di 250 m</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914400">
                <a:tc>
                  <a:txBody>
                    <a:bodyPr/>
                    <a:lstStyle/>
                    <a:p>
                      <a:pPr marL="0" indent="0">
                        <a:buNone/>
                      </a:pPr>
                      <a:r>
                        <a:rPr lang="en-US" sz="1400" b="1" dirty="0">
                          <a:solidFill>
                            <a:schemeClr val="tx2"/>
                          </a:solidFill>
                        </a:rPr>
                        <a:t>Ponte radio punto-punto</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Da centinaia di Mbit/s a pochi Gbit/s</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Nessuno scavo, rapidità di installazione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Sensibilità a interferenze e a condizioni meteo, necessità di visibilità ottica, prestazioni inferiori</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chemeClr val="tx2"/>
                          </a:solidFill>
                        </a:rPr>
                        <a:t>Collegamento in affitto da operatore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Dipende dal contratto</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Nessuna opera civile a carico del Cliente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Canone ricorrente, dipendenza dal fornitore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tcap"/>
          <p:cNvSpPr txBox="1"/>
          <p:nvPr/>
        </p:nvSpPr>
        <p:spPr>
          <a:xfrm>
            <a:off x="548640" y="5577840"/>
            <a:ext cx="11094415" cy="274320"/>
          </a:xfrm>
          <a:prstGeom prst="rect">
            <a:avLst/>
          </a:prstGeom>
          <a:noFill/>
          <a:ln/>
        </p:spPr>
        <p:txBody>
          <a:bodyPr wrap="square" lIns="0" tIns="0" rIns="0" bIns="0" rtlCol="0" anchor="ctr"/>
          <a:lstStyle/>
          <a:p>
            <a:pPr marL="0" indent="0" algn="ctr">
              <a:buNone/>
            </a:pPr>
            <a:r>
              <a:rPr lang="en-US" sz="1100" i="1" dirty="0">
                <a:solidFill>
                  <a:schemeClr val="accent4"/>
                </a:solidFill>
              </a:rPr>
              <a:t>Tabella 4 – Confronto tra le tecnologie di collegamento.</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1.5.3 Apparati  ·  1.5.4 Attività tecniche previste</a:t>
            </a:r>
            <a:endParaRPr lang="en-US" sz="3000" dirty="0"/>
          </a:p>
        </p:txBody>
      </p:sp>
      <p:sp>
        <p:nvSpPr>
          <p:cNvPr id="4" name="h"/>
          <p:cNvSpPr txBox="1"/>
          <p:nvPr/>
        </p:nvSpPr>
        <p:spPr>
          <a:xfrm>
            <a:off x="548640" y="1371600"/>
            <a:ext cx="4206240" cy="365760"/>
          </a:xfrm>
          <a:prstGeom prst="rect">
            <a:avLst/>
          </a:prstGeom>
          <a:noFill/>
          <a:ln/>
        </p:spPr>
        <p:txBody>
          <a:bodyPr wrap="square" lIns="0" tIns="0" rIns="0" bIns="0" rtlCol="0" anchor="ctr"/>
          <a:lstStyle/>
          <a:p>
            <a:pPr marL="0" indent="0">
              <a:buNone/>
            </a:pPr>
            <a:r>
              <a:rPr lang="en-US" sz="1700" b="1" dirty="0">
                <a:solidFill>
                  <a:schemeClr val="accent1"/>
                </a:solidFill>
              </a:rPr>
              <a:t>Apparati e mezzi trasmissivi</a:t>
            </a:r>
            <a:endParaRPr lang="en-US" sz="1700" dirty="0"/>
          </a:p>
        </p:txBody>
      </p:sp>
      <p:sp>
        <p:nvSpPr>
          <p:cNvPr id="5" name="body-text"/>
          <p:cNvSpPr txBox="1"/>
          <p:nvPr/>
        </p:nvSpPr>
        <p:spPr>
          <a:xfrm>
            <a:off x="548640" y="1828800"/>
            <a:ext cx="4206240" cy="402336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1"/>
                </a:solidFill>
              </a:rPr>
              <a:t>Cavo in fibra ottica multimodale </a:t>
            </a:r>
            <a:r>
              <a:rPr lang="en-US" sz="1500" dirty="0">
                <a:solidFill>
                  <a:schemeClr val="tx2"/>
                </a:solidFill>
              </a:rPr>
              <a:t>per circa 250 m, con margine per le curve del percorso e per gli attestamenti.</a:t>
            </a:r>
            <a:endParaRPr lang="en-US" sz="1500" dirty="0"/>
          </a:p>
          <a:p>
            <a:pPr marL="342900" indent="-342900">
              <a:spcAft>
                <a:spcPts val="800"/>
              </a:spcAft>
              <a:buSzPct val="100000"/>
              <a:buChar char="▪"/>
            </a:pPr>
            <a:r>
              <a:rPr lang="en-US" sz="1500" b="1" dirty="0">
                <a:solidFill>
                  <a:schemeClr val="tx1"/>
                </a:solidFill>
              </a:rPr>
              <a:t>Moduli ottici SFP multimodali a 850 nm </a:t>
            </a:r>
            <a:r>
              <a:rPr lang="en-US" sz="1500" dirty="0">
                <a:solidFill>
                  <a:schemeClr val="tx2"/>
                </a:solidFill>
              </a:rPr>
              <a:t>con connettore LC duplex, uno per ciascuna porta di dorsale dei Multilayer Switch (due per sede).</a:t>
            </a:r>
            <a:endParaRPr lang="en-US" sz="1500" dirty="0"/>
          </a:p>
          <a:p>
            <a:pPr marL="0" indent="0">
              <a:spcAft>
                <a:spcPts val="800"/>
              </a:spcAft>
              <a:buNone/>
            </a:pPr>
            <a:r>
              <a:rPr lang="en-US" sz="1500" dirty="0">
                <a:solidFill>
                  <a:schemeClr val="tx2"/>
                </a:solidFill>
              </a:rPr>
              <a:t>I costi puntuali sono riportati nel preventivo (capitolo 6).</a:t>
            </a:r>
            <a:endParaRPr lang="en-US" sz="1500" dirty="0"/>
          </a:p>
        </p:txBody>
      </p:sp>
      <p:sp>
        <p:nvSpPr>
          <p:cNvPr id="6" name="h"/>
          <p:cNvSpPr txBox="1"/>
          <p:nvPr/>
        </p:nvSpPr>
        <p:spPr>
          <a:xfrm>
            <a:off x="5212080" y="1371600"/>
            <a:ext cx="6428232" cy="365760"/>
          </a:xfrm>
          <a:prstGeom prst="rect">
            <a:avLst/>
          </a:prstGeom>
          <a:noFill/>
          <a:ln/>
        </p:spPr>
        <p:txBody>
          <a:bodyPr wrap="square" lIns="0" tIns="0" rIns="0" bIns="0" rtlCol="0" anchor="ctr"/>
          <a:lstStyle/>
          <a:p>
            <a:pPr marL="0" indent="0">
              <a:buNone/>
            </a:pPr>
            <a:r>
              <a:rPr lang="en-US" sz="1700" b="1" dirty="0">
                <a:solidFill>
                  <a:schemeClr val="accent1"/>
                </a:solidFill>
              </a:rPr>
              <a:t>Attività a carico dell’Appaltatore (comprese nel preventivo)</a:t>
            </a:r>
            <a:endParaRPr lang="en-US" sz="1700" dirty="0"/>
          </a:p>
        </p:txBody>
      </p:sp>
      <p:sp>
        <p:nvSpPr>
          <p:cNvPr id="7" name="badge"/>
          <p:cNvSpPr/>
          <p:nvPr/>
        </p:nvSpPr>
        <p:spPr>
          <a:xfrm>
            <a:off x="5212080" y="1828800"/>
            <a:ext cx="384048" cy="384048"/>
          </a:xfrm>
          <a:prstGeom prst="ellipse">
            <a:avLst/>
          </a:prstGeom>
          <a:solidFill>
            <a:schemeClr val="accent1"/>
          </a:solidFill>
          <a:ln w="12700">
            <a:solidFill>
              <a:schemeClr val="accent1"/>
            </a:solidFill>
            <a:prstDash val="solid"/>
          </a:ln>
        </p:spPr>
      </p:sp>
      <p:sp>
        <p:nvSpPr>
          <p:cNvPr id="8" name="badge-num"/>
          <p:cNvSpPr txBox="1"/>
          <p:nvPr/>
        </p:nvSpPr>
        <p:spPr>
          <a:xfrm>
            <a:off x="5212080" y="182880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step"/>
          <p:cNvSpPr txBox="1"/>
          <p:nvPr/>
        </p:nvSpPr>
        <p:spPr>
          <a:xfrm>
            <a:off x="5760720" y="1810512"/>
            <a:ext cx="5879592" cy="566928"/>
          </a:xfrm>
          <a:prstGeom prst="rect">
            <a:avLst/>
          </a:prstGeom>
          <a:noFill/>
          <a:ln/>
        </p:spPr>
        <p:txBody>
          <a:bodyPr wrap="square" lIns="0" tIns="0" rIns="0" bIns="0" rtlCol="0" anchor="t"/>
          <a:lstStyle/>
          <a:p>
            <a:pPr marL="0" indent="0">
              <a:buNone/>
            </a:pPr>
            <a:r>
              <a:rPr lang="en-US" sz="1400" b="1" dirty="0">
                <a:solidFill>
                  <a:schemeClr val="tx1"/>
                </a:solidFill>
              </a:rPr>
              <a:t>Pratica e progettazione: </a:t>
            </a:r>
            <a:r>
              <a:rPr lang="en-US" sz="1400" dirty="0">
                <a:solidFill>
                  <a:schemeClr val="tx2"/>
                </a:solidFill>
              </a:rPr>
              <a:t>redazione del progetto esecutivo del collegamento e della documentazione tecnica per gli enti competenti.</a:t>
            </a:r>
            <a:endParaRPr lang="en-US" sz="1400" dirty="0"/>
          </a:p>
        </p:txBody>
      </p:sp>
      <p:sp>
        <p:nvSpPr>
          <p:cNvPr id="10" name="badge"/>
          <p:cNvSpPr/>
          <p:nvPr/>
        </p:nvSpPr>
        <p:spPr>
          <a:xfrm>
            <a:off x="5212080" y="2505456"/>
            <a:ext cx="384048" cy="384048"/>
          </a:xfrm>
          <a:prstGeom prst="ellipse">
            <a:avLst/>
          </a:prstGeom>
          <a:solidFill>
            <a:schemeClr val="accent1"/>
          </a:solidFill>
          <a:ln w="12700">
            <a:solidFill>
              <a:schemeClr val="accent1"/>
            </a:solidFill>
            <a:prstDash val="solid"/>
          </a:ln>
        </p:spPr>
      </p:sp>
      <p:sp>
        <p:nvSpPr>
          <p:cNvPr id="11" name="badge-num"/>
          <p:cNvSpPr txBox="1"/>
          <p:nvPr/>
        </p:nvSpPr>
        <p:spPr>
          <a:xfrm>
            <a:off x="5212080" y="2505456"/>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2" name="step"/>
          <p:cNvSpPr txBox="1"/>
          <p:nvPr/>
        </p:nvSpPr>
        <p:spPr>
          <a:xfrm>
            <a:off x="5760720" y="2487168"/>
            <a:ext cx="5879592" cy="411480"/>
          </a:xfrm>
          <a:prstGeom prst="rect">
            <a:avLst/>
          </a:prstGeom>
          <a:noFill/>
          <a:ln/>
        </p:spPr>
        <p:txBody>
          <a:bodyPr wrap="square" lIns="0" tIns="0" rIns="0" bIns="0" rtlCol="0" anchor="t"/>
          <a:lstStyle/>
          <a:p>
            <a:pPr marL="0" indent="0">
              <a:buNone/>
            </a:pPr>
            <a:r>
              <a:rPr lang="en-US" sz="1400" b="1" dirty="0">
                <a:solidFill>
                  <a:schemeClr val="tx1"/>
                </a:solidFill>
              </a:rPr>
              <a:t>Indagine preventiva: </a:t>
            </a:r>
            <a:r>
              <a:rPr lang="en-US" sz="1400" dirty="0">
                <a:solidFill>
                  <a:schemeClr val="tx2"/>
                </a:solidFill>
              </a:rPr>
              <a:t>dei sottoservizi presenti lungo il tracciato.</a:t>
            </a:r>
            <a:endParaRPr lang="en-US" sz="1400" dirty="0"/>
          </a:p>
        </p:txBody>
      </p:sp>
      <p:sp>
        <p:nvSpPr>
          <p:cNvPr id="13" name="badge"/>
          <p:cNvSpPr/>
          <p:nvPr/>
        </p:nvSpPr>
        <p:spPr>
          <a:xfrm>
            <a:off x="5212080" y="3026664"/>
            <a:ext cx="384048" cy="384048"/>
          </a:xfrm>
          <a:prstGeom prst="ellipse">
            <a:avLst/>
          </a:prstGeom>
          <a:solidFill>
            <a:schemeClr val="accent1"/>
          </a:solidFill>
          <a:ln w="12700">
            <a:solidFill>
              <a:schemeClr val="accent1"/>
            </a:solidFill>
            <a:prstDash val="solid"/>
          </a:ln>
        </p:spPr>
      </p:sp>
      <p:sp>
        <p:nvSpPr>
          <p:cNvPr id="14" name="badge-num"/>
          <p:cNvSpPr txBox="1"/>
          <p:nvPr/>
        </p:nvSpPr>
        <p:spPr>
          <a:xfrm>
            <a:off x="5212080" y="3026664"/>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5" name="step"/>
          <p:cNvSpPr txBox="1"/>
          <p:nvPr/>
        </p:nvSpPr>
        <p:spPr>
          <a:xfrm>
            <a:off x="5760720" y="3008376"/>
            <a:ext cx="5879592" cy="841248"/>
          </a:xfrm>
          <a:prstGeom prst="rect">
            <a:avLst/>
          </a:prstGeom>
          <a:noFill/>
          <a:ln/>
        </p:spPr>
        <p:txBody>
          <a:bodyPr wrap="square" lIns="0" tIns="0" rIns="0" bIns="0" rtlCol="0" anchor="t"/>
          <a:lstStyle/>
          <a:p>
            <a:pPr marL="0" indent="0">
              <a:buNone/>
            </a:pPr>
            <a:r>
              <a:rPr lang="en-US" sz="1400" b="1" dirty="0">
                <a:solidFill>
                  <a:schemeClr val="tx1"/>
                </a:solidFill>
              </a:rPr>
              <a:t>Opere di posa: </a:t>
            </a:r>
            <a:r>
              <a:rPr lang="en-US" sz="1400" dirty="0">
                <a:solidFill>
                  <a:schemeClr val="tx2"/>
                </a:solidFill>
              </a:rPr>
              <a:t>scavo in minitrincea, fornitura e posa del tritubo, pozzetti d’ispezione, riempimento con malta e ripristino del manto stradale, nel rispetto delle misure di sicurezza del cantiere.</a:t>
            </a:r>
            <a:endParaRPr lang="en-US" sz="1400" dirty="0"/>
          </a:p>
        </p:txBody>
      </p:sp>
      <p:sp>
        <p:nvSpPr>
          <p:cNvPr id="16" name="badge"/>
          <p:cNvSpPr/>
          <p:nvPr/>
        </p:nvSpPr>
        <p:spPr>
          <a:xfrm>
            <a:off x="5212080" y="3977640"/>
            <a:ext cx="384048" cy="384048"/>
          </a:xfrm>
          <a:prstGeom prst="ellipse">
            <a:avLst/>
          </a:prstGeom>
          <a:solidFill>
            <a:schemeClr val="accent1"/>
          </a:solidFill>
          <a:ln w="12700">
            <a:solidFill>
              <a:schemeClr val="accent1"/>
            </a:solidFill>
            <a:prstDash val="solid"/>
          </a:ln>
        </p:spPr>
      </p:sp>
      <p:sp>
        <p:nvSpPr>
          <p:cNvPr id="17" name="badge-num"/>
          <p:cNvSpPr txBox="1"/>
          <p:nvPr/>
        </p:nvSpPr>
        <p:spPr>
          <a:xfrm>
            <a:off x="5212080" y="3977640"/>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8" name="step"/>
          <p:cNvSpPr txBox="1"/>
          <p:nvPr/>
        </p:nvSpPr>
        <p:spPr>
          <a:xfrm>
            <a:off x="5760720" y="3959352"/>
            <a:ext cx="5879592" cy="566928"/>
          </a:xfrm>
          <a:prstGeom prst="rect">
            <a:avLst/>
          </a:prstGeom>
          <a:noFill/>
          <a:ln/>
        </p:spPr>
        <p:txBody>
          <a:bodyPr wrap="square" lIns="0" tIns="0" rIns="0" bIns="0" rtlCol="0" anchor="t"/>
          <a:lstStyle/>
          <a:p>
            <a:pPr marL="0" indent="0">
              <a:buNone/>
            </a:pPr>
            <a:r>
              <a:rPr lang="en-US" sz="1400" b="1" dirty="0">
                <a:solidFill>
                  <a:schemeClr val="tx1"/>
                </a:solidFill>
              </a:rPr>
              <a:t>Posa della fibra: </a:t>
            </a:r>
            <a:r>
              <a:rPr lang="en-US" sz="1400" dirty="0">
                <a:solidFill>
                  <a:schemeClr val="tx2"/>
                </a:solidFill>
              </a:rPr>
              <a:t>all’interno del tritubo, attestamento e installazione dei moduli ottici sui Multilayer Switch.</a:t>
            </a:r>
            <a:endParaRPr lang="en-US" sz="1400" dirty="0"/>
          </a:p>
        </p:txBody>
      </p:sp>
      <p:sp>
        <p:nvSpPr>
          <p:cNvPr id="19" name="badge"/>
          <p:cNvSpPr/>
          <p:nvPr/>
        </p:nvSpPr>
        <p:spPr>
          <a:xfrm>
            <a:off x="5212080" y="4654296"/>
            <a:ext cx="384048" cy="384048"/>
          </a:xfrm>
          <a:prstGeom prst="ellipse">
            <a:avLst/>
          </a:prstGeom>
          <a:solidFill>
            <a:schemeClr val="accent1"/>
          </a:solidFill>
          <a:ln w="12700">
            <a:solidFill>
              <a:schemeClr val="accent1"/>
            </a:solidFill>
            <a:prstDash val="solid"/>
          </a:ln>
        </p:spPr>
      </p:sp>
      <p:sp>
        <p:nvSpPr>
          <p:cNvPr id="20" name="badge-num"/>
          <p:cNvSpPr txBox="1"/>
          <p:nvPr/>
        </p:nvSpPr>
        <p:spPr>
          <a:xfrm>
            <a:off x="5212080" y="4654296"/>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1" name="step"/>
          <p:cNvSpPr txBox="1"/>
          <p:nvPr/>
        </p:nvSpPr>
        <p:spPr>
          <a:xfrm>
            <a:off x="5760720" y="4636008"/>
            <a:ext cx="5879592" cy="411480"/>
          </a:xfrm>
          <a:prstGeom prst="rect">
            <a:avLst/>
          </a:prstGeom>
          <a:noFill/>
          <a:ln/>
        </p:spPr>
        <p:txBody>
          <a:bodyPr wrap="square" lIns="0" tIns="0" rIns="0" bIns="0" rtlCol="0" anchor="t"/>
          <a:lstStyle/>
          <a:p>
            <a:pPr marL="0" indent="0">
              <a:buNone/>
            </a:pPr>
            <a:r>
              <a:rPr lang="en-US" sz="1400" b="1" dirty="0">
                <a:solidFill>
                  <a:schemeClr val="tx1"/>
                </a:solidFill>
              </a:rPr>
              <a:t>Collaudo con certificazione: </a:t>
            </a:r>
            <a:r>
              <a:rPr lang="en-US" sz="1400" dirty="0">
                <a:solidFill>
                  <a:schemeClr val="tx2"/>
                </a:solidFill>
              </a:rPr>
              <a:t>del collegamento.</a:t>
            </a:r>
            <a:endParaRPr lang="en-US" sz="1400" dirty="0"/>
          </a:p>
        </p:txBody>
      </p:sp>
      <p:sp>
        <p:nvSpPr>
          <p:cNvPr id="22" name="note-bg"/>
          <p:cNvSpPr/>
          <p:nvPr/>
        </p:nvSpPr>
        <p:spPr>
          <a:xfrm>
            <a:off x="5212080" y="5257800"/>
            <a:ext cx="6428232" cy="822960"/>
          </a:xfrm>
          <a:prstGeom prst="roundRect">
            <a:avLst>
              <a:gd name="adj" fmla="val 8889"/>
            </a:avLst>
          </a:prstGeom>
          <a:solidFill>
            <a:srgbClr val="FEF2F2"/>
          </a:solidFill>
          <a:ln w="9525">
            <a:solidFill>
              <a:srgbClr val="FECACA"/>
            </a:solidFill>
            <a:prstDash val="solid"/>
          </a:ln>
        </p:spPr>
      </p:sp>
      <p:sp>
        <p:nvSpPr>
          <p:cNvPr id="23" name="note"/>
          <p:cNvSpPr txBox="1"/>
          <p:nvPr/>
        </p:nvSpPr>
        <p:spPr>
          <a:xfrm>
            <a:off x="5440680" y="5349240"/>
            <a:ext cx="5971032" cy="640080"/>
          </a:xfrm>
          <a:prstGeom prst="rect">
            <a:avLst/>
          </a:prstGeom>
          <a:noFill/>
          <a:ln/>
        </p:spPr>
        <p:txBody>
          <a:bodyPr wrap="square" lIns="0" tIns="0" rIns="0" bIns="0" rtlCol="0" anchor="ctr"/>
          <a:lstStyle/>
          <a:p>
            <a:pPr marL="0" indent="0">
              <a:buNone/>
            </a:pPr>
            <a:r>
              <a:rPr lang="en-US" sz="1300" b="1" dirty="0">
                <a:solidFill>
                  <a:schemeClr val="accent1"/>
                </a:solidFill>
              </a:rPr>
              <a:t>Nota.  </a:t>
            </a:r>
            <a:r>
              <a:rPr lang="en-US" sz="1300" dirty="0">
                <a:solidFill>
                  <a:schemeClr val="tx2"/>
                </a:solidFill>
              </a:rPr>
              <a:t>Le opere civili necessarie alla predisposizione del percorso (scavo, tritubo, pozzetti e ripristino) sono comprese nel preventivo (capitolo 6); restano a carico del Cliente gli oneri comunali per i permessi e le eventuali opere non indicate.</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1.5.5 Vincoli burocratici, normativi e permessi comunali</a:t>
            </a:r>
            <a:endParaRPr lang="en-US" sz="3000" dirty="0"/>
          </a:p>
        </p:txBody>
      </p:sp>
      <p:sp>
        <p:nvSpPr>
          <p:cNvPr id="4" name="intro"/>
          <p:cNvSpPr txBox="1"/>
          <p:nvPr/>
        </p:nvSpPr>
        <p:spPr>
          <a:xfrm>
            <a:off x="548640" y="1325880"/>
            <a:ext cx="11094415" cy="411480"/>
          </a:xfrm>
          <a:prstGeom prst="rect">
            <a:avLst/>
          </a:prstGeom>
          <a:noFill/>
          <a:ln/>
        </p:spPr>
        <p:txBody>
          <a:bodyPr wrap="square" lIns="0" tIns="0" rIns="0" bIns="0" rtlCol="0" anchor="ctr"/>
          <a:lstStyle/>
          <a:p>
            <a:pPr marL="0" indent="0">
              <a:buNone/>
            </a:pPr>
            <a:r>
              <a:rPr lang="en-US" sz="1500" dirty="0">
                <a:solidFill>
                  <a:schemeClr val="tx2"/>
                </a:solidFill>
              </a:rPr>
              <a:t>L’attraversamento dell’area industriale comporta una serie di adempimenti, da avviare prima dell’inizio dei lavori, il cui esito condiziona il cronoprogramma:</a:t>
            </a:r>
            <a:endParaRPr lang="en-US" sz="1500" dirty="0"/>
          </a:p>
        </p:txBody>
      </p:sp>
      <p:sp>
        <p:nvSpPr>
          <p:cNvPr id="5" name="body-text"/>
          <p:cNvSpPr txBox="1"/>
          <p:nvPr/>
        </p:nvSpPr>
        <p:spPr>
          <a:xfrm>
            <a:off x="548640" y="1828800"/>
            <a:ext cx="11094415" cy="356616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Autorizzazione allo scavo e all’occupazione del suolo: </a:t>
            </a:r>
            <a:r>
              <a:rPr lang="en-US" sz="1400" dirty="0">
                <a:solidFill>
                  <a:schemeClr val="tx2"/>
                </a:solidFill>
              </a:rPr>
              <a:t>richiesta all’Ufficio Tecnico (o allo SUAP) del Comune di Cavenago di Brianza, con progetto del tracciato, sezioni di scavo e piano di ripristino; se la viabilità interna alla zona PIP è privata o consortile, serve anche il consenso del proprietario o gestore della strada.</a:t>
            </a:r>
            <a:endParaRPr lang="en-US" sz="1400" dirty="0"/>
          </a:p>
          <a:p>
            <a:pPr marL="342900" indent="-342900">
              <a:spcAft>
                <a:spcPts val="600"/>
              </a:spcAft>
              <a:buSzPct val="100000"/>
              <a:buChar char="▪"/>
            </a:pPr>
            <a:r>
              <a:rPr lang="en-US" sz="1400" b="1" dirty="0">
                <a:solidFill>
                  <a:schemeClr val="tx1"/>
                </a:solidFill>
              </a:rPr>
              <a:t>Normativa sulle infrastrutture di comunicazione elettronica: </a:t>
            </a:r>
            <a:r>
              <a:rPr lang="en-US" sz="1400" dirty="0">
                <a:solidFill>
                  <a:schemeClr val="tx2"/>
                </a:solidFill>
              </a:rPr>
              <a:t>disciplinata dal Codice delle comunicazioni elettroniche e dalle norme che favoriscono la posa con scavo a ridotto impatto (minitrincea); le prescrizioni applicabili vanno verificate con il Comune.</a:t>
            </a:r>
            <a:endParaRPr lang="en-US" sz="1400" dirty="0"/>
          </a:p>
          <a:p>
            <a:pPr marL="342900" indent="-342900">
              <a:spcAft>
                <a:spcPts val="600"/>
              </a:spcAft>
              <a:buSzPct val="100000"/>
              <a:buChar char="▪"/>
            </a:pPr>
            <a:r>
              <a:rPr lang="en-US" sz="1400" b="1" dirty="0">
                <a:solidFill>
                  <a:schemeClr val="tx1"/>
                </a:solidFill>
              </a:rPr>
              <a:t>Interferenze con i sottoservizi: </a:t>
            </a:r>
            <a:r>
              <a:rPr lang="en-US" sz="1400" dirty="0">
                <a:solidFill>
                  <a:schemeClr val="tx2"/>
                </a:solidFill>
              </a:rPr>
              <a:t>coordinamento con gli enti gestori delle reti presenti sul tracciato, sulla base dell’indagine preventiva.</a:t>
            </a:r>
            <a:endParaRPr lang="en-US" sz="1400" dirty="0"/>
          </a:p>
          <a:p>
            <a:pPr marL="342900" indent="-342900">
              <a:spcAft>
                <a:spcPts val="600"/>
              </a:spcAft>
              <a:buSzPct val="100000"/>
              <a:buChar char="▪"/>
            </a:pPr>
            <a:r>
              <a:rPr lang="en-US" sz="1400" b="1" dirty="0">
                <a:solidFill>
                  <a:schemeClr val="tx1"/>
                </a:solidFill>
              </a:rPr>
              <a:t>Viabilità e sicurezza: </a:t>
            </a:r>
            <a:r>
              <a:rPr lang="en-US" sz="1400" dirty="0">
                <a:solidFill>
                  <a:schemeClr val="tx2"/>
                </a:solidFill>
              </a:rPr>
              <a:t>eventuale ordinanza di limitazione o regolamentazione del traffico durante i lavori, piano di sicurezza e nomina del coordinatore, ove richiesti.</a:t>
            </a:r>
            <a:endParaRPr lang="en-US" sz="1400" dirty="0"/>
          </a:p>
          <a:p>
            <a:pPr marL="342900" indent="-342900">
              <a:spcAft>
                <a:spcPts val="600"/>
              </a:spcAft>
              <a:buSzPct val="100000"/>
              <a:buChar char="▪"/>
            </a:pPr>
            <a:r>
              <a:rPr lang="en-US" sz="1400" b="1" dirty="0">
                <a:solidFill>
                  <a:schemeClr val="tx1"/>
                </a:solidFill>
              </a:rPr>
              <a:t>Ripristino e garanzie: </a:t>
            </a:r>
            <a:r>
              <a:rPr lang="en-US" sz="1400" dirty="0">
                <a:solidFill>
                  <a:schemeClr val="tx2"/>
                </a:solidFill>
              </a:rPr>
              <a:t>l’Amministrazione può richiedere una cauzione o una fideiussione a garanzia del corretto ripristino del suolo; il collaudo finale e la certificazione del collegamento chiudono la pratica.</a:t>
            </a:r>
            <a:endParaRPr lang="en-US" sz="1400" dirty="0"/>
          </a:p>
        </p:txBody>
      </p:sp>
      <p:sp>
        <p:nvSpPr>
          <p:cNvPr id="6" name="note-bg"/>
          <p:cNvSpPr/>
          <p:nvPr/>
        </p:nvSpPr>
        <p:spPr>
          <a:xfrm>
            <a:off x="548640" y="5440680"/>
            <a:ext cx="11094415" cy="731520"/>
          </a:xfrm>
          <a:prstGeom prst="roundRect">
            <a:avLst>
              <a:gd name="adj" fmla="val 10000"/>
            </a:avLst>
          </a:prstGeom>
          <a:solidFill>
            <a:srgbClr val="FEF2F2"/>
          </a:solidFill>
          <a:ln w="9525">
            <a:solidFill>
              <a:srgbClr val="FECACA"/>
            </a:solidFill>
            <a:prstDash val="solid"/>
          </a:ln>
        </p:spPr>
      </p:sp>
      <p:sp>
        <p:nvSpPr>
          <p:cNvPr id="7" name="note"/>
          <p:cNvSpPr txBox="1"/>
          <p:nvPr/>
        </p:nvSpPr>
        <p:spPr>
          <a:xfrm>
            <a:off x="777240" y="5532120"/>
            <a:ext cx="10637215" cy="548640"/>
          </a:xfrm>
          <a:prstGeom prst="rect">
            <a:avLst/>
          </a:prstGeom>
          <a:noFill/>
          <a:ln/>
        </p:spPr>
        <p:txBody>
          <a:bodyPr wrap="square" lIns="0" tIns="0" rIns="0" bIns="0" rtlCol="0" anchor="ctr"/>
          <a:lstStyle/>
          <a:p>
            <a:pPr marL="0" indent="0">
              <a:buNone/>
            </a:pPr>
            <a:r>
              <a:rPr lang="en-US" sz="1300" b="1" dirty="0">
                <a:solidFill>
                  <a:schemeClr val="accent1"/>
                </a:solidFill>
              </a:rPr>
              <a:t>Nota.  </a:t>
            </a:r>
            <a:r>
              <a:rPr lang="en-US" sz="1300" dirty="0">
                <a:solidFill>
                  <a:schemeClr val="tx2"/>
                </a:solidFill>
              </a:rPr>
              <a:t>I tempi di rilascio dei permessi dipendono dall’istruttoria degli uffici competenti e non sono interamente controllabili dall’Appaltatore; eventuali oneri, diritti di segreteria, cauzioni e prescrizioni aggiuntive sono trattati nel capitolo 6 (variazioni di spesa ed esclusioni).</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1 · ARCHITETTURA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1.6 Verifica e collaudo dell’infrastruttura</a:t>
            </a:r>
            <a:endParaRPr lang="en-US" sz="3000" dirty="0"/>
          </a:p>
        </p:txBody>
      </p:sp>
      <p:sp>
        <p:nvSpPr>
          <p:cNvPr id="4" name="card"/>
          <p:cNvSpPr/>
          <p:nvPr/>
        </p:nvSpPr>
        <p:spPr>
          <a:xfrm>
            <a:off x="548640" y="1463040"/>
            <a:ext cx="5410048" cy="2103120"/>
          </a:xfrm>
          <a:prstGeom prst="roundRect">
            <a:avLst>
              <a:gd name="adj" fmla="val 4348"/>
            </a:avLst>
          </a:prstGeom>
          <a:solidFill>
            <a:schemeClr val="bg2"/>
          </a:solidFill>
          <a:ln w="12700">
            <a:solidFill>
              <a:schemeClr val="bg2"/>
            </a:solidFill>
            <a:prstDash val="solid"/>
          </a:ln>
        </p:spPr>
      </p:sp>
      <p:sp>
        <p:nvSpPr>
          <p:cNvPr id="5" name="badge"/>
          <p:cNvSpPr/>
          <p:nvPr/>
        </p:nvSpPr>
        <p:spPr>
          <a:xfrm>
            <a:off x="777240" y="1691640"/>
            <a:ext cx="457200" cy="457200"/>
          </a:xfrm>
          <a:prstGeom prst="ellipse">
            <a:avLst/>
          </a:prstGeom>
          <a:solidFill>
            <a:schemeClr val="accent1"/>
          </a:solidFill>
          <a:ln w="12700">
            <a:solidFill>
              <a:schemeClr val="accent1"/>
            </a:solidFill>
            <a:prstDash val="solid"/>
          </a:ln>
        </p:spPr>
      </p:sp>
      <p:sp>
        <p:nvSpPr>
          <p:cNvPr id="6" name="badge-num"/>
          <p:cNvSpPr txBox="1"/>
          <p:nvPr/>
        </p:nvSpPr>
        <p:spPr>
          <a:xfrm>
            <a:off x="77724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a:t>
            </a:r>
            <a:endParaRPr lang="en-US" sz="1500" dirty="0"/>
          </a:p>
        </p:txBody>
      </p:sp>
      <p:sp>
        <p:nvSpPr>
          <p:cNvPr id="7" name="card-head"/>
          <p:cNvSpPr txBox="1"/>
          <p:nvPr/>
        </p:nvSpPr>
        <p:spPr>
          <a:xfrm>
            <a:off x="1417320" y="166420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Test HSRP</a:t>
            </a:r>
            <a:endParaRPr lang="en-US" sz="1600" dirty="0"/>
          </a:p>
        </p:txBody>
      </p:sp>
      <p:sp>
        <p:nvSpPr>
          <p:cNvPr id="8" name="card-body"/>
          <p:cNvSpPr txBox="1"/>
          <p:nvPr/>
        </p:nvSpPr>
        <p:spPr>
          <a:xfrm>
            <a:off x="777240" y="2286000"/>
            <a:ext cx="4952848" cy="1143000"/>
          </a:xfrm>
          <a:prstGeom prst="rect">
            <a:avLst/>
          </a:prstGeom>
          <a:noFill/>
          <a:ln/>
        </p:spPr>
        <p:txBody>
          <a:bodyPr wrap="square" lIns="0" tIns="0" rIns="0" bIns="0" rtlCol="0" anchor="t"/>
          <a:lstStyle/>
          <a:p>
            <a:pPr marL="0" indent="0">
              <a:buNone/>
            </a:pPr>
            <a:r>
              <a:rPr lang="en-US" sz="1500" dirty="0">
                <a:solidFill>
                  <a:schemeClr val="tx2"/>
                </a:solidFill>
              </a:rPr>
              <a:t>Simulando il guasto del Core 1, il Core 2 subentra mantenendo attivi i gateway virtuali.</a:t>
            </a:r>
            <a:endParaRPr lang="en-US" sz="1500" dirty="0"/>
          </a:p>
        </p:txBody>
      </p:sp>
      <p:sp>
        <p:nvSpPr>
          <p:cNvPr id="9" name="card"/>
          <p:cNvSpPr/>
          <p:nvPr/>
        </p:nvSpPr>
        <p:spPr>
          <a:xfrm>
            <a:off x="6233008" y="1463040"/>
            <a:ext cx="5410048" cy="2103120"/>
          </a:xfrm>
          <a:prstGeom prst="roundRect">
            <a:avLst>
              <a:gd name="adj" fmla="val 4348"/>
            </a:avLst>
          </a:prstGeom>
          <a:solidFill>
            <a:schemeClr val="bg2"/>
          </a:solidFill>
          <a:ln w="12700">
            <a:solidFill>
              <a:schemeClr val="bg2"/>
            </a:solidFill>
            <a:prstDash val="solid"/>
          </a:ln>
        </p:spPr>
      </p:sp>
      <p:sp>
        <p:nvSpPr>
          <p:cNvPr id="10" name="badge"/>
          <p:cNvSpPr/>
          <p:nvPr/>
        </p:nvSpPr>
        <p:spPr>
          <a:xfrm>
            <a:off x="6461608" y="1691640"/>
            <a:ext cx="457200" cy="457200"/>
          </a:xfrm>
          <a:prstGeom prst="ellipse">
            <a:avLst/>
          </a:prstGeom>
          <a:solidFill>
            <a:schemeClr val="accent1"/>
          </a:solidFill>
          <a:ln w="12700">
            <a:solidFill>
              <a:schemeClr val="accent1"/>
            </a:solidFill>
            <a:prstDash val="solid"/>
          </a:ln>
        </p:spPr>
      </p:sp>
      <p:sp>
        <p:nvSpPr>
          <p:cNvPr id="11" name="badge-num"/>
          <p:cNvSpPr txBox="1"/>
          <p:nvPr/>
        </p:nvSpPr>
        <p:spPr>
          <a:xfrm>
            <a:off x="6461608"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a:t>
            </a:r>
            <a:endParaRPr lang="en-US" sz="1500" dirty="0"/>
          </a:p>
        </p:txBody>
      </p:sp>
      <p:sp>
        <p:nvSpPr>
          <p:cNvPr id="12" name="card-head"/>
          <p:cNvSpPr txBox="1"/>
          <p:nvPr/>
        </p:nvSpPr>
        <p:spPr>
          <a:xfrm>
            <a:off x="7101688" y="166420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Test NAT (show xlate)</a:t>
            </a:r>
            <a:endParaRPr lang="en-US" sz="1600" dirty="0"/>
          </a:p>
        </p:txBody>
      </p:sp>
      <p:sp>
        <p:nvSpPr>
          <p:cNvPr id="13" name="card-body"/>
          <p:cNvSpPr txBox="1"/>
          <p:nvPr/>
        </p:nvSpPr>
        <p:spPr>
          <a:xfrm>
            <a:off x="6461608" y="2286000"/>
            <a:ext cx="4952848" cy="1143000"/>
          </a:xfrm>
          <a:prstGeom prst="rect">
            <a:avLst/>
          </a:prstGeom>
          <a:noFill/>
          <a:ln/>
        </p:spPr>
        <p:txBody>
          <a:bodyPr wrap="square" lIns="0" tIns="0" rIns="0" bIns="0" rtlCol="0" anchor="t"/>
          <a:lstStyle/>
          <a:p>
            <a:pPr marL="0" indent="0">
              <a:buNone/>
            </a:pPr>
            <a:r>
              <a:rPr lang="en-US" sz="1500" dirty="0">
                <a:solidFill>
                  <a:schemeClr val="tx2"/>
                </a:solidFill>
              </a:rPr>
              <a:t>Inviando traffico da un qualsiasi PC (Sede 1 o Sede 2) verso l’esterno, il firewall traduce dinamicamente l’indirizzo IP sorgente sull’interfaccia Outside.</a:t>
            </a:r>
            <a:endParaRPr lang="en-US" sz="1500" dirty="0"/>
          </a:p>
        </p:txBody>
      </p:sp>
      <p:sp>
        <p:nvSpPr>
          <p:cNvPr id="14" name="card"/>
          <p:cNvSpPr/>
          <p:nvPr/>
        </p:nvSpPr>
        <p:spPr>
          <a:xfrm>
            <a:off x="548640" y="3794760"/>
            <a:ext cx="5410048" cy="2103120"/>
          </a:xfrm>
          <a:prstGeom prst="roundRect">
            <a:avLst>
              <a:gd name="adj" fmla="val 4348"/>
            </a:avLst>
          </a:prstGeom>
          <a:solidFill>
            <a:schemeClr val="bg2"/>
          </a:solidFill>
          <a:ln w="12700">
            <a:solidFill>
              <a:schemeClr val="bg2"/>
            </a:solidFill>
            <a:prstDash val="solid"/>
          </a:ln>
        </p:spPr>
      </p:sp>
      <p:sp>
        <p:nvSpPr>
          <p:cNvPr id="15" name="badge"/>
          <p:cNvSpPr/>
          <p:nvPr/>
        </p:nvSpPr>
        <p:spPr>
          <a:xfrm>
            <a:off x="777240" y="4023360"/>
            <a:ext cx="457200" cy="457200"/>
          </a:xfrm>
          <a:prstGeom prst="ellipse">
            <a:avLst/>
          </a:prstGeom>
          <a:solidFill>
            <a:schemeClr val="accent1"/>
          </a:solidFill>
          <a:ln w="12700">
            <a:solidFill>
              <a:schemeClr val="accent1"/>
            </a:solidFill>
            <a:prstDash val="solid"/>
          </a:ln>
        </p:spPr>
      </p:sp>
      <p:sp>
        <p:nvSpPr>
          <p:cNvPr id="16" name="badge-num"/>
          <p:cNvSpPr txBox="1"/>
          <p:nvPr/>
        </p:nvSpPr>
        <p:spPr>
          <a:xfrm>
            <a:off x="777240" y="402336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a:t>
            </a:r>
            <a:endParaRPr lang="en-US" sz="1500" dirty="0"/>
          </a:p>
        </p:txBody>
      </p:sp>
      <p:sp>
        <p:nvSpPr>
          <p:cNvPr id="17" name="card-head"/>
          <p:cNvSpPr txBox="1"/>
          <p:nvPr/>
        </p:nvSpPr>
        <p:spPr>
          <a:xfrm>
            <a:off x="1417320" y="399592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Test del collegamento inter-sede</a:t>
            </a:r>
            <a:endParaRPr lang="en-US" sz="1600" dirty="0"/>
          </a:p>
        </p:txBody>
      </p:sp>
      <p:sp>
        <p:nvSpPr>
          <p:cNvPr id="18" name="card-body"/>
          <p:cNvSpPr txBox="1"/>
          <p:nvPr/>
        </p:nvSpPr>
        <p:spPr>
          <a:xfrm>
            <a:off x="777240" y="4617720"/>
            <a:ext cx="4952848" cy="1143000"/>
          </a:xfrm>
          <a:prstGeom prst="rect">
            <a:avLst/>
          </a:prstGeom>
          <a:noFill/>
          <a:ln/>
        </p:spPr>
        <p:txBody>
          <a:bodyPr wrap="square" lIns="0" tIns="0" rIns="0" bIns="0" rtlCol="0" anchor="t"/>
          <a:lstStyle/>
          <a:p>
            <a:pPr marL="0" indent="0">
              <a:buNone/>
            </a:pPr>
            <a:r>
              <a:rPr lang="en-US" sz="1500" dirty="0">
                <a:solidFill>
                  <a:schemeClr val="tx2"/>
                </a:solidFill>
              </a:rPr>
              <a:t>Verifica del collegamento in fibra mediante misure di attenuazione e certificazione, e prova di failover disconnettendo una delle due dorsali.</a:t>
            </a:r>
            <a:endParaRPr lang="en-US" sz="1500" dirty="0"/>
          </a:p>
        </p:txBody>
      </p:sp>
      <p:sp>
        <p:nvSpPr>
          <p:cNvPr id="19" name="card"/>
          <p:cNvSpPr/>
          <p:nvPr/>
        </p:nvSpPr>
        <p:spPr>
          <a:xfrm>
            <a:off x="6233008" y="3794760"/>
            <a:ext cx="5410048" cy="2103120"/>
          </a:xfrm>
          <a:prstGeom prst="roundRect">
            <a:avLst>
              <a:gd name="adj" fmla="val 4348"/>
            </a:avLst>
          </a:prstGeom>
          <a:solidFill>
            <a:schemeClr val="bg2"/>
          </a:solidFill>
          <a:ln w="12700">
            <a:solidFill>
              <a:schemeClr val="bg2"/>
            </a:solidFill>
            <a:prstDash val="solid"/>
          </a:ln>
        </p:spPr>
      </p:sp>
      <p:sp>
        <p:nvSpPr>
          <p:cNvPr id="20" name="badge"/>
          <p:cNvSpPr/>
          <p:nvPr/>
        </p:nvSpPr>
        <p:spPr>
          <a:xfrm>
            <a:off x="6461608" y="4023360"/>
            <a:ext cx="457200" cy="457200"/>
          </a:xfrm>
          <a:prstGeom prst="ellipse">
            <a:avLst/>
          </a:prstGeom>
          <a:solidFill>
            <a:schemeClr val="accent1"/>
          </a:solidFill>
          <a:ln w="12700">
            <a:solidFill>
              <a:schemeClr val="accent1"/>
            </a:solidFill>
            <a:prstDash val="solid"/>
          </a:ln>
        </p:spPr>
      </p:sp>
      <p:sp>
        <p:nvSpPr>
          <p:cNvPr id="21" name="badge-num"/>
          <p:cNvSpPr txBox="1"/>
          <p:nvPr/>
        </p:nvSpPr>
        <p:spPr>
          <a:xfrm>
            <a:off x="6461608" y="402336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a:t>
            </a:r>
            <a:endParaRPr lang="en-US" sz="1500" dirty="0"/>
          </a:p>
        </p:txBody>
      </p:sp>
      <p:sp>
        <p:nvSpPr>
          <p:cNvPr id="22" name="card-head"/>
          <p:cNvSpPr txBox="1"/>
          <p:nvPr/>
        </p:nvSpPr>
        <p:spPr>
          <a:xfrm>
            <a:off x="7101688" y="3995928"/>
            <a:ext cx="435848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Test delle regole del firewall</a:t>
            </a:r>
            <a:endParaRPr lang="en-US" sz="1600" dirty="0"/>
          </a:p>
        </p:txBody>
      </p:sp>
      <p:sp>
        <p:nvSpPr>
          <p:cNvPr id="23" name="card-body"/>
          <p:cNvSpPr txBox="1"/>
          <p:nvPr/>
        </p:nvSpPr>
        <p:spPr>
          <a:xfrm>
            <a:off x="6461608" y="4617720"/>
            <a:ext cx="4952848" cy="1143000"/>
          </a:xfrm>
          <a:prstGeom prst="rect">
            <a:avLst/>
          </a:prstGeom>
          <a:noFill/>
          <a:ln/>
        </p:spPr>
        <p:txBody>
          <a:bodyPr wrap="square" lIns="0" tIns="0" rIns="0" bIns="0" rtlCol="0" anchor="t"/>
          <a:lstStyle/>
          <a:p>
            <a:pPr marL="0" indent="0">
              <a:buNone/>
            </a:pPr>
            <a:r>
              <a:rPr lang="en-US" sz="1500" dirty="0">
                <a:solidFill>
                  <a:schemeClr val="tx2"/>
                </a:solidFill>
              </a:rPr>
              <a:t>Descritti nel capitolo 2.</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463040"/>
          </a:xfrm>
          <a:prstGeom prst="rect">
            <a:avLst/>
          </a:prstGeom>
          <a:noFill/>
          <a:ln/>
        </p:spPr>
        <p:txBody>
          <a:bodyPr wrap="square" lIns="0" tIns="0" rIns="0" bIns="0" rtlCol="0"/>
          <a:lstStyle/>
          <a:p>
            <a:pPr marL="0" indent="0" algn="l">
              <a:buNone/>
            </a:pPr>
            <a:r>
              <a:rPr lang="en-US" sz="9600" b="1" dirty="0">
                <a:solidFill>
                  <a:schemeClr val="accent3"/>
                </a:solidFill>
                <a:latin typeface="Arial" pitchFamily="34" charset="0"/>
                <a:ea typeface="Arial" pitchFamily="34" charset="-122"/>
                <a:cs typeface="Arial" pitchFamily="34" charset="-120"/>
              </a:rPr>
              <a:t>02</a:t>
            </a:r>
            <a:endParaRPr lang="en-US" sz="9600" dirty="0"/>
          </a:p>
        </p:txBody>
      </p:sp>
      <p:sp>
        <p:nvSpPr>
          <p:cNvPr id="3" name="Text 0"/>
          <p:cNvSpPr>
            <a:spLocks noGrp="1"/>
          </p:cNvSpPr>
          <p:nvPr>
            <p:ph type="title" idx="101" hasCustomPrompt="1"/>
          </p:nvPr>
        </p:nvSpPr>
        <p:spPr>
          <a:xfrm>
            <a:off x="548640" y="2651760"/>
            <a:ext cx="6583680" cy="1097280"/>
          </a:xfrm>
          <a:prstGeom prst="rect">
            <a:avLst/>
          </a:prstGeom>
          <a:noFill/>
          <a:ln/>
        </p:spPr>
        <p:txBody>
          <a:bodyPr wrap="square" lIns="0" tIns="0" rIns="0" bIns="0" rtlCol="0" anchor="t"/>
          <a:lstStyle/>
          <a:p>
            <a:pPr marL="0" indent="0" algn="l">
              <a:buNone/>
            </a:pPr>
            <a:r>
              <a:rPr lang="en-US" sz="4000" b="1" dirty="0">
                <a:solidFill>
                  <a:schemeClr val="bg1"/>
                </a:solidFill>
                <a:latin typeface="Arial" pitchFamily="34" charset="0"/>
                <a:ea typeface="Arial" pitchFamily="34" charset="-122"/>
                <a:cs typeface="Arial" pitchFamily="34" charset="-120"/>
              </a:rPr>
              <a:t>Regole del firewall</a:t>
            </a:r>
            <a:endParaRPr lang="en-US" sz="4000" dirty="0"/>
          </a:p>
        </p:txBody>
      </p:sp>
      <p:sp>
        <p:nvSpPr>
          <p:cNvPr id="4" name="Text 0"/>
          <p:cNvSpPr>
            <a:spLocks noGrp="1"/>
          </p:cNvSpPr>
          <p:nvPr>
            <p:ph type="body" idx="102" hasCustomPrompt="1"/>
          </p:nvPr>
        </p:nvSpPr>
        <p:spPr>
          <a:xfrm>
            <a:off x="7589520" y="1280160"/>
            <a:ext cx="4023360" cy="4389120"/>
          </a:xfrm>
          <a:prstGeom prst="rect">
            <a:avLst/>
          </a:prstGeom>
          <a:noFill/>
          <a:ln/>
        </p:spPr>
        <p:txBody>
          <a:bodyPr wrap="square" lIns="0" tIns="0" rIns="0" bIns="0" rtlCol="0" anchor="ctr"/>
          <a:lstStyle/>
          <a:p>
            <a:pPr marL="0" indent="0" algn="l">
              <a:spcAft>
                <a:spcPts val="800"/>
              </a:spcAft>
              <a:buNone/>
            </a:pPr>
            <a:r>
              <a:rPr lang="en-US" sz="1500" dirty="0">
                <a:solidFill>
                  <a:schemeClr val="accent5"/>
                </a:solidFill>
              </a:rPr>
              <a:t>2.1 Creazione delle regole firewall</a:t>
            </a:r>
            <a:endParaRPr lang="en-US" sz="1500" dirty="0"/>
          </a:p>
          <a:p>
            <a:pPr marL="0" indent="0" algn="l">
              <a:spcAft>
                <a:spcPts val="800"/>
              </a:spcAft>
              <a:buNone/>
            </a:pPr>
            <a:r>
              <a:rPr lang="en-US" sz="1500" dirty="0">
                <a:solidFill>
                  <a:schemeClr val="accent5"/>
                </a:solidFill>
              </a:rPr>
              <a:t>2.1.1 Architettura a tre zone</a:t>
            </a:r>
            <a:endParaRPr lang="en-US" sz="1500" dirty="0"/>
          </a:p>
          <a:p>
            <a:pPr marL="0" indent="0" algn="l">
              <a:spcAft>
                <a:spcPts val="800"/>
              </a:spcAft>
              <a:buNone/>
            </a:pPr>
            <a:r>
              <a:rPr lang="en-US" sz="1500" dirty="0">
                <a:solidFill>
                  <a:schemeClr val="accent5"/>
                </a:solidFill>
              </a:rPr>
              <a:t>2.1.2 Ubicazione del web server in DMZ</a:t>
            </a:r>
            <a:endParaRPr lang="en-US" sz="1500" dirty="0"/>
          </a:p>
          <a:p>
            <a:pPr marL="0" indent="0" algn="l">
              <a:spcAft>
                <a:spcPts val="800"/>
              </a:spcAft>
              <a:buNone/>
            </a:pPr>
            <a:r>
              <a:rPr lang="en-US" sz="1500" dirty="0">
                <a:solidFill>
                  <a:schemeClr val="accent5"/>
                </a:solidFill>
              </a:rPr>
              <a:t>2.1.3 Regole firewall applicate</a:t>
            </a:r>
            <a:endParaRPr lang="en-US" sz="1500" dirty="0"/>
          </a:p>
          <a:p>
            <a:pPr marL="0" indent="0" algn="l">
              <a:spcAft>
                <a:spcPts val="800"/>
              </a:spcAft>
              <a:buNone/>
            </a:pPr>
            <a:r>
              <a:rPr lang="en-US" sz="1500" dirty="0">
                <a:solidFill>
                  <a:schemeClr val="accent5"/>
                </a:solidFill>
              </a:rPr>
              <a:t>2.1.4 Verifica del funzionamento</a:t>
            </a:r>
            <a:endParaRPr lang="en-US" sz="1500" dirty="0"/>
          </a:p>
          <a:p>
            <a:pPr marL="0" indent="0" algn="l">
              <a:spcAft>
                <a:spcPts val="800"/>
              </a:spcAft>
              <a:buNone/>
            </a:pPr>
            <a:r>
              <a:rPr lang="en-US" sz="1500" dirty="0">
                <a:solidFill>
                  <a:schemeClr val="accent5"/>
                </a:solidFill>
              </a:rPr>
              <a:t>2.2 Estensione alla Sede 2</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2 · REGOLE DEL FIREWALL</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2.1 Creazione delle regole firewall</a:t>
            </a:r>
            <a:endParaRPr lang="en-US" sz="3000" dirty="0"/>
          </a:p>
        </p:txBody>
      </p:sp>
      <p:sp>
        <p:nvSpPr>
          <p:cNvPr id="4" name="body-text"/>
          <p:cNvSpPr txBox="1"/>
          <p:nvPr/>
        </p:nvSpPr>
        <p:spPr>
          <a:xfrm>
            <a:off x="548640" y="1417320"/>
            <a:ext cx="5760720" cy="4663440"/>
          </a:xfrm>
          <a:prstGeom prst="rect">
            <a:avLst/>
          </a:prstGeom>
          <a:noFill/>
          <a:ln/>
        </p:spPr>
        <p:txBody>
          <a:bodyPr wrap="square" lIns="0" tIns="0" rIns="0" bIns="0" rtlCol="0" anchor="t"/>
          <a:lstStyle/>
          <a:p>
            <a:pPr marL="0" indent="0">
              <a:spcAft>
                <a:spcPts val="800"/>
              </a:spcAft>
              <a:buNone/>
            </a:pPr>
            <a:r>
              <a:rPr lang="en-US" sz="1400" dirty="0">
                <a:solidFill>
                  <a:schemeClr val="tx2"/>
                </a:solidFill>
              </a:rPr>
              <a:t>Il capitolo documenta la definizione e la verifica delle regole del firewall perimetrale. Poiché le regole non fanno parte della topologia fisica descritta nel capitolo 1, sono trattate separatamente. La validazione è stata condotta in un laboratorio virtuale basato su pfSense, che riproduce la zona Inside, la DMZ e la zona Outside del progetto.</a:t>
            </a:r>
            <a:endParaRPr lang="en-US" sz="1400" dirty="0"/>
          </a:p>
          <a:p>
            <a:pPr marL="0" indent="0">
              <a:spcAft>
                <a:spcPts val="800"/>
              </a:spcAft>
              <a:buNone/>
            </a:pPr>
            <a:r>
              <a:rPr lang="en-US" sz="1400" dirty="0">
                <a:solidFill>
                  <a:schemeClr val="tx2"/>
                </a:solidFill>
              </a:rPr>
              <a:t>Per l’infrastruttura della Compagnia Theta è stato configurato un firewall perimetrale basato su pfSense, posizionato tra la rete interna e Internet, con il compito di controllare tutto il traffico tra le diverse zone e di proteggere i sistemi aziendali da attacchi provenienti da Internet.</a:t>
            </a:r>
            <a:endParaRPr lang="en-US" sz="1400" dirty="0"/>
          </a:p>
          <a:p>
            <a:pPr marL="0" indent="0">
              <a:spcBef>
                <a:spcPts val="600"/>
              </a:spcBef>
              <a:spcAft>
                <a:spcPts val="400"/>
              </a:spcAft>
              <a:buNone/>
            </a:pPr>
            <a:r>
              <a:rPr lang="en-US" sz="1400" b="1" dirty="0">
                <a:solidFill>
                  <a:schemeClr val="accent1"/>
                </a:solidFill>
              </a:rPr>
              <a:t>2.1.1 Architettura a tre zone</a:t>
            </a:r>
            <a:endParaRPr lang="en-US" sz="1400" dirty="0"/>
          </a:p>
          <a:p>
            <a:pPr marL="0" indent="0">
              <a:spcAft>
                <a:spcPts val="800"/>
              </a:spcAft>
              <a:buNone/>
            </a:pPr>
            <a:r>
              <a:rPr lang="en-US" sz="1400" dirty="0">
                <a:solidFill>
                  <a:schemeClr val="tx2"/>
                </a:solidFill>
              </a:rPr>
              <a:t>pfSense in posizione centrale con funzione di gateway e di controllo per la LAN interna (PC aziendali), la LAN2/DMZ (web server) e la WAN (Internet). Ogni macchina virtuale è collegata alla rete interna della propria zona tramite le schede di rete di VirtualBox; la console di pfSense mostra le tre interfacce configurate.</a:t>
            </a:r>
            <a:endParaRPr lang="en-US" sz="1400" dirty="0"/>
          </a:p>
        </p:txBody>
      </p:sp>
      <p:pic>
        <p:nvPicPr>
          <p:cNvPr id="5" name="img-pfsense" descr="Console di pfSense con le tre interfacce"/>
          <p:cNvPicPr>
            <a:picLocks noChangeAspect="1"/>
          </p:cNvPicPr>
          <p:nvPr/>
        </p:nvPicPr>
        <p:blipFill>
          <a:blip r:embed="rId3"/>
          <a:stretch>
            <a:fillRect/>
          </a:stretch>
        </p:blipFill>
        <p:spPr>
          <a:xfrm>
            <a:off x="6583680" y="1709329"/>
            <a:ext cx="5056632" cy="3713661"/>
          </a:xfrm>
          <a:prstGeom prst="rect">
            <a:avLst/>
          </a:prstGeom>
        </p:spPr>
      </p:pic>
      <p:sp>
        <p:nvSpPr>
          <p:cNvPr id="6" name="caption"/>
          <p:cNvSpPr txBox="1"/>
          <p:nvPr/>
        </p:nvSpPr>
        <p:spPr>
          <a:xfrm>
            <a:off x="6583680" y="5760720"/>
            <a:ext cx="5056632"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2 – </a:t>
            </a:r>
            <a:r>
              <a:rPr lang="en-US" sz="1100" i="1" dirty="0">
                <a:solidFill>
                  <a:schemeClr val="accent4"/>
                </a:solidFill>
              </a:rPr>
              <a:t>Console di pfSense con le interfacce WAN, LAN e LAN2/DMZ e i rispettivi indirizzi IP.</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2 · REGOLE DEL FIREWALL</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Zone di rete e indirizzamento dell’ambiente di prova</a:t>
            </a:r>
            <a:endParaRPr lang="en-US" sz="3000" dirty="0"/>
          </a:p>
        </p:txBody>
      </p:sp>
      <p:graphicFrame>
        <p:nvGraphicFramePr>
          <p:cNvPr id="28" name="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560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413455">
                  <a:extLst>
                    <a:ext uri="{9D8B030D-6E8A-4147-A177-3AD203B41FA5}">
                      <a16:colId xmlns:a16="http://schemas.microsoft.com/office/drawing/2014/main" val="20003"/>
                    </a:ext>
                  </a:extLst>
                </a:gridCol>
              </a:tblGrid>
              <a:tr h="502920">
                <a:tc>
                  <a:txBody>
                    <a:bodyPr/>
                    <a:lstStyle/>
                    <a:p>
                      <a:pPr marL="0" indent="0">
                        <a:buNone/>
                      </a:pPr>
                      <a:r>
                        <a:rPr lang="en-US" sz="1600" b="1" dirty="0">
                          <a:solidFill>
                            <a:schemeClr val="bg1"/>
                          </a:solidFill>
                        </a:rPr>
                        <a:t>Interfaccia</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Rete IP</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Indirizzo pfSense</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Contenuto</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buNone/>
                      </a:pPr>
                      <a:r>
                        <a:rPr lang="en-US" sz="1600" b="1" dirty="0">
                          <a:solidFill>
                            <a:schemeClr val="tx2"/>
                          </a:solidFill>
                        </a:rPr>
                        <a:t>LAN interna (em1)</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600" dirty="0">
                          <a:solidFill>
                            <a:schemeClr val="tx2"/>
                          </a:solidFill>
                        </a:rPr>
                        <a:t>192.168.50.0/24</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600" dirty="0">
                          <a:solidFill>
                            <a:schemeClr val="tx2"/>
                          </a:solidFill>
                        </a:rPr>
                        <a:t>192.168.50.1</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600" dirty="0">
                          <a:solidFill>
                            <a:schemeClr val="tx2"/>
                          </a:solidFill>
                        </a:rPr>
                        <a:t>PC aziendali</a:t>
                      </a:r>
                      <a:endParaRPr lang="en-US" sz="1600" dirty="0"/>
                    </a:p>
                    <a:p>
                      <a:pPr marL="0" indent="0">
                        <a:buNone/>
                      </a:pPr>
                      <a:r>
                        <a:rPr lang="en-US" sz="1600" dirty="0">
                          <a:solidFill>
                            <a:schemeClr val="tx2"/>
                          </a:solidFill>
                        </a:rPr>
                        <a:t>Kali Linux – 192.168.50.100</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8680">
                <a:tc>
                  <a:txBody>
                    <a:bodyPr/>
                    <a:lstStyle/>
                    <a:p>
                      <a:pPr marL="0" indent="0">
                        <a:buNone/>
                      </a:pPr>
                      <a:r>
                        <a:rPr lang="en-US" sz="1600" b="1" dirty="0">
                          <a:solidFill>
                            <a:schemeClr val="tx2"/>
                          </a:solidFill>
                        </a:rPr>
                        <a:t>LAN2/DMZ (em2)</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600" dirty="0">
                          <a:solidFill>
                            <a:schemeClr val="tx2"/>
                          </a:solidFill>
                        </a:rPr>
                        <a:t>192.168.2.0/24</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600" dirty="0">
                          <a:solidFill>
                            <a:schemeClr val="tx2"/>
                          </a:solidFill>
                        </a:rPr>
                        <a:t>192.168.2.1</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600" dirty="0">
                          <a:solidFill>
                            <a:schemeClr val="tx2"/>
                          </a:solidFill>
                        </a:rPr>
                        <a:t>Web server</a:t>
                      </a:r>
                      <a:endParaRPr lang="en-US" sz="1600" dirty="0"/>
                    </a:p>
                    <a:p>
                      <a:pPr marL="0" indent="0">
                        <a:buNone/>
                      </a:pPr>
                      <a:r>
                        <a:rPr lang="en-US" sz="1600" dirty="0">
                          <a:solidFill>
                            <a:schemeClr val="tx2"/>
                          </a:solidFill>
                        </a:rPr>
                        <a:t>Metasploitable 2 (DVWA) – 192.168.2.100</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68680">
                <a:tc>
                  <a:txBody>
                    <a:bodyPr/>
                    <a:lstStyle/>
                    <a:p>
                      <a:pPr marL="0" indent="0">
                        <a:buNone/>
                      </a:pPr>
                      <a:r>
                        <a:rPr lang="en-US" sz="1600" b="1" dirty="0">
                          <a:solidFill>
                            <a:schemeClr val="tx2"/>
                          </a:solidFill>
                        </a:rPr>
                        <a:t>WAN (em0)</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600" dirty="0">
                          <a:solidFill>
                            <a:schemeClr val="tx2"/>
                          </a:solidFill>
                        </a:rPr>
                        <a:t>10.0.2.0 (DHCP, NAT VirtualBox)</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600" dirty="0">
                          <a:solidFill>
                            <a:schemeClr val="tx2"/>
                          </a:solidFill>
                        </a:rPr>
                        <a:t>10.0.2.15</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600" dirty="0">
                          <a:solidFill>
                            <a:schemeClr val="tx2"/>
                          </a:solidFill>
                        </a:rPr>
                        <a:t>Collegamento esterno</a:t>
                      </a:r>
                      <a:endParaRPr lang="en-US" sz="16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 name="tcap"/>
          <p:cNvSpPr txBox="1"/>
          <p:nvPr/>
        </p:nvSpPr>
        <p:spPr>
          <a:xfrm>
            <a:off x="548640" y="4800600"/>
            <a:ext cx="11094415" cy="274320"/>
          </a:xfrm>
          <a:prstGeom prst="rect">
            <a:avLst/>
          </a:prstGeom>
          <a:noFill/>
          <a:ln/>
        </p:spPr>
        <p:txBody>
          <a:bodyPr wrap="square" lIns="0" tIns="0" rIns="0" bIns="0" rtlCol="0" anchor="ctr"/>
          <a:lstStyle/>
          <a:p>
            <a:pPr marL="0" indent="0" algn="ctr">
              <a:buNone/>
            </a:pPr>
            <a:r>
              <a:rPr lang="en-US" sz="1100" i="1" dirty="0">
                <a:solidFill>
                  <a:schemeClr val="accent4"/>
                </a:solidFill>
              </a:rPr>
              <a:t>Tabella 5 – Zone di rete e indirizzamento dell’ambiente di prova.</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2 · REGOLE DEL FIREWALL</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2.1.2 Perché il web server è in DMZ</a:t>
            </a:r>
            <a:endParaRPr lang="en-US" sz="3000" dirty="0"/>
          </a:p>
        </p:txBody>
      </p:sp>
      <p:sp>
        <p:nvSpPr>
          <p:cNvPr id="4" name="quote-bg"/>
          <p:cNvSpPr/>
          <p:nvPr/>
        </p:nvSpPr>
        <p:spPr>
          <a:xfrm>
            <a:off x="548640" y="1645920"/>
            <a:ext cx="11094415" cy="3291840"/>
          </a:xfrm>
          <a:prstGeom prst="roundRect">
            <a:avLst>
              <a:gd name="adj" fmla="val 2778"/>
            </a:avLst>
          </a:prstGeom>
          <a:solidFill>
            <a:schemeClr val="bg2"/>
          </a:solidFill>
          <a:ln w="12700">
            <a:solidFill>
              <a:schemeClr val="bg2"/>
            </a:solidFill>
            <a:prstDash val="solid"/>
          </a:ln>
        </p:spPr>
      </p:sp>
      <p:sp>
        <p:nvSpPr>
          <p:cNvPr id="5" name="quote"/>
          <p:cNvSpPr txBox="1"/>
          <p:nvPr/>
        </p:nvSpPr>
        <p:spPr>
          <a:xfrm>
            <a:off x="1005840" y="1920240"/>
            <a:ext cx="10180015" cy="1828800"/>
          </a:xfrm>
          <a:prstGeom prst="rect">
            <a:avLst/>
          </a:prstGeom>
          <a:noFill/>
          <a:ln/>
        </p:spPr>
        <p:txBody>
          <a:bodyPr wrap="square" lIns="0" tIns="0" rIns="0" bIns="0" rtlCol="0" anchor="ctr"/>
          <a:lstStyle/>
          <a:p>
            <a:pPr marL="0" indent="0">
              <a:buNone/>
            </a:pPr>
            <a:r>
              <a:rPr lang="en-US" sz="2200" dirty="0">
                <a:solidFill>
                  <a:schemeClr val="tx1"/>
                </a:solidFill>
              </a:rPr>
              <a:t>Il web server deve essere raggiungibile dall’esterno e, per tale ragione, costituisce la componente più esposta ad attacchi. Collocandolo in una DMZ, in caso di compromissione l’attaccante resta confinato in tale zona, senza poter raggiungere i PC della rete interna aziendale.</a:t>
            </a:r>
            <a:endParaRPr lang="en-US" sz="2200" dirty="0"/>
          </a:p>
        </p:txBody>
      </p:sp>
      <p:sp>
        <p:nvSpPr>
          <p:cNvPr id="6" name="quote-note"/>
          <p:cNvSpPr txBox="1"/>
          <p:nvPr/>
        </p:nvSpPr>
        <p:spPr>
          <a:xfrm>
            <a:off x="1005840" y="3931920"/>
            <a:ext cx="10180015" cy="731520"/>
          </a:xfrm>
          <a:prstGeom prst="rect">
            <a:avLst/>
          </a:prstGeom>
          <a:noFill/>
          <a:ln/>
        </p:spPr>
        <p:txBody>
          <a:bodyPr wrap="square" lIns="0" tIns="0" rIns="0" bIns="0" rtlCol="0" anchor="ctr"/>
          <a:lstStyle/>
          <a:p>
            <a:pPr marL="0" indent="0">
              <a:buNone/>
            </a:pPr>
            <a:r>
              <a:rPr lang="en-US" sz="1600" i="1" dirty="0">
                <a:solidFill>
                  <a:schemeClr val="accent1"/>
                </a:solidFill>
              </a:rPr>
              <a:t>Come indicato nel capitolo 1, il progetto prevede una sola DMZ, ubicata nell’edificio della Sede 1.</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2 · REGOLE DEL FIREWALL</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2.1.3 Regola Pass – traffico in uscita dalla LAN2/DMZ</a:t>
            </a:r>
            <a:endParaRPr lang="en-US" sz="3000" dirty="0"/>
          </a:p>
        </p:txBody>
      </p:sp>
      <p:pic>
        <p:nvPicPr>
          <p:cNvPr id="4" name="img-f3a" descr="Regola Pass, parte superiore"/>
          <p:cNvPicPr>
            <a:picLocks noChangeAspect="1"/>
          </p:cNvPicPr>
          <p:nvPr/>
        </p:nvPicPr>
        <p:blipFill>
          <a:blip r:embed="rId3"/>
          <a:stretch>
            <a:fillRect/>
          </a:stretch>
        </p:blipFill>
        <p:spPr>
          <a:xfrm>
            <a:off x="807825" y="1371600"/>
            <a:ext cx="4891677" cy="3566160"/>
          </a:xfrm>
          <a:prstGeom prst="rect">
            <a:avLst/>
          </a:prstGeom>
        </p:spPr>
      </p:pic>
      <p:pic>
        <p:nvPicPr>
          <p:cNvPr id="5" name="img-f3b" descr="Regola Pass, parte inferiore"/>
          <p:cNvPicPr>
            <a:picLocks noChangeAspect="1"/>
          </p:cNvPicPr>
          <p:nvPr/>
        </p:nvPicPr>
        <p:blipFill>
          <a:blip r:embed="rId4"/>
          <a:stretch>
            <a:fillRect/>
          </a:stretch>
        </p:blipFill>
        <p:spPr>
          <a:xfrm>
            <a:off x="6492193" y="1371600"/>
            <a:ext cx="4891677" cy="3566160"/>
          </a:xfrm>
          <a:prstGeom prst="rect">
            <a:avLst/>
          </a:prstGeom>
        </p:spPr>
      </p:pic>
      <p:sp>
        <p:nvSpPr>
          <p:cNvPr id="6" name="caption"/>
          <p:cNvSpPr txBox="1"/>
          <p:nvPr/>
        </p:nvSpPr>
        <p:spPr>
          <a:xfrm>
            <a:off x="548640" y="4983480"/>
            <a:ext cx="5410048"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3a – </a:t>
            </a:r>
            <a:r>
              <a:rPr lang="en-US" sz="1100" i="1" dirty="0">
                <a:solidFill>
                  <a:schemeClr val="accent4"/>
                </a:solidFill>
              </a:rPr>
              <a:t>Regola Pass (parte superiore)</a:t>
            </a:r>
            <a:endParaRPr lang="en-US" sz="1100" dirty="0"/>
          </a:p>
        </p:txBody>
      </p:sp>
      <p:sp>
        <p:nvSpPr>
          <p:cNvPr id="7" name="caption"/>
          <p:cNvSpPr txBox="1"/>
          <p:nvPr/>
        </p:nvSpPr>
        <p:spPr>
          <a:xfrm>
            <a:off x="6233008" y="4983480"/>
            <a:ext cx="5410048"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3b – </a:t>
            </a:r>
            <a:r>
              <a:rPr lang="en-US" sz="1100" i="1" dirty="0">
                <a:solidFill>
                  <a:schemeClr val="accent4"/>
                </a:solidFill>
              </a:rPr>
              <a:t>Regola Pass (parte inferiore)</a:t>
            </a:r>
            <a:endParaRPr lang="en-US" sz="1100" dirty="0"/>
          </a:p>
        </p:txBody>
      </p:sp>
      <p:sp>
        <p:nvSpPr>
          <p:cNvPr id="8" name="note-bg"/>
          <p:cNvSpPr/>
          <p:nvPr/>
        </p:nvSpPr>
        <p:spPr>
          <a:xfrm>
            <a:off x="548640" y="5440680"/>
            <a:ext cx="11094415" cy="731520"/>
          </a:xfrm>
          <a:prstGeom prst="roundRect">
            <a:avLst>
              <a:gd name="adj" fmla="val 10000"/>
            </a:avLst>
          </a:prstGeom>
          <a:solidFill>
            <a:srgbClr val="FEF2F2"/>
          </a:solidFill>
          <a:ln w="9525">
            <a:solidFill>
              <a:srgbClr val="FECACA"/>
            </a:solidFill>
            <a:prstDash val="solid"/>
          </a:ln>
        </p:spPr>
      </p:sp>
      <p:sp>
        <p:nvSpPr>
          <p:cNvPr id="9" name="note"/>
          <p:cNvSpPr txBox="1"/>
          <p:nvPr/>
        </p:nvSpPr>
        <p:spPr>
          <a:xfrm>
            <a:off x="777240" y="5532120"/>
            <a:ext cx="10637215" cy="548640"/>
          </a:xfrm>
          <a:prstGeom prst="rect">
            <a:avLst/>
          </a:prstGeom>
          <a:noFill/>
          <a:ln/>
        </p:spPr>
        <p:txBody>
          <a:bodyPr wrap="square" lIns="0" tIns="0" rIns="0" bIns="0" rtlCol="0" anchor="ctr"/>
          <a:lstStyle/>
          <a:p>
            <a:r>
              <a:rPr lang="en-US" sz="1300" b="1" dirty="0">
                <a:solidFill>
                  <a:schemeClr val="accent1"/>
                </a:solidFill>
              </a:rPr>
              <a:t>Nota.  </a:t>
            </a:r>
            <a:r>
              <a:rPr lang="en-US" sz="1300" dirty="0">
                <a:solidFill>
                  <a:schemeClr val="tx2"/>
                </a:solidFill>
              </a:rPr>
              <a:t>La </a:t>
            </a:r>
            <a:r>
              <a:rPr lang="en-US" sz="1300" dirty="0" err="1">
                <a:solidFill>
                  <a:schemeClr val="tx2"/>
                </a:solidFill>
              </a:rPr>
              <a:t>schermata</a:t>
            </a:r>
            <a:r>
              <a:rPr lang="en-US" sz="1300" dirty="0">
                <a:solidFill>
                  <a:schemeClr val="tx2"/>
                </a:solidFill>
              </a:rPr>
              <a:t> è </a:t>
            </a:r>
            <a:r>
              <a:rPr lang="en-US" sz="1300" dirty="0" err="1">
                <a:solidFill>
                  <a:schemeClr val="tx2"/>
                </a:solidFill>
              </a:rPr>
              <a:t>stata</a:t>
            </a:r>
            <a:r>
              <a:rPr lang="en-US" sz="1300" dirty="0">
                <a:solidFill>
                  <a:schemeClr val="tx2"/>
                </a:solidFill>
              </a:rPr>
              <a:t> </a:t>
            </a:r>
            <a:r>
              <a:rPr lang="en-US" sz="1300" dirty="0" err="1">
                <a:solidFill>
                  <a:schemeClr val="tx2"/>
                </a:solidFill>
              </a:rPr>
              <a:t>acquisita</a:t>
            </a:r>
            <a:r>
              <a:rPr lang="en-US" sz="1300" dirty="0">
                <a:solidFill>
                  <a:schemeClr val="tx2"/>
                </a:solidFill>
              </a:rPr>
              <a:t> prima </a:t>
            </a:r>
            <a:r>
              <a:rPr lang="en-US" sz="1300" dirty="0" err="1">
                <a:solidFill>
                  <a:schemeClr val="tx2"/>
                </a:solidFill>
              </a:rPr>
              <a:t>dell’abilitazione</a:t>
            </a:r>
            <a:r>
              <a:rPr lang="en-US" sz="1300" dirty="0">
                <a:solidFill>
                  <a:schemeClr val="tx2"/>
                </a:solidFill>
              </a:rPr>
              <a:t> </a:t>
            </a:r>
            <a:r>
              <a:rPr lang="en-US" sz="1300" dirty="0" err="1">
                <a:solidFill>
                  <a:schemeClr val="tx2"/>
                </a:solidFill>
              </a:rPr>
              <a:t>dell’opzione</a:t>
            </a:r>
            <a:r>
              <a:rPr lang="en-US" sz="1300" dirty="0">
                <a:solidFill>
                  <a:schemeClr val="tx2"/>
                </a:solidFill>
              </a:rPr>
              <a:t>. </a:t>
            </a:r>
            <a:r>
              <a:rPr lang="en-US" sz="1300" dirty="0" err="1">
                <a:solidFill>
                  <a:schemeClr val="tx2"/>
                </a:solidFill>
              </a:rPr>
              <a:t>L’opzione</a:t>
            </a:r>
            <a:r>
              <a:rPr lang="en-US" sz="1300" dirty="0">
                <a:solidFill>
                  <a:schemeClr val="tx2"/>
                </a:solidFill>
              </a:rPr>
              <a:t> è </a:t>
            </a:r>
            <a:r>
              <a:rPr lang="en-US" sz="1300" dirty="0" err="1">
                <a:solidFill>
                  <a:schemeClr val="tx2"/>
                </a:solidFill>
              </a:rPr>
              <a:t>stata</a:t>
            </a:r>
            <a:r>
              <a:rPr lang="en-US" sz="1300" dirty="0">
                <a:solidFill>
                  <a:schemeClr val="tx2"/>
                </a:solidFill>
              </a:rPr>
              <a:t> </a:t>
            </a:r>
            <a:r>
              <a:rPr lang="en-US" sz="1300" dirty="0" err="1">
                <a:solidFill>
                  <a:schemeClr val="tx2"/>
                </a:solidFill>
              </a:rPr>
              <a:t>attivata</a:t>
            </a:r>
            <a:r>
              <a:rPr lang="en-US" sz="1300" dirty="0">
                <a:solidFill>
                  <a:schemeClr val="tx2"/>
                </a:solidFill>
              </a:rPr>
              <a:t> </a:t>
            </a:r>
            <a:r>
              <a:rPr lang="en-US" sz="1300" dirty="0" err="1">
                <a:solidFill>
                  <a:schemeClr val="tx2"/>
                </a:solidFill>
              </a:rPr>
              <a:t>successivamente</a:t>
            </a:r>
            <a:r>
              <a:rPr lang="en-US" sz="1300" dirty="0">
                <a:solidFill>
                  <a:schemeClr val="tx2"/>
                </a:solidFill>
              </a:rPr>
              <a:t>.</a:t>
            </a:r>
            <a:endParaRPr lang="en-US" sz="1300" dirty="0">
              <a:solidFill>
                <a:schemeClr val="tx2"/>
              </a:solidFill>
              <a:ea typeface="Calibri"/>
              <a:cs typeface="Calibri"/>
            </a:endParaRPr>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2 · REGOLE DEL FIREWALL</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Regola Block – la DMZ non raggiunge la LAN interna</a:t>
            </a:r>
            <a:endParaRPr lang="en-US" sz="3000" dirty="0"/>
          </a:p>
        </p:txBody>
      </p:sp>
      <p:sp>
        <p:nvSpPr>
          <p:cNvPr id="4" name="intro"/>
          <p:cNvSpPr txBox="1"/>
          <p:nvPr/>
        </p:nvSpPr>
        <p:spPr>
          <a:xfrm>
            <a:off x="548640" y="1325880"/>
            <a:ext cx="11094415" cy="1051560"/>
          </a:xfrm>
          <a:prstGeom prst="rect">
            <a:avLst/>
          </a:prstGeom>
          <a:noFill/>
          <a:ln/>
        </p:spPr>
        <p:txBody>
          <a:bodyPr wrap="square" lIns="0" tIns="0" rIns="0" bIns="0" rtlCol="0" anchor="ctr"/>
          <a:lstStyle/>
          <a:p>
            <a:pPr marL="0" indent="0">
              <a:buNone/>
            </a:pPr>
            <a:r>
              <a:rPr lang="en-US" sz="1400" dirty="0">
                <a:solidFill>
                  <a:schemeClr val="tx2"/>
                </a:solidFill>
              </a:rPr>
              <a:t>È stata creata una regola Pass che consente il transito del traffico con sorgente LAN2 sia verso la LAN interna sia verso la WAN. Per ragioni di sicurezza, al di sopra di tale regola è stata inserita una regola Block che impedisce alla LAN2 di raggiungere la LAN interna. L’ordine è determinante: pfSense applica la prima regola che corrisponde al pacchetto, quindi il traffico DMZ → LAN viene bloccato prima di raggiungere la regola Pass.</a:t>
            </a:r>
            <a:endParaRPr lang="en-US" sz="1400" dirty="0"/>
          </a:p>
        </p:txBody>
      </p:sp>
      <p:pic>
        <p:nvPicPr>
          <p:cNvPr id="5" name="img-f4a" descr="Regola Block, parte superiore"/>
          <p:cNvPicPr>
            <a:picLocks noChangeAspect="1"/>
          </p:cNvPicPr>
          <p:nvPr/>
        </p:nvPicPr>
        <p:blipFill>
          <a:blip r:embed="rId3"/>
          <a:stretch>
            <a:fillRect/>
          </a:stretch>
        </p:blipFill>
        <p:spPr>
          <a:xfrm>
            <a:off x="764527" y="2514600"/>
            <a:ext cx="4978275" cy="3246120"/>
          </a:xfrm>
          <a:prstGeom prst="rect">
            <a:avLst/>
          </a:prstGeom>
        </p:spPr>
      </p:pic>
      <p:pic>
        <p:nvPicPr>
          <p:cNvPr id="6" name="img-f4b" descr="Regola Block, parte inferiore"/>
          <p:cNvPicPr>
            <a:picLocks noChangeAspect="1"/>
          </p:cNvPicPr>
          <p:nvPr/>
        </p:nvPicPr>
        <p:blipFill>
          <a:blip r:embed="rId4"/>
          <a:stretch>
            <a:fillRect/>
          </a:stretch>
        </p:blipFill>
        <p:spPr>
          <a:xfrm>
            <a:off x="6448894" y="2514600"/>
            <a:ext cx="4978275" cy="3246120"/>
          </a:xfrm>
          <a:prstGeom prst="rect">
            <a:avLst/>
          </a:prstGeom>
        </p:spPr>
      </p:pic>
      <p:sp>
        <p:nvSpPr>
          <p:cNvPr id="7" name="caption"/>
          <p:cNvSpPr txBox="1"/>
          <p:nvPr/>
        </p:nvSpPr>
        <p:spPr>
          <a:xfrm>
            <a:off x="548640" y="5852160"/>
            <a:ext cx="5410048"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4a – </a:t>
            </a:r>
            <a:r>
              <a:rPr lang="en-US" sz="1100" i="1" dirty="0">
                <a:solidFill>
                  <a:schemeClr val="accent4"/>
                </a:solidFill>
              </a:rPr>
              <a:t>Regola Block (parte superiore)</a:t>
            </a:r>
            <a:endParaRPr lang="en-US" sz="1100" dirty="0"/>
          </a:p>
        </p:txBody>
      </p:sp>
      <p:sp>
        <p:nvSpPr>
          <p:cNvPr id="8" name="caption"/>
          <p:cNvSpPr txBox="1"/>
          <p:nvPr/>
        </p:nvSpPr>
        <p:spPr>
          <a:xfrm>
            <a:off x="6233008" y="5852160"/>
            <a:ext cx="5410048"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4b – </a:t>
            </a:r>
            <a:r>
              <a:rPr lang="en-US" sz="1100" i="1" dirty="0">
                <a:solidFill>
                  <a:schemeClr val="accent4"/>
                </a:solidFill>
              </a:rPr>
              <a:t>Regola Block (parte inferiore)</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2 · REGOLE DEL FIREWALL</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2.1.4 Verifica del funzionamento – test di connettività</a:t>
            </a:r>
            <a:endParaRPr lang="en-US" sz="3000" dirty="0"/>
          </a:p>
        </p:txBody>
      </p:sp>
      <p:sp>
        <p:nvSpPr>
          <p:cNvPr id="4" name="intro"/>
          <p:cNvSpPr txBox="1"/>
          <p:nvPr/>
        </p:nvSpPr>
        <p:spPr>
          <a:xfrm>
            <a:off x="548640" y="1325880"/>
            <a:ext cx="11094415" cy="365760"/>
          </a:xfrm>
          <a:prstGeom prst="rect">
            <a:avLst/>
          </a:prstGeom>
          <a:noFill/>
          <a:ln/>
        </p:spPr>
        <p:txBody>
          <a:bodyPr wrap="square" lIns="0" tIns="0" rIns="0" bIns="0" rtlCol="0" anchor="ctr"/>
          <a:lstStyle/>
          <a:p>
            <a:pPr marL="0" indent="0">
              <a:buNone/>
            </a:pPr>
            <a:r>
              <a:rPr lang="en-US" sz="1500" dirty="0">
                <a:solidFill>
                  <a:schemeClr val="tx2"/>
                </a:solidFill>
              </a:rPr>
              <a:t>Il corretto isolamento è stato verificato mediante i test di seguito descritti.</a:t>
            </a:r>
            <a:endParaRPr lang="en-US" sz="1500" dirty="0"/>
          </a:p>
        </p:txBody>
      </p:sp>
      <p:pic>
        <p:nvPicPr>
          <p:cNvPr id="5" name="img-f5" descr="Test di connettività"/>
          <p:cNvPicPr>
            <a:picLocks noChangeAspect="1"/>
          </p:cNvPicPr>
          <p:nvPr/>
        </p:nvPicPr>
        <p:blipFill>
          <a:blip r:embed="rId3"/>
          <a:stretch>
            <a:fillRect/>
          </a:stretch>
        </p:blipFill>
        <p:spPr>
          <a:xfrm>
            <a:off x="548640" y="2023255"/>
            <a:ext cx="7315200" cy="3543010"/>
          </a:xfrm>
          <a:prstGeom prst="rect">
            <a:avLst/>
          </a:prstGeom>
        </p:spPr>
      </p:pic>
      <p:sp>
        <p:nvSpPr>
          <p:cNvPr id="6" name="body-text"/>
          <p:cNvSpPr txBox="1"/>
          <p:nvPr/>
        </p:nvSpPr>
        <p:spPr>
          <a:xfrm>
            <a:off x="8138160" y="1828800"/>
            <a:ext cx="3502152" cy="393192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1"/>
                </a:solidFill>
              </a:rPr>
              <a:t>A sinistra: </a:t>
            </a:r>
            <a:r>
              <a:rPr lang="en-US" sz="1500" dirty="0">
                <a:solidFill>
                  <a:schemeClr val="tx2"/>
                </a:solidFill>
              </a:rPr>
              <a:t>ping da Kali (LAN) verso il web server (192.168.2.100), con risposta corretta.</a:t>
            </a:r>
            <a:endParaRPr lang="en-US" sz="1500" dirty="0"/>
          </a:p>
          <a:p>
            <a:pPr marL="342900" indent="-342900">
              <a:spcAft>
                <a:spcPts val="800"/>
              </a:spcAft>
              <a:buSzPct val="100000"/>
              <a:buChar char="▪"/>
            </a:pPr>
            <a:r>
              <a:rPr lang="en-US" sz="1500" b="1" dirty="0">
                <a:solidFill>
                  <a:schemeClr val="tx1"/>
                </a:solidFill>
              </a:rPr>
              <a:t>A destra: </a:t>
            </a:r>
            <a:r>
              <a:rPr lang="en-US" sz="1500" dirty="0">
                <a:solidFill>
                  <a:schemeClr val="tx2"/>
                </a:solidFill>
              </a:rPr>
              <a:t>ping dal web server (DMZ) verso Kali (192.168.50.100), senza risposta (100% packet loss).</a:t>
            </a:r>
            <a:endParaRPr lang="en-US" sz="1500" dirty="0"/>
          </a:p>
          <a:p>
            <a:pPr marL="0" indent="0">
              <a:spcAft>
                <a:spcPts val="800"/>
              </a:spcAft>
              <a:buNone/>
            </a:pPr>
            <a:r>
              <a:rPr lang="en-US" sz="1500" dirty="0">
                <a:solidFill>
                  <a:schemeClr val="tx2"/>
                </a:solidFill>
              </a:rPr>
              <a:t>Il server in DMZ non raggiunge pertanto la rete interna.</a:t>
            </a:r>
            <a:endParaRPr lang="en-US" sz="1500" dirty="0"/>
          </a:p>
        </p:txBody>
      </p:sp>
      <p:sp>
        <p:nvSpPr>
          <p:cNvPr id="7" name="caption"/>
          <p:cNvSpPr txBox="1"/>
          <p:nvPr/>
        </p:nvSpPr>
        <p:spPr>
          <a:xfrm>
            <a:off x="548640" y="5897880"/>
            <a:ext cx="7315200"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5 – </a:t>
            </a:r>
            <a:r>
              <a:rPr lang="en-US" sz="1100" i="1" dirty="0">
                <a:solidFill>
                  <a:schemeClr val="accent4"/>
                </a:solidFill>
              </a:rPr>
              <a:t>Test di connettività tra LAN e DMZ.</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2 · REGOLE DEL FIREWALL</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Web server raggiungibile dalla LAN interna</a:t>
            </a:r>
            <a:endParaRPr lang="en-US" sz="3000" dirty="0"/>
          </a:p>
        </p:txBody>
      </p:sp>
      <p:pic>
        <p:nvPicPr>
          <p:cNvPr id="4" name="img-f6" descr="Pagina iniziale di Metasploitable 2"/>
          <p:cNvPicPr>
            <a:picLocks noChangeAspect="1"/>
          </p:cNvPicPr>
          <p:nvPr/>
        </p:nvPicPr>
        <p:blipFill>
          <a:blip r:embed="rId3"/>
          <a:stretch>
            <a:fillRect/>
          </a:stretch>
        </p:blipFill>
        <p:spPr>
          <a:xfrm>
            <a:off x="548640" y="1829743"/>
            <a:ext cx="6949440" cy="3564275"/>
          </a:xfrm>
          <a:prstGeom prst="rect">
            <a:avLst/>
          </a:prstGeom>
        </p:spPr>
      </p:pic>
      <p:sp>
        <p:nvSpPr>
          <p:cNvPr id="5" name="body-text"/>
          <p:cNvSpPr txBox="1"/>
          <p:nvPr/>
        </p:nvSpPr>
        <p:spPr>
          <a:xfrm>
            <a:off x="7863840" y="1463040"/>
            <a:ext cx="3776472" cy="2743200"/>
          </a:xfrm>
          <a:prstGeom prst="rect">
            <a:avLst/>
          </a:prstGeom>
          <a:noFill/>
          <a:ln/>
        </p:spPr>
        <p:txBody>
          <a:bodyPr wrap="square" lIns="0" tIns="0" rIns="0" bIns="0" rtlCol="0" anchor="t"/>
          <a:lstStyle/>
          <a:p>
            <a:pPr marL="0" indent="0">
              <a:buNone/>
            </a:pPr>
            <a:r>
              <a:rPr lang="en-US" sz="1600" dirty="0">
                <a:solidFill>
                  <a:schemeClr val="tx2"/>
                </a:solidFill>
              </a:rPr>
              <a:t>Dal browser di Kali è stata aperta correttamente la pagina del web server (http://192.168.2.100), che mostra la pagina iniziale di Metasploitable 2 con il collegamento a DVWA: il web server in DMZ risulta pertanto raggiungibile dalla LAN interna.</a:t>
            </a:r>
            <a:endParaRPr lang="en-US" sz="1600" dirty="0"/>
          </a:p>
        </p:txBody>
      </p:sp>
      <p:sp>
        <p:nvSpPr>
          <p:cNvPr id="6" name="caption"/>
          <p:cNvSpPr txBox="1"/>
          <p:nvPr/>
        </p:nvSpPr>
        <p:spPr>
          <a:xfrm>
            <a:off x="548640" y="5897880"/>
            <a:ext cx="6949440"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6 – </a:t>
            </a:r>
            <a:r>
              <a:rPr lang="en-US" sz="1100" i="1" dirty="0">
                <a:solidFill>
                  <a:schemeClr val="accent4"/>
                </a:solidFill>
              </a:rPr>
              <a:t>Pagina iniziale di Metasploitable 2 raggiunta dalla LAN interna.</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2 · REGOLE DEL FIREWALL</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Il blocco è confermato dai log del firewall</a:t>
            </a:r>
            <a:endParaRPr lang="en-US" sz="3000" dirty="0"/>
          </a:p>
        </p:txBody>
      </p:sp>
      <p:sp>
        <p:nvSpPr>
          <p:cNvPr id="4" name="body-text"/>
          <p:cNvSpPr txBox="1"/>
          <p:nvPr/>
        </p:nvSpPr>
        <p:spPr>
          <a:xfrm>
            <a:off x="548640" y="1463040"/>
            <a:ext cx="11094415" cy="1645920"/>
          </a:xfrm>
          <a:prstGeom prst="rect">
            <a:avLst/>
          </a:prstGeom>
          <a:noFill/>
          <a:ln/>
        </p:spPr>
        <p:txBody>
          <a:bodyPr wrap="square" lIns="0" tIns="0" rIns="0" bIns="0" rtlCol="0" anchor="ctr"/>
          <a:lstStyle/>
          <a:p>
            <a:pPr marL="0" indent="0">
              <a:buNone/>
            </a:pPr>
            <a:r>
              <a:rPr lang="en-US" sz="1600" dirty="0">
                <a:solidFill>
                  <a:schemeClr val="tx2"/>
                </a:solidFill>
              </a:rPr>
              <a:t>Nei log del firewall (Status / System Logs / Firewall) è presente il pacchetto ICMP inviato dalla macchina in DMZ (Metasploitable 2, 192.168.2.100) verso Kali (192.168.50.100), scartato sull’interfaccia LAN2 dalla regola “Blocco DMZ verso la LAN interna”. Il Tracking ID riportato nel log (1793013870) coincide con quello della regola Block illustrata in precedenza: ciò conferma che il mancato collegamento è imputabile alla regola del firewall e non ad altre cause.</a:t>
            </a:r>
            <a:endParaRPr lang="en-US" sz="1600" dirty="0"/>
          </a:p>
        </p:txBody>
      </p:sp>
      <p:pic>
        <p:nvPicPr>
          <p:cNvPr id="5" name="img-f7" descr="Voce di log del pacchetto ICMP scartato"/>
          <p:cNvPicPr>
            <a:picLocks noChangeAspect="1"/>
          </p:cNvPicPr>
          <p:nvPr/>
        </p:nvPicPr>
        <p:blipFill>
          <a:blip r:embed="rId3"/>
          <a:stretch>
            <a:fillRect/>
          </a:stretch>
        </p:blipFill>
        <p:spPr>
          <a:xfrm>
            <a:off x="548640" y="3547885"/>
            <a:ext cx="11094415" cy="950950"/>
          </a:xfrm>
          <a:prstGeom prst="rect">
            <a:avLst/>
          </a:prstGeom>
        </p:spPr>
      </p:pic>
      <p:sp>
        <p:nvSpPr>
          <p:cNvPr id="6" name="caption"/>
          <p:cNvSpPr txBox="1"/>
          <p:nvPr/>
        </p:nvSpPr>
        <p:spPr>
          <a:xfrm>
            <a:off x="548640" y="4800600"/>
            <a:ext cx="11094415"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7 – </a:t>
            </a:r>
            <a:r>
              <a:rPr lang="en-US" sz="1100" i="1" dirty="0">
                <a:solidFill>
                  <a:schemeClr val="accent4"/>
                </a:solidFill>
              </a:rPr>
              <a:t>Voce di log relativa al pacchetto ICMP scartato dalla regola Block.</a:t>
            </a:r>
            <a:endParaRPr lang="en-US" sz="1100" dirty="0"/>
          </a:p>
        </p:txBody>
      </p:sp>
      <p:sp>
        <p:nvSpPr>
          <p:cNvPr id="7" name="stat"/>
          <p:cNvSpPr txBox="1"/>
          <p:nvPr/>
        </p:nvSpPr>
        <p:spPr>
          <a:xfrm>
            <a:off x="548640" y="5303520"/>
            <a:ext cx="11094415" cy="548640"/>
          </a:xfrm>
          <a:prstGeom prst="rect">
            <a:avLst/>
          </a:prstGeom>
          <a:noFill/>
          <a:ln/>
        </p:spPr>
        <p:txBody>
          <a:bodyPr wrap="square" lIns="0" tIns="0" rIns="0" bIns="0" rtlCol="0" anchor="ctr"/>
          <a:lstStyle/>
          <a:p>
            <a:pPr marL="0" indent="0" algn="ctr">
              <a:buNone/>
            </a:pPr>
            <a:r>
              <a:rPr lang="en-US" sz="2400" b="1" dirty="0">
                <a:solidFill>
                  <a:schemeClr val="accent1"/>
                </a:solidFill>
                <a:latin typeface="Arial" pitchFamily="34" charset="0"/>
                <a:ea typeface="Arial" pitchFamily="34" charset="-122"/>
                <a:cs typeface="Arial" pitchFamily="34" charset="-120"/>
              </a:rPr>
              <a:t>Tracking ID 1793013870</a:t>
            </a:r>
            <a:endParaRPr lang="en-US" sz="2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2 · REGOLE DEL FIREWALL</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2.2 Estensione alla Sede 2</a:t>
            </a:r>
            <a:endParaRPr lang="en-US" sz="3000" dirty="0"/>
          </a:p>
        </p:txBody>
      </p:sp>
      <p:sp>
        <p:nvSpPr>
          <p:cNvPr id="4" name="intro"/>
          <p:cNvSpPr txBox="1"/>
          <p:nvPr/>
        </p:nvSpPr>
        <p:spPr>
          <a:xfrm>
            <a:off x="548640" y="1325880"/>
            <a:ext cx="11094415" cy="914400"/>
          </a:xfrm>
          <a:prstGeom prst="rect">
            <a:avLst/>
          </a:prstGeom>
          <a:noFill/>
          <a:ln/>
        </p:spPr>
        <p:txBody>
          <a:bodyPr wrap="square" lIns="0" tIns="0" rIns="0" bIns="0" rtlCol="0" anchor="ctr"/>
          <a:lstStyle/>
          <a:p>
            <a:pPr marL="0" indent="0">
              <a:buNone/>
            </a:pPr>
            <a:r>
              <a:rPr lang="en-US" sz="1500" dirty="0">
                <a:solidFill>
                  <a:schemeClr val="tx2"/>
                </a:solidFill>
              </a:rPr>
              <a:t>La Sede 2 (tre piani, 90 computer) adotta i medesimi criteri di sicurezza della Sede 1, senza una DMZ propria e senza un secondo firewall perimetrale: il traffico della Sede 2 verso Internet e verso il web server transita attraverso il Collapsed Core e il perimetro della Sede 1, ed è pertanto soggetto alle stesse regole.</a:t>
            </a:r>
            <a:endParaRPr lang="en-US" sz="1500" dirty="0"/>
          </a:p>
        </p:txBody>
      </p:sp>
      <p:sp>
        <p:nvSpPr>
          <p:cNvPr id="5" name="card"/>
          <p:cNvSpPr/>
          <p:nvPr/>
        </p:nvSpPr>
        <p:spPr>
          <a:xfrm>
            <a:off x="548640" y="2468880"/>
            <a:ext cx="3515258" cy="3383280"/>
          </a:xfrm>
          <a:prstGeom prst="roundRect">
            <a:avLst>
              <a:gd name="adj" fmla="val 2703"/>
            </a:avLst>
          </a:prstGeom>
          <a:solidFill>
            <a:schemeClr val="bg2"/>
          </a:solidFill>
          <a:ln w="12700">
            <a:solidFill>
              <a:schemeClr val="bg2"/>
            </a:solidFill>
            <a:prstDash val="solid"/>
          </a:ln>
        </p:spPr>
      </p:sp>
      <p:sp>
        <p:nvSpPr>
          <p:cNvPr id="6" name="badge"/>
          <p:cNvSpPr/>
          <p:nvPr/>
        </p:nvSpPr>
        <p:spPr>
          <a:xfrm>
            <a:off x="777240" y="2697480"/>
            <a:ext cx="457200" cy="457200"/>
          </a:xfrm>
          <a:prstGeom prst="ellipse">
            <a:avLst/>
          </a:prstGeom>
          <a:solidFill>
            <a:schemeClr val="accent1"/>
          </a:solidFill>
          <a:ln w="12700">
            <a:solidFill>
              <a:schemeClr val="accent1"/>
            </a:solidFill>
            <a:prstDash val="solid"/>
          </a:ln>
        </p:spPr>
      </p:sp>
      <p:sp>
        <p:nvSpPr>
          <p:cNvPr id="7" name="badge-num"/>
          <p:cNvSpPr txBox="1"/>
          <p:nvPr/>
        </p:nvSpPr>
        <p:spPr>
          <a:xfrm>
            <a:off x="777240" y="269748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8" name="card-head"/>
          <p:cNvSpPr txBox="1"/>
          <p:nvPr/>
        </p:nvSpPr>
        <p:spPr>
          <a:xfrm>
            <a:off x="1417320" y="2670048"/>
            <a:ext cx="2463698" cy="512064"/>
          </a:xfrm>
          <a:prstGeom prst="rect">
            <a:avLst/>
          </a:prstGeom>
          <a:noFill/>
          <a:ln/>
        </p:spPr>
        <p:txBody>
          <a:bodyPr wrap="square" lIns="0" tIns="0" rIns="0" bIns="0" rtlCol="0" anchor="ctr"/>
          <a:lstStyle/>
          <a:p>
            <a:pPr marL="0" indent="0">
              <a:buNone/>
            </a:pPr>
            <a:r>
              <a:rPr lang="en-US" sz="1600" b="1">
                <a:latin typeface="Arial"/>
                <a:ea typeface="Arial" pitchFamily="34" charset="-122"/>
                <a:cs typeface="Arial"/>
              </a:rPr>
              <a:t>Regola Block</a:t>
            </a:r>
            <a:endParaRPr lang="en-US" sz="1600" b="1">
              <a:latin typeface="Arial"/>
              <a:cs typeface="Arial"/>
            </a:endParaRPr>
          </a:p>
        </p:txBody>
      </p:sp>
      <p:sp>
        <p:nvSpPr>
          <p:cNvPr id="9" name="card-body"/>
          <p:cNvSpPr txBox="1"/>
          <p:nvPr/>
        </p:nvSpPr>
        <p:spPr>
          <a:xfrm>
            <a:off x="777240" y="3291840"/>
            <a:ext cx="3058058" cy="2423160"/>
          </a:xfrm>
          <a:prstGeom prst="rect">
            <a:avLst/>
          </a:prstGeom>
          <a:noFill/>
          <a:ln/>
        </p:spPr>
        <p:txBody>
          <a:bodyPr wrap="square" lIns="0" tIns="0" rIns="0" bIns="0" rtlCol="0" anchor="t"/>
          <a:lstStyle/>
          <a:p>
            <a:pPr marL="0" indent="0">
              <a:buNone/>
            </a:pPr>
            <a:r>
              <a:rPr lang="en-US" sz="1400" dirty="0">
                <a:solidFill>
                  <a:schemeClr val="tx2"/>
                </a:solidFill>
              </a:rPr>
              <a:t>La regola Block, che impedisce alla DMZ di raggiungere la rete interna, ha come destinazione l’insieme delle subnet interne di entrambe le sedi (&lt;reti_vlan_sede1&gt; e &lt;reti_vlan_sede2&gt;), e non la sola LAN della Sede 1.</a:t>
            </a:r>
            <a:endParaRPr lang="en-US" sz="1400" dirty="0"/>
          </a:p>
        </p:txBody>
      </p:sp>
      <p:sp>
        <p:nvSpPr>
          <p:cNvPr id="10" name="card"/>
          <p:cNvSpPr/>
          <p:nvPr/>
        </p:nvSpPr>
        <p:spPr>
          <a:xfrm>
            <a:off x="4338218" y="2468880"/>
            <a:ext cx="3515258" cy="3383280"/>
          </a:xfrm>
          <a:prstGeom prst="roundRect">
            <a:avLst>
              <a:gd name="adj" fmla="val 2703"/>
            </a:avLst>
          </a:prstGeom>
          <a:solidFill>
            <a:schemeClr val="bg2"/>
          </a:solidFill>
          <a:ln w="12700">
            <a:solidFill>
              <a:schemeClr val="bg2"/>
            </a:solidFill>
            <a:prstDash val="solid"/>
          </a:ln>
        </p:spPr>
      </p:sp>
      <p:sp>
        <p:nvSpPr>
          <p:cNvPr id="11" name="badge"/>
          <p:cNvSpPr/>
          <p:nvPr/>
        </p:nvSpPr>
        <p:spPr>
          <a:xfrm>
            <a:off x="4566818" y="2697480"/>
            <a:ext cx="457200" cy="457200"/>
          </a:xfrm>
          <a:prstGeom prst="ellipse">
            <a:avLst/>
          </a:prstGeom>
          <a:solidFill>
            <a:schemeClr val="accent1"/>
          </a:solidFill>
          <a:ln w="12700">
            <a:solidFill>
              <a:schemeClr val="accent1"/>
            </a:solidFill>
            <a:prstDash val="solid"/>
          </a:ln>
        </p:spPr>
      </p:sp>
      <p:sp>
        <p:nvSpPr>
          <p:cNvPr id="12" name="badge-num"/>
          <p:cNvSpPr txBox="1"/>
          <p:nvPr/>
        </p:nvSpPr>
        <p:spPr>
          <a:xfrm>
            <a:off x="4566818" y="269748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card-head"/>
          <p:cNvSpPr txBox="1"/>
          <p:nvPr/>
        </p:nvSpPr>
        <p:spPr>
          <a:xfrm>
            <a:off x="5206898" y="267004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Accesso al web server</a:t>
            </a:r>
            <a:endParaRPr lang="en-US" sz="1600" dirty="0"/>
          </a:p>
        </p:txBody>
      </p:sp>
      <p:sp>
        <p:nvSpPr>
          <p:cNvPr id="14" name="card-body"/>
          <p:cNvSpPr txBox="1"/>
          <p:nvPr/>
        </p:nvSpPr>
        <p:spPr>
          <a:xfrm>
            <a:off x="4566818" y="3291840"/>
            <a:ext cx="3058058" cy="2423160"/>
          </a:xfrm>
          <a:prstGeom prst="rect">
            <a:avLst/>
          </a:prstGeom>
          <a:noFill/>
          <a:ln/>
        </p:spPr>
        <p:txBody>
          <a:bodyPr wrap="square" lIns="0" tIns="0" rIns="0" bIns="0" rtlCol="0" anchor="t"/>
          <a:lstStyle/>
          <a:p>
            <a:pPr marL="0" indent="0">
              <a:buNone/>
            </a:pPr>
            <a:r>
              <a:rPr lang="en-US" sz="1400" dirty="0">
                <a:solidFill>
                  <a:schemeClr val="tx2"/>
                </a:solidFill>
              </a:rPr>
              <a:t>Le postazioni della Sede 2 (VLAN 70–90) raggiungono il web server in DMZ con le stesse modalità delle postazioni della Sede 1, come verificato per la LAN interna al paragrafo 2.1.4.</a:t>
            </a:r>
            <a:endParaRPr lang="en-US" sz="1400" dirty="0"/>
          </a:p>
        </p:txBody>
      </p:sp>
      <p:sp>
        <p:nvSpPr>
          <p:cNvPr id="15" name="card"/>
          <p:cNvSpPr/>
          <p:nvPr/>
        </p:nvSpPr>
        <p:spPr>
          <a:xfrm>
            <a:off x="8127797" y="2468880"/>
            <a:ext cx="3515258" cy="3383280"/>
          </a:xfrm>
          <a:prstGeom prst="roundRect">
            <a:avLst>
              <a:gd name="adj" fmla="val 2703"/>
            </a:avLst>
          </a:prstGeom>
          <a:solidFill>
            <a:schemeClr val="bg2"/>
          </a:solidFill>
          <a:ln w="12700">
            <a:solidFill>
              <a:schemeClr val="bg2"/>
            </a:solidFill>
            <a:prstDash val="solid"/>
          </a:ln>
        </p:spPr>
      </p:sp>
      <p:sp>
        <p:nvSpPr>
          <p:cNvPr id="16" name="badge"/>
          <p:cNvSpPr/>
          <p:nvPr/>
        </p:nvSpPr>
        <p:spPr>
          <a:xfrm>
            <a:off x="8356397" y="2697480"/>
            <a:ext cx="457200" cy="457200"/>
          </a:xfrm>
          <a:prstGeom prst="ellipse">
            <a:avLst/>
          </a:prstGeom>
          <a:solidFill>
            <a:schemeClr val="accent1"/>
          </a:solidFill>
          <a:ln w="12700">
            <a:solidFill>
              <a:schemeClr val="accent1"/>
            </a:solidFill>
            <a:prstDash val="solid"/>
          </a:ln>
        </p:spPr>
      </p:sp>
      <p:sp>
        <p:nvSpPr>
          <p:cNvPr id="17" name="badge-num"/>
          <p:cNvSpPr txBox="1"/>
          <p:nvPr/>
        </p:nvSpPr>
        <p:spPr>
          <a:xfrm>
            <a:off x="8356397" y="269748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8" name="card-head"/>
          <p:cNvSpPr txBox="1"/>
          <p:nvPr/>
        </p:nvSpPr>
        <p:spPr>
          <a:xfrm>
            <a:off x="8996477" y="267004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DMZ sempre isolata</a:t>
            </a:r>
            <a:endParaRPr lang="en-US" sz="1600" dirty="0"/>
          </a:p>
        </p:txBody>
      </p:sp>
      <p:sp>
        <p:nvSpPr>
          <p:cNvPr id="19" name="card-body"/>
          <p:cNvSpPr txBox="1"/>
          <p:nvPr/>
        </p:nvSpPr>
        <p:spPr>
          <a:xfrm>
            <a:off x="8356397" y="3291840"/>
            <a:ext cx="3058058" cy="2423160"/>
          </a:xfrm>
          <a:prstGeom prst="rect">
            <a:avLst/>
          </a:prstGeom>
          <a:noFill/>
          <a:ln/>
        </p:spPr>
        <p:txBody>
          <a:bodyPr wrap="square" lIns="0" tIns="0" rIns="0" bIns="0" rtlCol="0" anchor="t"/>
          <a:lstStyle/>
          <a:p>
            <a:pPr marL="0" indent="0">
              <a:buNone/>
            </a:pPr>
            <a:r>
              <a:rPr lang="en-US" sz="1400" dirty="0">
                <a:solidFill>
                  <a:schemeClr val="tx2"/>
                </a:solidFill>
              </a:rPr>
              <a:t>Il traffico originato dalla DMZ resta bloccato verso qualsiasi rete interna, indipendentemente dalla sede di destinazione.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463040"/>
          </a:xfrm>
          <a:prstGeom prst="rect">
            <a:avLst/>
          </a:prstGeom>
          <a:noFill/>
          <a:ln/>
        </p:spPr>
        <p:txBody>
          <a:bodyPr wrap="square" lIns="0" tIns="0" rIns="0" bIns="0" rtlCol="0"/>
          <a:lstStyle/>
          <a:p>
            <a:pPr marL="0" indent="0" algn="l">
              <a:buNone/>
            </a:pPr>
            <a:r>
              <a:rPr lang="en-US" sz="9600" b="1" dirty="0">
                <a:solidFill>
                  <a:schemeClr val="accent3"/>
                </a:solidFill>
                <a:latin typeface="Arial" pitchFamily="34" charset="0"/>
                <a:ea typeface="Arial" pitchFamily="34" charset="-122"/>
                <a:cs typeface="Arial" pitchFamily="34" charset="-120"/>
              </a:rPr>
              <a:t>03</a:t>
            </a:r>
            <a:endParaRPr lang="en-US" sz="9600" dirty="0"/>
          </a:p>
        </p:txBody>
      </p:sp>
      <p:sp>
        <p:nvSpPr>
          <p:cNvPr id="3" name="Text 0"/>
          <p:cNvSpPr>
            <a:spLocks noGrp="1"/>
          </p:cNvSpPr>
          <p:nvPr>
            <p:ph type="title" idx="101" hasCustomPrompt="1"/>
          </p:nvPr>
        </p:nvSpPr>
        <p:spPr>
          <a:xfrm>
            <a:off x="548640" y="2651760"/>
            <a:ext cx="6583680" cy="1097280"/>
          </a:xfrm>
          <a:prstGeom prst="rect">
            <a:avLst/>
          </a:prstGeom>
          <a:noFill/>
          <a:ln/>
        </p:spPr>
        <p:txBody>
          <a:bodyPr wrap="square" lIns="0" tIns="0" rIns="0" bIns="0" rtlCol="0" anchor="t"/>
          <a:lstStyle/>
          <a:p>
            <a:pPr marL="0" indent="0" algn="l">
              <a:buNone/>
            </a:pPr>
            <a:r>
              <a:rPr lang="en-US" sz="4000" b="1" dirty="0">
                <a:solidFill>
                  <a:schemeClr val="bg1"/>
                </a:solidFill>
                <a:latin typeface="Arial" pitchFamily="34" charset="0"/>
                <a:ea typeface="Arial" pitchFamily="34" charset="-122"/>
                <a:cs typeface="Arial" pitchFamily="34" charset="-120"/>
              </a:rPr>
              <a:t>ZMAP: il toolkit di rete</a:t>
            </a:r>
            <a:endParaRPr lang="en-US" sz="4000" dirty="0"/>
          </a:p>
        </p:txBody>
      </p:sp>
      <p:sp>
        <p:nvSpPr>
          <p:cNvPr id="4" name="Text 0"/>
          <p:cNvSpPr>
            <a:spLocks noGrp="1"/>
          </p:cNvSpPr>
          <p:nvPr>
            <p:ph type="body" idx="102" hasCustomPrompt="1"/>
          </p:nvPr>
        </p:nvSpPr>
        <p:spPr>
          <a:xfrm>
            <a:off x="7589520" y="1280160"/>
            <a:ext cx="4023360" cy="4389120"/>
          </a:xfrm>
          <a:prstGeom prst="rect">
            <a:avLst/>
          </a:prstGeom>
          <a:noFill/>
          <a:ln/>
        </p:spPr>
        <p:txBody>
          <a:bodyPr wrap="square" lIns="0" tIns="0" rIns="0" bIns="0" rtlCol="0" anchor="ctr"/>
          <a:lstStyle/>
          <a:p>
            <a:pPr marL="0" indent="0" algn="l">
              <a:spcAft>
                <a:spcPts val="800"/>
              </a:spcAft>
              <a:buNone/>
            </a:pPr>
            <a:r>
              <a:rPr lang="en-US" sz="1500" dirty="0">
                <a:solidFill>
                  <a:schemeClr val="accent5"/>
                </a:solidFill>
              </a:rPr>
              <a:t>3.1 Introduzione</a:t>
            </a:r>
            <a:endParaRPr lang="en-US" sz="1500" dirty="0"/>
          </a:p>
          <a:p>
            <a:pPr marL="0" indent="0" algn="l">
              <a:spcAft>
                <a:spcPts val="800"/>
              </a:spcAft>
              <a:buNone/>
            </a:pPr>
            <a:r>
              <a:rPr lang="en-US" sz="1500" dirty="0">
                <a:solidFill>
                  <a:schemeClr val="accent5"/>
                </a:solidFill>
              </a:rPr>
              <a:t>3.2 Librerie utilizzate</a:t>
            </a:r>
            <a:endParaRPr lang="en-US" sz="1500" dirty="0"/>
          </a:p>
          <a:p>
            <a:pPr marL="0" indent="0" algn="l">
              <a:spcAft>
                <a:spcPts val="800"/>
              </a:spcAft>
              <a:buNone/>
            </a:pPr>
            <a:r>
              <a:rPr lang="en-US" sz="1500" dirty="0">
                <a:solidFill>
                  <a:schemeClr val="accent5"/>
                </a:solidFill>
              </a:rPr>
              <a:t>3.3 Struttura generale del programma</a:t>
            </a:r>
            <a:endParaRPr lang="en-US" sz="1500" dirty="0"/>
          </a:p>
          <a:p>
            <a:pPr marL="0" indent="0" algn="l">
              <a:spcAft>
                <a:spcPts val="800"/>
              </a:spcAft>
              <a:buNone/>
            </a:pPr>
            <a:r>
              <a:rPr lang="en-US" sz="1500" dirty="0">
                <a:solidFill>
                  <a:schemeClr val="accent5"/>
                </a:solidFill>
              </a:rPr>
              <a:t>3.4 Descrizione delle funzioni</a:t>
            </a:r>
            <a:endParaRPr lang="en-US" sz="1500" dirty="0"/>
          </a:p>
          <a:p>
            <a:pPr marL="0" indent="0" algn="l">
              <a:spcAft>
                <a:spcPts val="800"/>
              </a:spcAft>
              <a:buNone/>
            </a:pPr>
            <a:r>
              <a:rPr lang="en-US" sz="1500" dirty="0">
                <a:solidFill>
                  <a:schemeClr val="accent5"/>
                </a:solidFill>
              </a:rPr>
              <a:t>3.5 Blocco principale e menu</a:t>
            </a:r>
            <a:endParaRPr lang="en-US" sz="1500" dirty="0"/>
          </a:p>
          <a:p>
            <a:pPr marL="0" indent="0" algn="l">
              <a:spcAft>
                <a:spcPts val="800"/>
              </a:spcAft>
              <a:buNone/>
            </a:pPr>
            <a:r>
              <a:rPr lang="en-US" sz="1500" dirty="0">
                <a:solidFill>
                  <a:schemeClr val="accent5"/>
                </a:solidFill>
              </a:rPr>
              <a:t>3.6 Uso etico e legale</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3 · ZMAP: IL TOOLKIT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3.1 Introduzione  ·  3.3 Struttura generale</a:t>
            </a:r>
            <a:endParaRPr lang="en-US" sz="3000" dirty="0"/>
          </a:p>
        </p:txBody>
      </p:sp>
      <p:sp>
        <p:nvSpPr>
          <p:cNvPr id="4" name="body-text"/>
          <p:cNvSpPr txBox="1"/>
          <p:nvPr/>
        </p:nvSpPr>
        <p:spPr>
          <a:xfrm>
            <a:off x="548640" y="1417320"/>
            <a:ext cx="6583680" cy="4663440"/>
          </a:xfrm>
          <a:prstGeom prst="rect">
            <a:avLst/>
          </a:prstGeom>
          <a:noFill/>
          <a:ln/>
        </p:spPr>
        <p:txBody>
          <a:bodyPr wrap="square" lIns="0" tIns="0" rIns="0" bIns="0" rtlCol="0" anchor="t"/>
          <a:lstStyle/>
          <a:p>
            <a:pPr marL="0" indent="0">
              <a:spcAft>
                <a:spcPts val="800"/>
              </a:spcAft>
              <a:buNone/>
            </a:pPr>
            <a:r>
              <a:rPr lang="en-US" sz="1500" dirty="0">
                <a:solidFill>
                  <a:schemeClr val="tx2"/>
                </a:solidFill>
              </a:rPr>
              <a:t>Zmap è un programma scritto in Python che consente di eseguire: verifica della raggiungibilità di un host, scansione di una subnet, interrogazione DNS, elenco delle interfacce di rete, scansione delle porte TCP e test del protocollo HTTP.</a:t>
            </a:r>
            <a:endParaRPr lang="en-US" sz="1500" dirty="0"/>
          </a:p>
          <a:p>
            <a:pPr marL="0" indent="0">
              <a:spcAft>
                <a:spcPts val="800"/>
              </a:spcAft>
              <a:buNone/>
            </a:pPr>
            <a:r>
              <a:rPr lang="en-US" sz="1500" dirty="0">
                <a:solidFill>
                  <a:schemeClr val="tx2"/>
                </a:solidFill>
              </a:rPr>
              <a:t>Lo strumento è stato sviluppato integralmente da zero, senza ricorrere a strumenti esistenti quali nmap.</a:t>
            </a:r>
            <a:endParaRPr lang="en-US" sz="1500" dirty="0"/>
          </a:p>
          <a:p>
            <a:pPr marL="0" indent="0">
              <a:spcBef>
                <a:spcPts val="600"/>
              </a:spcBef>
              <a:spcAft>
                <a:spcPts val="400"/>
              </a:spcAft>
              <a:buNone/>
            </a:pPr>
            <a:r>
              <a:rPr lang="en-US" sz="1500" b="1" dirty="0">
                <a:solidFill>
                  <a:schemeClr val="accent1"/>
                </a:solidFill>
              </a:rPr>
              <a:t>Struttura semplice e modulare</a:t>
            </a:r>
            <a:endParaRPr lang="en-US" sz="1500" dirty="0"/>
          </a:p>
          <a:p>
            <a:pPr marL="342900" indent="-342900">
              <a:spcAft>
                <a:spcPts val="800"/>
              </a:spcAft>
              <a:buSzPct val="100000"/>
              <a:buChar char="▪"/>
            </a:pPr>
            <a:r>
              <a:rPr lang="en-US" sz="1500" b="1" dirty="0">
                <a:solidFill>
                  <a:schemeClr val="tx1"/>
                </a:solidFill>
              </a:rPr>
              <a:t>Una funzione per ogni funzionalità </a:t>
            </a:r>
            <a:r>
              <a:rPr lang="en-US" sz="1500" dirty="0">
                <a:solidFill>
                  <a:schemeClr val="tx2"/>
                </a:solidFill>
              </a:rPr>
              <a:t>(ping, scan, dns_lookup, list_interfaces, port_scan, http_test) più una funzione per il titolo (print_title);</a:t>
            </a:r>
            <a:endParaRPr lang="en-US" sz="1500" dirty="0"/>
          </a:p>
          <a:p>
            <a:pPr marL="342900" indent="-342900">
              <a:spcAft>
                <a:spcPts val="800"/>
              </a:spcAft>
              <a:buSzPct val="100000"/>
              <a:buChar char="▪"/>
            </a:pPr>
            <a:r>
              <a:rPr lang="en-US" sz="1500" b="1" dirty="0">
                <a:solidFill>
                  <a:schemeClr val="tx1"/>
                </a:solidFill>
              </a:rPr>
              <a:t>un blocco principale </a:t>
            </a:r>
            <a:r>
              <a:rPr lang="en-US" sz="1500" dirty="0">
                <a:solidFill>
                  <a:schemeClr val="tx2"/>
                </a:solidFill>
              </a:rPr>
              <a:t>(if __name__ == "__main__":) che mostra il titolo, presenta un menu numerato in un ciclo while True e richiama la funzione corrispondente alla scelta. Il ciclo prosegue fino all’opzione 7 (Esci), che interrompe il while con break.</a:t>
            </a:r>
            <a:endParaRPr lang="en-US" sz="1500" dirty="0"/>
          </a:p>
        </p:txBody>
      </p:sp>
      <p:sp>
        <p:nvSpPr>
          <p:cNvPr id="5" name="card"/>
          <p:cNvSpPr/>
          <p:nvPr/>
        </p:nvSpPr>
        <p:spPr>
          <a:xfrm>
            <a:off x="7498080" y="1463040"/>
            <a:ext cx="4142232" cy="4434840"/>
          </a:xfrm>
          <a:prstGeom prst="roundRect">
            <a:avLst>
              <a:gd name="adj" fmla="val 2208"/>
            </a:avLst>
          </a:prstGeom>
          <a:solidFill>
            <a:schemeClr val="bg2"/>
          </a:solidFill>
          <a:ln w="12700">
            <a:solidFill>
              <a:schemeClr val="bg2"/>
            </a:solidFill>
            <a:prstDash val="solid"/>
          </a:ln>
        </p:spPr>
      </p:sp>
      <p:sp>
        <p:nvSpPr>
          <p:cNvPr id="6" name="card-head"/>
          <p:cNvSpPr txBox="1"/>
          <p:nvPr/>
        </p:nvSpPr>
        <p:spPr>
          <a:xfrm>
            <a:off x="7772400" y="1645920"/>
            <a:ext cx="3657600" cy="365760"/>
          </a:xfrm>
          <a:prstGeom prst="rect">
            <a:avLst/>
          </a:prstGeom>
          <a:noFill/>
          <a:ln/>
        </p:spPr>
        <p:txBody>
          <a:bodyPr wrap="square" lIns="0" tIns="0" rIns="0" bIns="0" rtlCol="0" anchor="ctr"/>
          <a:lstStyle/>
          <a:p>
            <a:pPr marL="0" indent="0">
              <a:buNone/>
            </a:pPr>
            <a:r>
              <a:rPr lang="en-US" sz="1600" b="1" dirty="0">
                <a:solidFill>
                  <a:schemeClr val="tx1"/>
                </a:solidFill>
              </a:rPr>
              <a:t>Convenzione dei colori</a:t>
            </a:r>
            <a:endParaRPr lang="en-US" sz="1600" dirty="0"/>
          </a:p>
        </p:txBody>
      </p:sp>
      <p:sp>
        <p:nvSpPr>
          <p:cNvPr id="7" name="swatch"/>
          <p:cNvSpPr/>
          <p:nvPr/>
        </p:nvSpPr>
        <p:spPr>
          <a:xfrm>
            <a:off x="7772400" y="2194560"/>
            <a:ext cx="365760" cy="365760"/>
          </a:xfrm>
          <a:prstGeom prst="ellipse">
            <a:avLst/>
          </a:prstGeom>
          <a:solidFill>
            <a:srgbClr val="16A34A"/>
          </a:solidFill>
          <a:ln w="9525">
            <a:solidFill>
              <a:srgbClr val="9CA3AF"/>
            </a:solidFill>
            <a:prstDash val="solid"/>
          </a:ln>
        </p:spPr>
      </p:sp>
      <p:sp>
        <p:nvSpPr>
          <p:cNvPr id="8" name="swatch-label"/>
          <p:cNvSpPr txBox="1"/>
          <p:nvPr/>
        </p:nvSpPr>
        <p:spPr>
          <a:xfrm>
            <a:off x="8321040" y="2148840"/>
            <a:ext cx="3200400" cy="457200"/>
          </a:xfrm>
          <a:prstGeom prst="rect">
            <a:avLst/>
          </a:prstGeom>
          <a:noFill/>
          <a:ln/>
        </p:spPr>
        <p:txBody>
          <a:bodyPr wrap="square" lIns="0" tIns="0" rIns="0" bIns="0" rtlCol="0" anchor="ctr"/>
          <a:lstStyle/>
          <a:p>
            <a:pPr marL="0" indent="0">
              <a:buNone/>
            </a:pPr>
            <a:r>
              <a:rPr lang="en-US" sz="1500" b="1" dirty="0">
                <a:solidFill>
                  <a:schemeClr val="tx1"/>
                </a:solidFill>
              </a:rPr>
              <a:t>Verde  </a:t>
            </a:r>
            <a:r>
              <a:rPr lang="en-US" sz="1500" dirty="0">
                <a:solidFill>
                  <a:schemeClr val="tx2"/>
                </a:solidFill>
              </a:rPr>
              <a:t>operazioni riuscite</a:t>
            </a:r>
            <a:endParaRPr lang="en-US" sz="1500" dirty="0"/>
          </a:p>
        </p:txBody>
      </p:sp>
      <p:sp>
        <p:nvSpPr>
          <p:cNvPr id="9" name="swatch"/>
          <p:cNvSpPr/>
          <p:nvPr/>
        </p:nvSpPr>
        <p:spPr>
          <a:xfrm>
            <a:off x="7772400" y="2788920"/>
            <a:ext cx="365760" cy="365760"/>
          </a:xfrm>
          <a:prstGeom prst="ellipse">
            <a:avLst/>
          </a:prstGeom>
          <a:solidFill>
            <a:srgbClr val="DC2626"/>
          </a:solidFill>
          <a:ln w="9525">
            <a:solidFill>
              <a:srgbClr val="9CA3AF"/>
            </a:solidFill>
            <a:prstDash val="solid"/>
          </a:ln>
        </p:spPr>
      </p:sp>
      <p:sp>
        <p:nvSpPr>
          <p:cNvPr id="10" name="swatch-label"/>
          <p:cNvSpPr txBox="1"/>
          <p:nvPr/>
        </p:nvSpPr>
        <p:spPr>
          <a:xfrm>
            <a:off x="8321040" y="2743200"/>
            <a:ext cx="3200400" cy="457200"/>
          </a:xfrm>
          <a:prstGeom prst="rect">
            <a:avLst/>
          </a:prstGeom>
          <a:noFill/>
          <a:ln/>
        </p:spPr>
        <p:txBody>
          <a:bodyPr wrap="square" lIns="0" tIns="0" rIns="0" bIns="0" rtlCol="0" anchor="ctr"/>
          <a:lstStyle/>
          <a:p>
            <a:pPr marL="0" indent="0">
              <a:buNone/>
            </a:pPr>
            <a:r>
              <a:rPr lang="en-US" sz="1500" b="1" dirty="0">
                <a:solidFill>
                  <a:schemeClr val="tx1"/>
                </a:solidFill>
              </a:rPr>
              <a:t>Rosso  </a:t>
            </a:r>
            <a:r>
              <a:rPr lang="en-US" sz="1500" dirty="0">
                <a:solidFill>
                  <a:schemeClr val="tx2"/>
                </a:solidFill>
              </a:rPr>
              <a:t>errori o esiti negativi</a:t>
            </a:r>
            <a:endParaRPr lang="en-US" sz="1500" dirty="0"/>
          </a:p>
        </p:txBody>
      </p:sp>
      <p:sp>
        <p:nvSpPr>
          <p:cNvPr id="11" name="swatch"/>
          <p:cNvSpPr/>
          <p:nvPr/>
        </p:nvSpPr>
        <p:spPr>
          <a:xfrm>
            <a:off x="7772400" y="3383280"/>
            <a:ext cx="365760" cy="365760"/>
          </a:xfrm>
          <a:prstGeom prst="ellipse">
            <a:avLst/>
          </a:prstGeom>
          <a:solidFill>
            <a:srgbClr val="2563EB"/>
          </a:solidFill>
          <a:ln w="9525">
            <a:solidFill>
              <a:srgbClr val="9CA3AF"/>
            </a:solidFill>
            <a:prstDash val="solid"/>
          </a:ln>
        </p:spPr>
      </p:sp>
      <p:sp>
        <p:nvSpPr>
          <p:cNvPr id="12" name="swatch-label"/>
          <p:cNvSpPr txBox="1"/>
          <p:nvPr/>
        </p:nvSpPr>
        <p:spPr>
          <a:xfrm>
            <a:off x="8321040" y="3337560"/>
            <a:ext cx="3200400" cy="457200"/>
          </a:xfrm>
          <a:prstGeom prst="rect">
            <a:avLst/>
          </a:prstGeom>
          <a:noFill/>
          <a:ln/>
        </p:spPr>
        <p:txBody>
          <a:bodyPr wrap="square" lIns="0" tIns="0" rIns="0" bIns="0" rtlCol="0" anchor="ctr"/>
          <a:lstStyle/>
          <a:p>
            <a:pPr marL="0" indent="0">
              <a:buNone/>
            </a:pPr>
            <a:r>
              <a:rPr lang="en-US" sz="1500" b="1" dirty="0">
                <a:solidFill>
                  <a:schemeClr val="tx1"/>
                </a:solidFill>
              </a:rPr>
              <a:t>Blu  </a:t>
            </a:r>
            <a:r>
              <a:rPr lang="en-US" sz="1500" dirty="0">
                <a:solidFill>
                  <a:schemeClr val="tx2"/>
                </a:solidFill>
              </a:rPr>
              <a:t>titoli e messaggi informativi</a:t>
            </a:r>
            <a:endParaRPr lang="en-US" sz="1500" dirty="0"/>
          </a:p>
        </p:txBody>
      </p:sp>
      <p:sp>
        <p:nvSpPr>
          <p:cNvPr id="13" name="swatch"/>
          <p:cNvSpPr/>
          <p:nvPr/>
        </p:nvSpPr>
        <p:spPr>
          <a:xfrm>
            <a:off x="7772400" y="3977640"/>
            <a:ext cx="365760" cy="365760"/>
          </a:xfrm>
          <a:prstGeom prst="ellipse">
            <a:avLst/>
          </a:prstGeom>
          <a:solidFill>
            <a:srgbClr val="FFFFFF"/>
          </a:solidFill>
          <a:ln w="9525">
            <a:solidFill>
              <a:srgbClr val="9CA3AF"/>
            </a:solidFill>
            <a:prstDash val="solid"/>
          </a:ln>
        </p:spPr>
      </p:sp>
      <p:sp>
        <p:nvSpPr>
          <p:cNvPr id="14" name="swatch-label"/>
          <p:cNvSpPr txBox="1"/>
          <p:nvPr/>
        </p:nvSpPr>
        <p:spPr>
          <a:xfrm>
            <a:off x="8321040" y="3931920"/>
            <a:ext cx="3200400" cy="457200"/>
          </a:xfrm>
          <a:prstGeom prst="rect">
            <a:avLst/>
          </a:prstGeom>
          <a:noFill/>
          <a:ln/>
        </p:spPr>
        <p:txBody>
          <a:bodyPr wrap="square" lIns="0" tIns="0" rIns="0" bIns="0" rtlCol="0" anchor="ctr"/>
          <a:lstStyle/>
          <a:p>
            <a:pPr marL="0" indent="0">
              <a:buNone/>
            </a:pPr>
            <a:r>
              <a:rPr lang="en-US" sz="1500" b="1" dirty="0">
                <a:solidFill>
                  <a:schemeClr val="tx1"/>
                </a:solidFill>
              </a:rPr>
              <a:t>Bianco  </a:t>
            </a:r>
            <a:r>
              <a:rPr lang="en-US" sz="1500" dirty="0">
                <a:solidFill>
                  <a:schemeClr val="tx2"/>
                </a:solidFill>
              </a:rPr>
              <a:t>richieste di input</a:t>
            </a:r>
            <a:endParaRPr lang="en-US" sz="1500" dirty="0"/>
          </a:p>
        </p:txBody>
      </p:sp>
      <p:sp>
        <p:nvSpPr>
          <p:cNvPr id="15" name="swatch"/>
          <p:cNvSpPr/>
          <p:nvPr/>
        </p:nvSpPr>
        <p:spPr>
          <a:xfrm>
            <a:off x="7772400" y="4572000"/>
            <a:ext cx="365760" cy="365760"/>
          </a:xfrm>
          <a:prstGeom prst="ellipse">
            <a:avLst/>
          </a:prstGeom>
          <a:solidFill>
            <a:srgbClr val="0891B2"/>
          </a:solidFill>
          <a:ln w="9525">
            <a:solidFill>
              <a:srgbClr val="9CA3AF"/>
            </a:solidFill>
            <a:prstDash val="solid"/>
          </a:ln>
        </p:spPr>
      </p:sp>
      <p:sp>
        <p:nvSpPr>
          <p:cNvPr id="16" name="swatch-label"/>
          <p:cNvSpPr txBox="1"/>
          <p:nvPr/>
        </p:nvSpPr>
        <p:spPr>
          <a:xfrm>
            <a:off x="8321040" y="4526280"/>
            <a:ext cx="3200400" cy="457200"/>
          </a:xfrm>
          <a:prstGeom prst="rect">
            <a:avLst/>
          </a:prstGeom>
          <a:noFill/>
          <a:ln/>
        </p:spPr>
        <p:txBody>
          <a:bodyPr wrap="square" lIns="0" tIns="0" rIns="0" bIns="0" rtlCol="0" anchor="ctr"/>
          <a:lstStyle/>
          <a:p>
            <a:pPr marL="0" indent="0">
              <a:buNone/>
            </a:pPr>
            <a:r>
              <a:rPr lang="en-US" sz="1500" b="1" dirty="0">
                <a:solidFill>
                  <a:schemeClr val="tx1"/>
                </a:solidFill>
              </a:rPr>
              <a:t>Ciano  </a:t>
            </a:r>
            <a:r>
              <a:rPr lang="en-US" sz="1500" dirty="0">
                <a:solidFill>
                  <a:schemeClr val="tx2"/>
                </a:solidFill>
              </a:rPr>
              <a:t>intestazioni</a:t>
            </a:r>
            <a:endParaRPr lang="en-US" sz="1500" dirty="0"/>
          </a:p>
        </p:txBody>
      </p:sp>
      <p:sp>
        <p:nvSpPr>
          <p:cNvPr id="17" name="swatch"/>
          <p:cNvSpPr/>
          <p:nvPr/>
        </p:nvSpPr>
        <p:spPr>
          <a:xfrm>
            <a:off x="7772400" y="5166360"/>
            <a:ext cx="365760" cy="365760"/>
          </a:xfrm>
          <a:prstGeom prst="ellipse">
            <a:avLst/>
          </a:prstGeom>
          <a:solidFill>
            <a:srgbClr val="CA8A04"/>
          </a:solidFill>
          <a:ln w="9525">
            <a:solidFill>
              <a:srgbClr val="9CA3AF"/>
            </a:solidFill>
            <a:prstDash val="solid"/>
          </a:ln>
        </p:spPr>
      </p:sp>
      <p:sp>
        <p:nvSpPr>
          <p:cNvPr id="18" name="swatch-label"/>
          <p:cNvSpPr txBox="1"/>
          <p:nvPr/>
        </p:nvSpPr>
        <p:spPr>
          <a:xfrm>
            <a:off x="8321040" y="5120640"/>
            <a:ext cx="3200400" cy="457200"/>
          </a:xfrm>
          <a:prstGeom prst="rect">
            <a:avLst/>
          </a:prstGeom>
          <a:noFill/>
          <a:ln/>
        </p:spPr>
        <p:txBody>
          <a:bodyPr wrap="square" lIns="0" tIns="0" rIns="0" bIns="0" rtlCol="0" anchor="ctr"/>
          <a:lstStyle/>
          <a:p>
            <a:pPr marL="0" indent="0">
              <a:buNone/>
            </a:pPr>
            <a:r>
              <a:rPr lang="en-US" sz="1500" b="1" dirty="0">
                <a:solidFill>
                  <a:schemeClr val="tx1"/>
                </a:solidFill>
              </a:rPr>
              <a:t>Giallo  </a:t>
            </a:r>
            <a:r>
              <a:rPr lang="en-US" sz="1500" dirty="0">
                <a:solidFill>
                  <a:schemeClr val="tx2"/>
                </a:solidFill>
              </a:rPr>
              <a:t>intestazioni</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3 · ZMAP: IL TOOLKIT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3.2 Librerie utilizzate</a:t>
            </a:r>
            <a:endParaRPr lang="en-US" sz="3000" dirty="0"/>
          </a:p>
        </p:txBody>
      </p:sp>
      <p:graphicFrame>
        <p:nvGraphicFramePr>
          <p:cNvPr id="38"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4114800"/>
        </p:xfrm>
        <a:graphic>
          <a:graphicData uri="http://schemas.openxmlformats.org/drawingml/2006/table">
            <a:tbl>
              <a:tblPr/>
              <a:tblGrid>
                <a:gridCol w="2194560">
                  <a:extLst>
                    <a:ext uri="{9D8B030D-6E8A-4147-A177-3AD203B41FA5}">
                      <a16:colId xmlns:a16="http://schemas.microsoft.com/office/drawing/2014/main" val="20000"/>
                    </a:ext>
                  </a:extLst>
                </a:gridCol>
                <a:gridCol w="8899855">
                  <a:extLst>
                    <a:ext uri="{9D8B030D-6E8A-4147-A177-3AD203B41FA5}">
                      <a16:colId xmlns:a16="http://schemas.microsoft.com/office/drawing/2014/main" val="20001"/>
                    </a:ext>
                  </a:extLst>
                </a:gridCol>
              </a:tblGrid>
              <a:tr h="411480">
                <a:tc>
                  <a:txBody>
                    <a:bodyPr/>
                    <a:lstStyle/>
                    <a:p>
                      <a:pPr marL="0" indent="0">
                        <a:buNone/>
                      </a:pPr>
                      <a:r>
                        <a:rPr lang="en-US" sz="1400" b="1" dirty="0">
                          <a:solidFill>
                            <a:schemeClr val="bg1"/>
                          </a:solidFill>
                        </a:rPr>
                        <a:t>Libreria</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Ruolo nel programma</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buNone/>
                      </a:pPr>
                      <a:r>
                        <a:rPr lang="en-US" sz="1400" b="1" dirty="0">
                          <a:solidFill>
                            <a:schemeClr val="tx2"/>
                          </a:solidFill>
                          <a:latin typeface="Courier New" pitchFamily="34" charset="0"/>
                          <a:ea typeface="Courier New" pitchFamily="34" charset="-122"/>
                          <a:cs typeface="Courier New" pitchFamily="34" charset="-120"/>
                        </a:rPr>
                        <a:t>pyfiglet</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Genera il titolo in ASCII art mostrato all’avvio (funzione figlet_format).</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1480">
                <a:tc>
                  <a:txBody>
                    <a:bodyPr/>
                    <a:lstStyle/>
                    <a:p>
                      <a:pPr marL="0" indent="0">
                        <a:buNone/>
                      </a:pPr>
                      <a:r>
                        <a:rPr lang="en-US" sz="1400" b="1" dirty="0">
                          <a:solidFill>
                            <a:schemeClr val="tx2"/>
                          </a:solidFill>
                          <a:latin typeface="Courier New" pitchFamily="34" charset="0"/>
                          <a:ea typeface="Courier New" pitchFamily="34" charset="-122"/>
                          <a:cs typeface="Courier New" pitchFamily="34" charset="-120"/>
                        </a:rPr>
                        <a:t>socket</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Componente centrale: apre connessioni TCP, risolve nomi di dominio e consente di verificare porte e host.</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buNone/>
                      </a:pPr>
                      <a:r>
                        <a:rPr lang="en-US" sz="1400" b="1" dirty="0">
                          <a:solidFill>
                            <a:schemeClr val="tx2"/>
                          </a:solidFill>
                          <a:latin typeface="Courier New" pitchFamily="34" charset="0"/>
                          <a:ea typeface="Courier New" pitchFamily="34" charset="-122"/>
                          <a:cs typeface="Courier New" pitchFamily="34" charset="-120"/>
                        </a:rPr>
                        <a:t>argparse</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Predisposta per un’eventuale gestione degli argomenti da riga di comando.</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indent="0">
                        <a:buNone/>
                      </a:pPr>
                      <a:r>
                        <a:rPr lang="en-US" sz="1400" b="1" dirty="0">
                          <a:solidFill>
                            <a:schemeClr val="tx2"/>
                          </a:solidFill>
                          <a:latin typeface="Courier New" pitchFamily="34" charset="0"/>
                          <a:ea typeface="Courier New" pitchFamily="34" charset="-122"/>
                          <a:cs typeface="Courier New" pitchFamily="34" charset="-120"/>
                        </a:rPr>
                        <a:t>requests</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Invia richieste HTTP (GET, POST, DELETE, HEAD, OPTIONS).</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11480">
                <a:tc>
                  <a:txBody>
                    <a:bodyPr/>
                    <a:lstStyle/>
                    <a:p>
                      <a:pPr marL="0" indent="0">
                        <a:buNone/>
                      </a:pPr>
                      <a:r>
                        <a:rPr lang="en-US" sz="1400" b="1" dirty="0">
                          <a:solidFill>
                            <a:schemeClr val="tx2"/>
                          </a:solidFill>
                          <a:latin typeface="Courier New" pitchFamily="34" charset="0"/>
                          <a:ea typeface="Courier New" pitchFamily="34" charset="-122"/>
                          <a:cs typeface="Courier New" pitchFamily="34" charset="-120"/>
                        </a:rPr>
                        <a:t>colorama</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Consente di colorare l’output del terminale.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pPr marL="0" indent="0">
                        <a:buNone/>
                      </a:pPr>
                      <a:r>
                        <a:rPr lang="en-US" sz="1400" b="1" dirty="0">
                          <a:solidFill>
                            <a:schemeClr val="tx2"/>
                          </a:solidFill>
                          <a:latin typeface="Courier New" pitchFamily="34" charset="0"/>
                          <a:ea typeface="Courier New" pitchFamily="34" charset="-122"/>
                          <a:cs typeface="Courier New" pitchFamily="34" charset="-120"/>
                        </a:rPr>
                        <a:t>subprocess</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Esegue comandi del sistema operativo (ad esempio ip a).</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11480">
                <a:tc>
                  <a:txBody>
                    <a:bodyPr/>
                    <a:lstStyle/>
                    <a:p>
                      <a:pPr marL="0" indent="0">
                        <a:buNone/>
                      </a:pPr>
                      <a:r>
                        <a:rPr lang="en-US" sz="1400" b="1" dirty="0">
                          <a:solidFill>
                            <a:schemeClr val="tx2"/>
                          </a:solidFill>
                          <a:latin typeface="Courier New" pitchFamily="34" charset="0"/>
                          <a:ea typeface="Courier New" pitchFamily="34" charset="-122"/>
                          <a:cs typeface="Courier New" pitchFamily="34" charset="-120"/>
                        </a:rPr>
                        <a:t>sys</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Fornisce l’accesso a variabili e funzioni per interagire con l’interprete.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pPr marL="0" indent="0">
                        <a:buNone/>
                      </a:pPr>
                      <a:r>
                        <a:rPr lang="en-US" sz="1400" b="1" dirty="0">
                          <a:solidFill>
                            <a:schemeClr val="tx2"/>
                          </a:solidFill>
                          <a:latin typeface="Courier New" pitchFamily="34" charset="0"/>
                          <a:ea typeface="Courier New" pitchFamily="34" charset="-122"/>
                          <a:cs typeface="Courier New" pitchFamily="34" charset="-120"/>
                        </a:rPr>
                        <a:t>time</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Introduce brevi pause (sleep).</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411480">
                <a:tc>
                  <a:txBody>
                    <a:bodyPr/>
                    <a:lstStyle/>
                    <a:p>
                      <a:pPr marL="0" indent="0">
                        <a:buNone/>
                      </a:pPr>
                      <a:r>
                        <a:rPr lang="en-US" sz="1400" b="1" dirty="0">
                          <a:solidFill>
                            <a:schemeClr val="tx2"/>
                          </a:solidFill>
                          <a:latin typeface="Courier New" pitchFamily="34" charset="0"/>
                          <a:ea typeface="Courier New" pitchFamily="34" charset="-122"/>
                          <a:cs typeface="Courier New" pitchFamily="34" charset="-120"/>
                        </a:rPr>
                        <a:t>threading</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Esegue l’animazione di attesa in parallelo alla scansione, tramite un thread e un oggetto Event.</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5" name="tcap"/>
          <p:cNvSpPr txBox="1"/>
          <p:nvPr/>
        </p:nvSpPr>
        <p:spPr>
          <a:xfrm>
            <a:off x="548640" y="5623560"/>
            <a:ext cx="11094415" cy="457200"/>
          </a:xfrm>
          <a:prstGeom prst="rect">
            <a:avLst/>
          </a:prstGeom>
          <a:noFill/>
          <a:ln/>
        </p:spPr>
        <p:txBody>
          <a:bodyPr wrap="square" lIns="0" tIns="0" rIns="0" bIns="0" rtlCol="0" anchor="ctr"/>
          <a:lstStyle/>
          <a:p>
            <a:pPr marL="0" indent="0">
              <a:buNone/>
            </a:pPr>
            <a:r>
              <a:rPr lang="en-US" sz="1300" i="1" dirty="0">
                <a:solidFill>
                  <a:schemeClr val="accent4"/>
                </a:solidFill>
              </a:rPr>
              <a:t>Tabella 6 – Librerie impiegate dal programma.  Dopo gli import viene richiamata la funzione init() di colorama, che inizializza la gestione dei colori.</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3 · ZMAP: IL TOOLKIT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3.4.1 print_title()  ·  3.4.2 ping(host)</a:t>
            </a:r>
            <a:endParaRPr lang="en-US" sz="3000" dirty="0"/>
          </a:p>
        </p:txBody>
      </p:sp>
      <p:sp>
        <p:nvSpPr>
          <p:cNvPr id="4" name="card"/>
          <p:cNvSpPr/>
          <p:nvPr/>
        </p:nvSpPr>
        <p:spPr>
          <a:xfrm>
            <a:off x="548640" y="1463040"/>
            <a:ext cx="4023360" cy="4434840"/>
          </a:xfrm>
          <a:prstGeom prst="roundRect">
            <a:avLst>
              <a:gd name="adj" fmla="val 2273"/>
            </a:avLst>
          </a:prstGeom>
          <a:solidFill>
            <a:schemeClr val="bg2"/>
          </a:solidFill>
          <a:ln w="12700">
            <a:solidFill>
              <a:schemeClr val="bg2"/>
            </a:solidFill>
            <a:prstDash val="solid"/>
          </a:ln>
        </p:spPr>
      </p:sp>
      <p:sp>
        <p:nvSpPr>
          <p:cNvPr id="5" name="badge"/>
          <p:cNvSpPr/>
          <p:nvPr/>
        </p:nvSpPr>
        <p:spPr>
          <a:xfrm>
            <a:off x="777240" y="1691640"/>
            <a:ext cx="457200" cy="457200"/>
          </a:xfrm>
          <a:prstGeom prst="ellipse">
            <a:avLst/>
          </a:prstGeom>
          <a:solidFill>
            <a:schemeClr val="accent1"/>
          </a:solidFill>
          <a:ln w="12700">
            <a:solidFill>
              <a:schemeClr val="accent1"/>
            </a:solidFill>
            <a:prstDash val="solid"/>
          </a:ln>
        </p:spPr>
      </p:sp>
      <p:sp>
        <p:nvSpPr>
          <p:cNvPr id="6" name="badge-num"/>
          <p:cNvSpPr txBox="1"/>
          <p:nvPr/>
        </p:nvSpPr>
        <p:spPr>
          <a:xfrm>
            <a:off x="77724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card-head"/>
          <p:cNvSpPr txBox="1"/>
          <p:nvPr/>
        </p:nvSpPr>
        <p:spPr>
          <a:xfrm>
            <a:off x="1417320" y="1664208"/>
            <a:ext cx="2971800"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print_title()</a:t>
            </a:r>
            <a:endParaRPr lang="en-US" sz="1600" dirty="0"/>
          </a:p>
        </p:txBody>
      </p:sp>
      <p:sp>
        <p:nvSpPr>
          <p:cNvPr id="8" name="card-body"/>
          <p:cNvSpPr txBox="1"/>
          <p:nvPr/>
        </p:nvSpPr>
        <p:spPr>
          <a:xfrm>
            <a:off x="777240" y="2286000"/>
            <a:ext cx="3566160" cy="3474720"/>
          </a:xfrm>
          <a:prstGeom prst="rect">
            <a:avLst/>
          </a:prstGeom>
          <a:noFill/>
          <a:ln/>
        </p:spPr>
        <p:txBody>
          <a:bodyPr wrap="square" lIns="0" tIns="0" rIns="0" bIns="0" rtlCol="0" anchor="t"/>
          <a:lstStyle/>
          <a:p>
            <a:pPr marL="0" indent="0">
              <a:buNone/>
            </a:pPr>
            <a:r>
              <a:rPr lang="en-US" sz="1500" dirty="0">
                <a:solidFill>
                  <a:schemeClr val="tx2"/>
                </a:solidFill>
              </a:rPr>
              <a:t>La funzione costruisce e stampa il titolo del programma. Il testo “Zmap by Zero-Day Smokey” viene convertito in ASCII art mediante figlet_format.</a:t>
            </a:r>
            <a:endParaRPr lang="en-US" sz="1500" dirty="0"/>
          </a:p>
        </p:txBody>
      </p:sp>
      <p:sp>
        <p:nvSpPr>
          <p:cNvPr id="9" name="card"/>
          <p:cNvSpPr/>
          <p:nvPr/>
        </p:nvSpPr>
        <p:spPr>
          <a:xfrm>
            <a:off x="4846320" y="1463040"/>
            <a:ext cx="6796735" cy="4434840"/>
          </a:xfrm>
          <a:prstGeom prst="roundRect">
            <a:avLst>
              <a:gd name="adj" fmla="val 2062"/>
            </a:avLst>
          </a:prstGeom>
          <a:solidFill>
            <a:schemeClr val="bg2"/>
          </a:solidFill>
          <a:ln w="12700">
            <a:solidFill>
              <a:schemeClr val="bg2"/>
            </a:solidFill>
            <a:prstDash val="solid"/>
          </a:ln>
        </p:spPr>
      </p:sp>
      <p:sp>
        <p:nvSpPr>
          <p:cNvPr id="10" name="badge"/>
          <p:cNvSpPr/>
          <p:nvPr/>
        </p:nvSpPr>
        <p:spPr>
          <a:xfrm>
            <a:off x="5074920" y="1691640"/>
            <a:ext cx="457200" cy="457200"/>
          </a:xfrm>
          <a:prstGeom prst="ellipse">
            <a:avLst/>
          </a:prstGeom>
          <a:solidFill>
            <a:schemeClr val="accent1"/>
          </a:solidFill>
          <a:ln w="12700">
            <a:solidFill>
              <a:schemeClr val="accent1"/>
            </a:solidFill>
            <a:prstDash val="solid"/>
          </a:ln>
        </p:spPr>
      </p:sp>
      <p:sp>
        <p:nvSpPr>
          <p:cNvPr id="11" name="badge-num"/>
          <p:cNvSpPr txBox="1"/>
          <p:nvPr/>
        </p:nvSpPr>
        <p:spPr>
          <a:xfrm>
            <a:off x="507492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2" name="card-head"/>
          <p:cNvSpPr txBox="1"/>
          <p:nvPr/>
        </p:nvSpPr>
        <p:spPr>
          <a:xfrm>
            <a:off x="5715000" y="1664208"/>
            <a:ext cx="5745175"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ping(host) – verifica in due passaggi</a:t>
            </a:r>
            <a:endParaRPr lang="en-US" sz="1600" dirty="0"/>
          </a:p>
        </p:txBody>
      </p:sp>
      <p:sp>
        <p:nvSpPr>
          <p:cNvPr id="13" name="card-body"/>
          <p:cNvSpPr txBox="1"/>
          <p:nvPr/>
        </p:nvSpPr>
        <p:spPr>
          <a:xfrm>
            <a:off x="5074920" y="2286000"/>
            <a:ext cx="6339535" cy="3474720"/>
          </a:xfrm>
          <a:prstGeom prst="rect">
            <a:avLst/>
          </a:prstGeom>
          <a:noFill/>
          <a:ln/>
        </p:spPr>
        <p:txBody>
          <a:bodyPr wrap="square" lIns="0" tIns="0" rIns="0" bIns="0" rtlCol="0" anchor="t"/>
          <a:lstStyle/>
          <a:p>
            <a:pPr marL="342900" indent="-342900">
              <a:spcAft>
                <a:spcPts val="400"/>
              </a:spcAft>
              <a:buSzPct val="100000"/>
              <a:buChar char="▪"/>
            </a:pPr>
            <a:r>
              <a:rPr lang="en-US" sz="1400" b="1" dirty="0">
                <a:solidFill>
                  <a:schemeClr val="tx1"/>
                </a:solidFill>
              </a:rPr>
              <a:t>Risoluzione DNS: </a:t>
            </a:r>
            <a:r>
              <a:rPr lang="en-US" sz="1400" dirty="0">
                <a:solidFill>
                  <a:schemeClr val="tx2"/>
                </a:solidFill>
              </a:rPr>
              <a:t>con socket.getaddrinfo(host, None) si verifica che il nome (o l’indirizzo) sia risolvibile.</a:t>
            </a:r>
            <a:endParaRPr lang="en-US" sz="1400" dirty="0"/>
          </a:p>
          <a:p>
            <a:pPr marL="342900" indent="-342900">
              <a:spcAft>
                <a:spcPts val="400"/>
              </a:spcAft>
              <a:buSzPct val="100000"/>
              <a:buChar char="▪"/>
            </a:pPr>
            <a:r>
              <a:rPr lang="en-US" sz="1400" b="1" dirty="0">
                <a:solidFill>
                  <a:schemeClr val="tx1"/>
                </a:solidFill>
              </a:rPr>
              <a:t>Connessione TCP: </a:t>
            </a:r>
            <a:r>
              <a:rPr lang="en-US" sz="1400" dirty="0">
                <a:solidFill>
                  <a:schemeClr val="tx2"/>
                </a:solidFill>
              </a:rPr>
              <a:t>socket IPv4 (AF_INET) di tipo stream (SOCK_STREAM), timeout di 2 secondi, tentativo di connessione alla porta 80.</a:t>
            </a:r>
            <a:endParaRPr lang="en-US" sz="1400" dirty="0"/>
          </a:p>
          <a:p>
            <a:pPr marL="0" indent="0">
              <a:spcAft>
                <a:spcPts val="400"/>
              </a:spcAft>
              <a:buNone/>
            </a:pPr>
            <a:r>
              <a:rPr lang="en-US" sz="1400" dirty="0">
                <a:solidFill>
                  <a:schemeClr val="tx2"/>
                </a:solidFill>
              </a:rPr>
              <a:t>Se la connessione riesce, stampa in verde che l’host è raggiungibile e restituisce True. In caso di qualsiasi eccezione (nome non risolvibile, timeout, connessione rifiutata) stampa in rosso il messaggio di errore e restituisce False. Il blocco with garantisce la chiusura automatica del socket.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3 · ZMAP: IL TOOLKIT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3.4.3 scan()  ·  3.4.4 dns_lookup()  ·  3.4.5 list_interfaces()</a:t>
            </a:r>
            <a:endParaRPr lang="en-US" sz="3000" dirty="0"/>
          </a:p>
        </p:txBody>
      </p:sp>
      <p:sp>
        <p:nvSpPr>
          <p:cNvPr id="4" name="card"/>
          <p:cNvSpPr/>
          <p:nvPr/>
        </p:nvSpPr>
        <p:spPr>
          <a:xfrm>
            <a:off x="548640" y="1463040"/>
            <a:ext cx="3515258" cy="4434840"/>
          </a:xfrm>
          <a:prstGeom prst="roundRect">
            <a:avLst>
              <a:gd name="adj" fmla="val 2601"/>
            </a:avLst>
          </a:prstGeom>
          <a:solidFill>
            <a:schemeClr val="bg2"/>
          </a:solidFill>
          <a:ln w="12700">
            <a:solidFill>
              <a:schemeClr val="bg2"/>
            </a:solidFill>
            <a:prstDash val="solid"/>
          </a:ln>
        </p:spPr>
      </p:sp>
      <p:sp>
        <p:nvSpPr>
          <p:cNvPr id="5" name="badge"/>
          <p:cNvSpPr/>
          <p:nvPr/>
        </p:nvSpPr>
        <p:spPr>
          <a:xfrm>
            <a:off x="777240" y="1691640"/>
            <a:ext cx="457200" cy="457200"/>
          </a:xfrm>
          <a:prstGeom prst="ellipse">
            <a:avLst/>
          </a:prstGeom>
          <a:solidFill>
            <a:schemeClr val="accent1"/>
          </a:solidFill>
          <a:ln w="12700">
            <a:solidFill>
              <a:schemeClr val="accent1"/>
            </a:solidFill>
            <a:prstDash val="solid"/>
          </a:ln>
        </p:spPr>
      </p:sp>
      <p:sp>
        <p:nvSpPr>
          <p:cNvPr id="6" name="badge-num"/>
          <p:cNvSpPr txBox="1"/>
          <p:nvPr/>
        </p:nvSpPr>
        <p:spPr>
          <a:xfrm>
            <a:off x="77724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7" name="card-head"/>
          <p:cNvSpPr txBox="1"/>
          <p:nvPr/>
        </p:nvSpPr>
        <p:spPr>
          <a:xfrm>
            <a:off x="1417320" y="166420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scan()</a:t>
            </a:r>
            <a:endParaRPr lang="en-US" sz="1600" dirty="0"/>
          </a:p>
        </p:txBody>
      </p:sp>
      <p:sp>
        <p:nvSpPr>
          <p:cNvPr id="8" name="card-body"/>
          <p:cNvSpPr txBox="1"/>
          <p:nvPr/>
        </p:nvSpPr>
        <p:spPr>
          <a:xfrm>
            <a:off x="777240" y="2286000"/>
            <a:ext cx="3058058" cy="3474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Messaggio informativo e richiesta della subnet in notazione CIDR (es. 192.168.1.0/24);</a:t>
            </a:r>
            <a:endParaRPr lang="en-US" sz="1300" dirty="0"/>
          </a:p>
          <a:p>
            <a:pPr marL="342900" indent="-342900">
              <a:spcAft>
                <a:spcPts val="400"/>
              </a:spcAft>
              <a:buSzPct val="100000"/>
              <a:buChar char="▪"/>
            </a:pPr>
            <a:r>
              <a:rPr lang="en-US" sz="1300" dirty="0">
                <a:solidFill>
                  <a:schemeClr val="tx2"/>
                </a:solidFill>
              </a:rPr>
              <a:t>ciclo for sugli indirizzi da 1 a 255;</a:t>
            </a:r>
            <a:endParaRPr lang="en-US" sz="1300" dirty="0"/>
          </a:p>
          <a:p>
            <a:pPr marL="342900" indent="-342900">
              <a:spcAft>
                <a:spcPts val="400"/>
              </a:spcAft>
              <a:buSzPct val="100000"/>
              <a:buChar char="▪"/>
            </a:pPr>
            <a:r>
              <a:rPr lang="en-US" sz="1300" dirty="0">
                <a:solidFill>
                  <a:schemeClr val="tx2"/>
                </a:solidFill>
              </a:rPr>
              <a:t>per ogni indirizzo, socket.create_connection sulla porta 80 con timeout di 2 secondi;</a:t>
            </a:r>
            <a:endParaRPr lang="en-US" sz="1300" dirty="0"/>
          </a:p>
          <a:p>
            <a:pPr marL="342900" indent="-342900">
              <a:spcAft>
                <a:spcPts val="400"/>
              </a:spcAft>
              <a:buSzPct val="100000"/>
              <a:buChar char="▪"/>
            </a:pPr>
            <a:r>
              <a:rPr lang="en-US" sz="1300" dirty="0">
                <a:solidFill>
                  <a:schemeClr val="tx2"/>
                </a:solidFill>
              </a:rPr>
              <a:t>in verde se raggiungibile, in rosso se non lo è, indicando anche l’errore;</a:t>
            </a:r>
            <a:endParaRPr lang="en-US" sz="1300" dirty="0"/>
          </a:p>
          <a:p>
            <a:pPr marL="342900" indent="-342900">
              <a:spcAft>
                <a:spcPts val="400"/>
              </a:spcAft>
              <a:buSzPct val="100000"/>
              <a:buChar char="▪"/>
            </a:pPr>
            <a:r>
              <a:rPr lang="en-US" sz="1300" dirty="0">
                <a:solidFill>
                  <a:schemeClr val="tx2"/>
                </a:solidFill>
              </a:rPr>
              <a:t>al termine, messaggio di scansione completata.</a:t>
            </a:r>
            <a:endParaRPr lang="en-US" sz="1300" dirty="0"/>
          </a:p>
        </p:txBody>
      </p:sp>
      <p:sp>
        <p:nvSpPr>
          <p:cNvPr id="9" name="card"/>
          <p:cNvSpPr/>
          <p:nvPr/>
        </p:nvSpPr>
        <p:spPr>
          <a:xfrm>
            <a:off x="4338218" y="1463040"/>
            <a:ext cx="3515258" cy="4434840"/>
          </a:xfrm>
          <a:prstGeom prst="roundRect">
            <a:avLst>
              <a:gd name="adj" fmla="val 2601"/>
            </a:avLst>
          </a:prstGeom>
          <a:solidFill>
            <a:schemeClr val="bg2"/>
          </a:solidFill>
          <a:ln w="12700">
            <a:solidFill>
              <a:schemeClr val="bg2"/>
            </a:solidFill>
            <a:prstDash val="solid"/>
          </a:ln>
        </p:spPr>
      </p:sp>
      <p:sp>
        <p:nvSpPr>
          <p:cNvPr id="10" name="badge"/>
          <p:cNvSpPr/>
          <p:nvPr/>
        </p:nvSpPr>
        <p:spPr>
          <a:xfrm>
            <a:off x="4566818" y="1691640"/>
            <a:ext cx="457200" cy="457200"/>
          </a:xfrm>
          <a:prstGeom prst="ellipse">
            <a:avLst/>
          </a:prstGeom>
          <a:solidFill>
            <a:schemeClr val="accent1"/>
          </a:solidFill>
          <a:ln w="12700">
            <a:solidFill>
              <a:schemeClr val="accent1"/>
            </a:solidFill>
            <a:prstDash val="solid"/>
          </a:ln>
        </p:spPr>
      </p:sp>
      <p:sp>
        <p:nvSpPr>
          <p:cNvPr id="11" name="badge-num"/>
          <p:cNvSpPr txBox="1"/>
          <p:nvPr/>
        </p:nvSpPr>
        <p:spPr>
          <a:xfrm>
            <a:off x="4566818"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12" name="card-head"/>
          <p:cNvSpPr txBox="1"/>
          <p:nvPr/>
        </p:nvSpPr>
        <p:spPr>
          <a:xfrm>
            <a:off x="5206898" y="166420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dns_lookup(domain)</a:t>
            </a:r>
            <a:endParaRPr lang="en-US" sz="1600" dirty="0"/>
          </a:p>
        </p:txBody>
      </p:sp>
      <p:sp>
        <p:nvSpPr>
          <p:cNvPr id="13" name="card-body"/>
          <p:cNvSpPr txBox="1"/>
          <p:nvPr/>
        </p:nvSpPr>
        <p:spPr>
          <a:xfrm>
            <a:off x="4566818" y="2286000"/>
            <a:ext cx="3058058" cy="3474720"/>
          </a:xfrm>
          <a:prstGeom prst="rect">
            <a:avLst/>
          </a:prstGeom>
          <a:noFill/>
          <a:ln/>
        </p:spPr>
        <p:txBody>
          <a:bodyPr wrap="square" lIns="0" tIns="0" rIns="0" bIns="0" rtlCol="0" anchor="t"/>
          <a:lstStyle/>
          <a:p>
            <a:pPr marL="0" indent="0">
              <a:buNone/>
            </a:pPr>
            <a:r>
              <a:rPr lang="en-US" sz="1300" dirty="0">
                <a:solidFill>
                  <a:schemeClr val="tx2"/>
                </a:solidFill>
              </a:rPr>
              <a:t>Interroga il sistema di risoluzione dei nomi con socket.gethostbyname_ex(domain), che restituisce nome dell’host, eventuali alias e indirizzi IP associati. I risultati compaiono in blu sotto l’intestazione “Record DNS”, con le singole voci in verde; al termine compare il messaggio di ricerca completata. Gli errori sono mostrati in rosso come “Errore DNS”.</a:t>
            </a:r>
            <a:endParaRPr lang="en-US" sz="1300" dirty="0"/>
          </a:p>
        </p:txBody>
      </p:sp>
      <p:sp>
        <p:nvSpPr>
          <p:cNvPr id="14" name="card"/>
          <p:cNvSpPr/>
          <p:nvPr/>
        </p:nvSpPr>
        <p:spPr>
          <a:xfrm>
            <a:off x="8127797" y="1463040"/>
            <a:ext cx="3515258" cy="4434840"/>
          </a:xfrm>
          <a:prstGeom prst="roundRect">
            <a:avLst>
              <a:gd name="adj" fmla="val 2601"/>
            </a:avLst>
          </a:prstGeom>
          <a:solidFill>
            <a:schemeClr val="bg2"/>
          </a:solidFill>
          <a:ln w="12700">
            <a:solidFill>
              <a:schemeClr val="bg2"/>
            </a:solidFill>
            <a:prstDash val="solid"/>
          </a:ln>
        </p:spPr>
      </p:sp>
      <p:sp>
        <p:nvSpPr>
          <p:cNvPr id="15" name="badge"/>
          <p:cNvSpPr/>
          <p:nvPr/>
        </p:nvSpPr>
        <p:spPr>
          <a:xfrm>
            <a:off x="8356397" y="1691640"/>
            <a:ext cx="457200" cy="457200"/>
          </a:xfrm>
          <a:prstGeom prst="ellipse">
            <a:avLst/>
          </a:prstGeom>
          <a:solidFill>
            <a:schemeClr val="accent1"/>
          </a:solidFill>
          <a:ln w="12700">
            <a:solidFill>
              <a:schemeClr val="accent1"/>
            </a:solidFill>
            <a:prstDash val="solid"/>
          </a:ln>
        </p:spPr>
      </p:sp>
      <p:sp>
        <p:nvSpPr>
          <p:cNvPr id="16" name="badge-num"/>
          <p:cNvSpPr txBox="1"/>
          <p:nvPr/>
        </p:nvSpPr>
        <p:spPr>
          <a:xfrm>
            <a:off x="8356397"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17" name="card-head"/>
          <p:cNvSpPr txBox="1"/>
          <p:nvPr/>
        </p:nvSpPr>
        <p:spPr>
          <a:xfrm>
            <a:off x="8996477" y="166420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list_interfaces()</a:t>
            </a:r>
            <a:endParaRPr lang="en-US" sz="1600" dirty="0"/>
          </a:p>
        </p:txBody>
      </p:sp>
      <p:sp>
        <p:nvSpPr>
          <p:cNvPr id="18" name="card-body"/>
          <p:cNvSpPr txBox="1"/>
          <p:nvPr/>
        </p:nvSpPr>
        <p:spPr>
          <a:xfrm>
            <a:off x="8356397" y="2286000"/>
            <a:ext cx="3058058" cy="3474720"/>
          </a:xfrm>
          <a:prstGeom prst="rect">
            <a:avLst/>
          </a:prstGeom>
          <a:noFill/>
          <a:ln/>
        </p:spPr>
        <p:txBody>
          <a:bodyPr wrap="square" lIns="0" tIns="0" rIns="0" bIns="0" rtlCol="0" anchor="t"/>
          <a:lstStyle/>
          <a:p>
            <a:pPr marL="0" indent="0">
              <a:buNone/>
            </a:pPr>
            <a:r>
              <a:rPr lang="en-US" sz="1300" dirty="0">
                <a:solidFill>
                  <a:schemeClr val="tx2"/>
                </a:solidFill>
              </a:rPr>
              <a:t>Mostra le interfacce di rete del sistema eseguendo il comando ip a tramite subprocess.run con capture_output=True (per catturare l’output) e text=True (per ottenere testo leggibile anziché byte).</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3 · ZMAP: IL TOOLKIT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3.4.6 port_scan(host, ports) – animazione di attesa</a:t>
            </a:r>
            <a:endParaRPr lang="en-US" sz="3000" dirty="0"/>
          </a:p>
        </p:txBody>
      </p:sp>
      <p:sp>
        <p:nvSpPr>
          <p:cNvPr id="4" name="body-text"/>
          <p:cNvSpPr txBox="1"/>
          <p:nvPr/>
        </p:nvSpPr>
        <p:spPr>
          <a:xfrm>
            <a:off x="548640" y="1417320"/>
            <a:ext cx="7132320" cy="4663440"/>
          </a:xfrm>
          <a:prstGeom prst="rect">
            <a:avLst/>
          </a:prstGeom>
          <a:noFill/>
          <a:ln/>
        </p:spPr>
        <p:txBody>
          <a:bodyPr wrap="square" lIns="0" tIns="0" rIns="0" bIns="0" rtlCol="0" anchor="t"/>
          <a:lstStyle/>
          <a:p>
            <a:pPr marL="0" indent="0">
              <a:spcAft>
                <a:spcPts val="800"/>
              </a:spcAft>
              <a:buNone/>
            </a:pPr>
            <a:r>
              <a:rPr lang="en-US" sz="1500" dirty="0">
                <a:solidFill>
                  <a:schemeClr val="tx2"/>
                </a:solidFill>
              </a:rPr>
              <a:t>La funzione riceve l’host e una stringa con l’intervallo di porte nel formato inizio-fine (es. 1-1000) ed esegue una scansione TCP connect. Crea inoltre un dizionario results, destinato a contenere lo stato di ciascuna porta.</a:t>
            </a:r>
            <a:endParaRPr lang="en-US" sz="1500" dirty="0"/>
          </a:p>
          <a:p>
            <a:pPr marL="0" indent="0">
              <a:spcBef>
                <a:spcPts val="600"/>
              </a:spcBef>
              <a:spcAft>
                <a:spcPts val="400"/>
              </a:spcAft>
              <a:buNone/>
            </a:pPr>
            <a:r>
              <a:rPr lang="en-US" sz="1500" b="1" dirty="0">
                <a:solidFill>
                  <a:schemeClr val="accent1"/>
                </a:solidFill>
              </a:rPr>
              <a:t>Animazione di attesa</a:t>
            </a:r>
            <a:endParaRPr lang="en-US" sz="1500" dirty="0"/>
          </a:p>
          <a:p>
            <a:pPr marL="0" indent="0">
              <a:spcAft>
                <a:spcPts val="800"/>
              </a:spcAft>
              <a:buNone/>
            </a:pPr>
            <a:r>
              <a:rPr lang="en-US" sz="1500" dirty="0">
                <a:solidFill>
                  <a:schemeClr val="tx2"/>
                </a:solidFill>
              </a:rPr>
              <a:t>Poiché una scansione può richiedere tempo, il programma mostra una breve animazione. La funzione interna loading(stop_event) scrive ripetutamente sulla stessa riga “Scansione in corso” seguita da un carattere che varia ciclicamente tra \, | e /, producendo l’effetto di una ruota rotante.</a:t>
            </a:r>
            <a:endParaRPr lang="en-US" sz="1500" dirty="0"/>
          </a:p>
          <a:p>
            <a:pPr marL="0" indent="0">
              <a:spcAft>
                <a:spcPts val="800"/>
              </a:spcAft>
              <a:buNone/>
            </a:pPr>
            <a:r>
              <a:rPr lang="en-US" sz="1500" dirty="0">
                <a:solidFill>
                  <a:schemeClr val="tx2"/>
                </a:solidFill>
              </a:rPr>
              <a:t>Usa \r (ritorno a capo senza nuova riga) per sovrascrivere la riga, sys.stdout.flush() per la visualizzazione immediata e time.sleep(0.1) per regolare la velocità.</a:t>
            </a:r>
            <a:endParaRPr lang="en-US" sz="1500" dirty="0"/>
          </a:p>
          <a:p>
            <a:pPr marL="0" indent="0">
              <a:spcAft>
                <a:spcPts val="800"/>
              </a:spcAft>
              <a:buNone/>
            </a:pPr>
            <a:r>
              <a:rPr lang="en-US" sz="1500" dirty="0">
                <a:solidFill>
                  <a:schemeClr val="tx2"/>
                </a:solidFill>
              </a:rPr>
              <a:t>L’animazione gira in un thread separato controllato da un threading.Event: finché l’evento non viene attivato il ciclo prosegue; quando viene attivato, la riga viene ripulita con degli spazi e il thread termina.</a:t>
            </a:r>
            <a:endParaRPr lang="en-US" sz="1500" dirty="0"/>
          </a:p>
        </p:txBody>
      </p:sp>
      <p:sp>
        <p:nvSpPr>
          <p:cNvPr id="7" name="terminal-cap"/>
          <p:cNvSpPr txBox="1"/>
          <p:nvPr/>
        </p:nvSpPr>
        <p:spPr>
          <a:xfrm>
            <a:off x="8046720" y="3006777"/>
            <a:ext cx="3593592" cy="365760"/>
          </a:xfrm>
          <a:prstGeom prst="rect">
            <a:avLst/>
          </a:prstGeom>
          <a:noFill/>
          <a:ln/>
        </p:spPr>
        <p:txBody>
          <a:bodyPr wrap="square" lIns="0" tIns="0" rIns="0" bIns="0" rtlCol="0" anchor="ctr"/>
          <a:lstStyle/>
          <a:p>
            <a:pPr marL="0" indent="0" algn="ctr">
              <a:buNone/>
            </a:pPr>
            <a:r>
              <a:rPr lang="en-US" sz="1400" dirty="0">
                <a:solidFill>
                  <a:schemeClr val="accent4"/>
                </a:solidFill>
                <a:latin typeface="Courier New" pitchFamily="34" charset="0"/>
                <a:ea typeface="Courier New" pitchFamily="34" charset="-122"/>
                <a:cs typeface="Courier New" pitchFamily="34" charset="-120"/>
              </a:rPr>
              <a:t>\   |   /   (ciclo)</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3 · ZMAP: IL TOOLKIT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port_scan – scansione vera e propria</a:t>
            </a:r>
            <a:endParaRPr lang="en-US" sz="3000" dirty="0"/>
          </a:p>
        </p:txBody>
      </p:sp>
      <p:sp>
        <p:nvSpPr>
          <p:cNvPr id="4" name="intro"/>
          <p:cNvSpPr txBox="1"/>
          <p:nvPr/>
        </p:nvSpPr>
        <p:spPr>
          <a:xfrm>
            <a:off x="548640" y="1371600"/>
            <a:ext cx="11094415" cy="365760"/>
          </a:xfrm>
          <a:prstGeom prst="rect">
            <a:avLst/>
          </a:prstGeom>
          <a:noFill/>
          <a:ln/>
        </p:spPr>
        <p:txBody>
          <a:bodyPr wrap="square" lIns="0" tIns="0" rIns="0" bIns="0" rtlCol="0" anchor="ctr"/>
          <a:lstStyle/>
          <a:p>
            <a:pPr marL="0" indent="0">
              <a:buNone/>
            </a:pPr>
            <a:r>
              <a:rPr lang="en-US" sz="1500" dirty="0">
                <a:solidFill>
                  <a:schemeClr val="tx2"/>
                </a:solidFill>
              </a:rPr>
              <a:t>All’interno di un blocco try, per ciascuna porta dell’intervallo il programma:</a:t>
            </a:r>
            <a:endParaRPr lang="en-US" sz="1500" dirty="0"/>
          </a:p>
        </p:txBody>
      </p:sp>
      <p:sp>
        <p:nvSpPr>
          <p:cNvPr id="5" name="card"/>
          <p:cNvSpPr/>
          <p:nvPr/>
        </p:nvSpPr>
        <p:spPr>
          <a:xfrm>
            <a:off x="548640" y="1828800"/>
            <a:ext cx="3515258" cy="1188720"/>
          </a:xfrm>
          <a:prstGeom prst="roundRect">
            <a:avLst>
              <a:gd name="adj" fmla="val 7692"/>
            </a:avLst>
          </a:prstGeom>
          <a:solidFill>
            <a:schemeClr val="bg2"/>
          </a:solidFill>
          <a:ln w="12700">
            <a:solidFill>
              <a:schemeClr val="bg2"/>
            </a:solidFill>
            <a:prstDash val="solid"/>
          </a:ln>
        </p:spPr>
      </p:sp>
      <p:sp>
        <p:nvSpPr>
          <p:cNvPr id="6" name="badge"/>
          <p:cNvSpPr/>
          <p:nvPr/>
        </p:nvSpPr>
        <p:spPr>
          <a:xfrm>
            <a:off x="777240" y="2057400"/>
            <a:ext cx="457200" cy="457200"/>
          </a:xfrm>
          <a:prstGeom prst="ellipse">
            <a:avLst/>
          </a:prstGeom>
          <a:solidFill>
            <a:schemeClr val="accent1"/>
          </a:solidFill>
          <a:ln w="12700">
            <a:solidFill>
              <a:schemeClr val="accent1"/>
            </a:solidFill>
            <a:prstDash val="solid"/>
          </a:ln>
        </p:spPr>
      </p:sp>
      <p:sp>
        <p:nvSpPr>
          <p:cNvPr id="7" name="badge-num"/>
          <p:cNvSpPr txBox="1"/>
          <p:nvPr/>
        </p:nvSpPr>
        <p:spPr>
          <a:xfrm>
            <a:off x="777240" y="205740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8" name="card-head"/>
          <p:cNvSpPr txBox="1"/>
          <p:nvPr/>
        </p:nvSpPr>
        <p:spPr>
          <a:xfrm>
            <a:off x="1417320" y="2029968"/>
            <a:ext cx="2463698" cy="512064"/>
          </a:xfrm>
          <a:prstGeom prst="rect">
            <a:avLst/>
          </a:prstGeom>
          <a:noFill/>
          <a:ln/>
        </p:spPr>
        <p:txBody>
          <a:bodyPr wrap="square" lIns="0" tIns="0" rIns="0" bIns="0" rtlCol="0" anchor="ctr"/>
          <a:lstStyle/>
          <a:p>
            <a:pPr marL="0" indent="0">
              <a:buNone/>
            </a:pPr>
            <a:r>
              <a:rPr lang="en-US" sz="1500" b="1" dirty="0">
                <a:solidFill>
                  <a:schemeClr val="tx1"/>
                </a:solidFill>
                <a:latin typeface="Arial" pitchFamily="34" charset="0"/>
                <a:ea typeface="Arial" pitchFamily="34" charset="-122"/>
                <a:cs typeface="Arial" pitchFamily="34" charset="-120"/>
              </a:rPr>
              <a:t>crea un nuovo socket TCP IPv4</a:t>
            </a:r>
            <a:endParaRPr lang="en-US" sz="1500" dirty="0"/>
          </a:p>
        </p:txBody>
      </p:sp>
      <p:sp>
        <p:nvSpPr>
          <p:cNvPr id="9" name="card-body"/>
          <p:cNvSpPr txBox="1"/>
          <p:nvPr/>
        </p:nvSpPr>
        <p:spPr>
          <a:xfrm>
            <a:off x="777240" y="2651760"/>
            <a:ext cx="3058058" cy="228600"/>
          </a:xfrm>
          <a:prstGeom prst="rect">
            <a:avLst/>
          </a:prstGeom>
          <a:noFill/>
          <a:ln/>
        </p:spPr>
        <p:txBody>
          <a:bodyPr wrap="square" lIns="0" tIns="0" rIns="0" bIns="0" rtlCol="0" anchor="t"/>
          <a:lstStyle/>
          <a:p>
            <a:pPr marL="0" indent="0">
              <a:buNone/>
            </a:pPr>
            <a:endParaRPr lang="en-US" sz="1400" dirty="0"/>
          </a:p>
        </p:txBody>
      </p:sp>
      <p:sp>
        <p:nvSpPr>
          <p:cNvPr id="10" name="card"/>
          <p:cNvSpPr/>
          <p:nvPr/>
        </p:nvSpPr>
        <p:spPr>
          <a:xfrm>
            <a:off x="4338218" y="1828800"/>
            <a:ext cx="3515258" cy="1188720"/>
          </a:xfrm>
          <a:prstGeom prst="roundRect">
            <a:avLst>
              <a:gd name="adj" fmla="val 7692"/>
            </a:avLst>
          </a:prstGeom>
          <a:solidFill>
            <a:schemeClr val="bg2"/>
          </a:solidFill>
          <a:ln w="12700">
            <a:solidFill>
              <a:schemeClr val="bg2"/>
            </a:solidFill>
            <a:prstDash val="solid"/>
          </a:ln>
        </p:spPr>
      </p:sp>
      <p:sp>
        <p:nvSpPr>
          <p:cNvPr id="11" name="badge"/>
          <p:cNvSpPr/>
          <p:nvPr/>
        </p:nvSpPr>
        <p:spPr>
          <a:xfrm>
            <a:off x="4566818" y="2057400"/>
            <a:ext cx="457200" cy="457200"/>
          </a:xfrm>
          <a:prstGeom prst="ellipse">
            <a:avLst/>
          </a:prstGeom>
          <a:solidFill>
            <a:schemeClr val="accent1"/>
          </a:solidFill>
          <a:ln w="12700">
            <a:solidFill>
              <a:schemeClr val="accent1"/>
            </a:solidFill>
            <a:prstDash val="solid"/>
          </a:ln>
        </p:spPr>
      </p:sp>
      <p:sp>
        <p:nvSpPr>
          <p:cNvPr id="12" name="badge-num"/>
          <p:cNvSpPr txBox="1"/>
          <p:nvPr/>
        </p:nvSpPr>
        <p:spPr>
          <a:xfrm>
            <a:off x="4566818" y="205740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card-head"/>
          <p:cNvSpPr txBox="1"/>
          <p:nvPr/>
        </p:nvSpPr>
        <p:spPr>
          <a:xfrm>
            <a:off x="5206898" y="2029968"/>
            <a:ext cx="2463698" cy="512064"/>
          </a:xfrm>
          <a:prstGeom prst="rect">
            <a:avLst/>
          </a:prstGeom>
          <a:noFill/>
          <a:ln/>
        </p:spPr>
        <p:txBody>
          <a:bodyPr wrap="square" lIns="0" tIns="0" rIns="0" bIns="0" rtlCol="0" anchor="ctr"/>
          <a:lstStyle/>
          <a:p>
            <a:pPr marL="0" indent="0">
              <a:buNone/>
            </a:pPr>
            <a:r>
              <a:rPr lang="en-US" sz="1500" b="1" dirty="0">
                <a:solidFill>
                  <a:schemeClr val="tx1"/>
                </a:solidFill>
                <a:latin typeface="Arial" pitchFamily="34" charset="0"/>
                <a:ea typeface="Arial" pitchFamily="34" charset="-122"/>
                <a:cs typeface="Arial" pitchFamily="34" charset="-120"/>
              </a:rPr>
              <a:t>imposta un timeout di 2 secondi</a:t>
            </a:r>
            <a:endParaRPr lang="en-US" sz="1500" dirty="0"/>
          </a:p>
        </p:txBody>
      </p:sp>
      <p:sp>
        <p:nvSpPr>
          <p:cNvPr id="14" name="card-body"/>
          <p:cNvSpPr txBox="1"/>
          <p:nvPr/>
        </p:nvSpPr>
        <p:spPr>
          <a:xfrm>
            <a:off x="4566818" y="2651760"/>
            <a:ext cx="3058058" cy="228600"/>
          </a:xfrm>
          <a:prstGeom prst="rect">
            <a:avLst/>
          </a:prstGeom>
          <a:noFill/>
          <a:ln/>
        </p:spPr>
        <p:txBody>
          <a:bodyPr wrap="square" lIns="0" tIns="0" rIns="0" bIns="0" rtlCol="0" anchor="t"/>
          <a:lstStyle/>
          <a:p>
            <a:pPr marL="0" indent="0">
              <a:buNone/>
            </a:pPr>
            <a:endParaRPr lang="en-US" sz="1400" dirty="0"/>
          </a:p>
        </p:txBody>
      </p:sp>
      <p:sp>
        <p:nvSpPr>
          <p:cNvPr id="15" name="card"/>
          <p:cNvSpPr/>
          <p:nvPr/>
        </p:nvSpPr>
        <p:spPr>
          <a:xfrm>
            <a:off x="8127797" y="1828800"/>
            <a:ext cx="3515258" cy="1188720"/>
          </a:xfrm>
          <a:prstGeom prst="roundRect">
            <a:avLst>
              <a:gd name="adj" fmla="val 7692"/>
            </a:avLst>
          </a:prstGeom>
          <a:solidFill>
            <a:schemeClr val="bg2"/>
          </a:solidFill>
          <a:ln w="12700">
            <a:solidFill>
              <a:schemeClr val="bg2"/>
            </a:solidFill>
            <a:prstDash val="solid"/>
          </a:ln>
        </p:spPr>
      </p:sp>
      <p:sp>
        <p:nvSpPr>
          <p:cNvPr id="16" name="badge"/>
          <p:cNvSpPr/>
          <p:nvPr/>
        </p:nvSpPr>
        <p:spPr>
          <a:xfrm>
            <a:off x="8356397" y="2057400"/>
            <a:ext cx="457200" cy="457200"/>
          </a:xfrm>
          <a:prstGeom prst="ellipse">
            <a:avLst/>
          </a:prstGeom>
          <a:solidFill>
            <a:schemeClr val="accent1"/>
          </a:solidFill>
          <a:ln w="12700">
            <a:solidFill>
              <a:schemeClr val="accent1"/>
            </a:solidFill>
            <a:prstDash val="solid"/>
          </a:ln>
        </p:spPr>
      </p:sp>
      <p:sp>
        <p:nvSpPr>
          <p:cNvPr id="17" name="badge-num"/>
          <p:cNvSpPr txBox="1"/>
          <p:nvPr/>
        </p:nvSpPr>
        <p:spPr>
          <a:xfrm>
            <a:off x="8356397" y="205740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8" name="card-head"/>
          <p:cNvSpPr txBox="1"/>
          <p:nvPr/>
        </p:nvSpPr>
        <p:spPr>
          <a:xfrm>
            <a:off x="8996477" y="2029968"/>
            <a:ext cx="2463698" cy="512064"/>
          </a:xfrm>
          <a:prstGeom prst="rect">
            <a:avLst/>
          </a:prstGeom>
          <a:noFill/>
          <a:ln/>
        </p:spPr>
        <p:txBody>
          <a:bodyPr wrap="square" lIns="0" tIns="0" rIns="0" bIns="0" rtlCol="0" anchor="ctr"/>
          <a:lstStyle/>
          <a:p>
            <a:pPr marL="0" indent="0">
              <a:buNone/>
            </a:pPr>
            <a:r>
              <a:rPr lang="en-US" sz="1500" b="1" dirty="0">
                <a:solidFill>
                  <a:schemeClr val="tx1"/>
                </a:solidFill>
                <a:latin typeface="Arial" pitchFamily="34" charset="0"/>
                <a:ea typeface="Arial" pitchFamily="34" charset="-122"/>
                <a:cs typeface="Arial" pitchFamily="34" charset="-120"/>
              </a:rPr>
              <a:t>chiama s.connect_ex((host, port))</a:t>
            </a:r>
            <a:endParaRPr lang="en-US" sz="1500" dirty="0"/>
          </a:p>
        </p:txBody>
      </p:sp>
      <p:sp>
        <p:nvSpPr>
          <p:cNvPr id="19" name="card-body"/>
          <p:cNvSpPr txBox="1"/>
          <p:nvPr/>
        </p:nvSpPr>
        <p:spPr>
          <a:xfrm>
            <a:off x="8356397" y="2651760"/>
            <a:ext cx="3058058" cy="228600"/>
          </a:xfrm>
          <a:prstGeom prst="rect">
            <a:avLst/>
          </a:prstGeom>
          <a:noFill/>
          <a:ln/>
        </p:spPr>
        <p:txBody>
          <a:bodyPr wrap="square" lIns="0" tIns="0" rIns="0" bIns="0" rtlCol="0" anchor="t"/>
          <a:lstStyle/>
          <a:p>
            <a:pPr marL="0" indent="0">
              <a:buNone/>
            </a:pPr>
            <a:endParaRPr lang="en-US" sz="1400" dirty="0"/>
          </a:p>
        </p:txBody>
      </p:sp>
      <p:sp>
        <p:nvSpPr>
          <p:cNvPr id="20" name="body-text"/>
          <p:cNvSpPr txBox="1"/>
          <p:nvPr/>
        </p:nvSpPr>
        <p:spPr>
          <a:xfrm>
            <a:off x="548640" y="3246120"/>
            <a:ext cx="11094415" cy="2834640"/>
          </a:xfrm>
          <a:prstGeom prst="rect">
            <a:avLst/>
          </a:prstGeom>
          <a:noFill/>
          <a:ln/>
        </p:spPr>
        <p:txBody>
          <a:bodyPr wrap="square" lIns="0" tIns="0" rIns="0" bIns="0" rtlCol="0" anchor="t"/>
          <a:lstStyle/>
          <a:p>
            <a:pPr marL="0" indent="0">
              <a:spcAft>
                <a:spcPts val="600"/>
              </a:spcAft>
              <a:buNone/>
            </a:pPr>
            <a:r>
              <a:rPr lang="en-US" sz="1400" dirty="0">
                <a:solidFill>
                  <a:schemeClr val="tx2"/>
                </a:solidFill>
              </a:rPr>
              <a:t>Il metodo connect_ex è analogo a connect, ma in caso di fallimento restituisce un codice di errore anziché sollevare un’eccezione. Se restituisce 0 la connessione è riuscita: la porta è aperta e viene registrata come “Aperta”; altrimenti come “Chiusa”.</a:t>
            </a:r>
            <a:endParaRPr lang="en-US" sz="1400" dirty="0"/>
          </a:p>
          <a:p>
            <a:pPr marL="0" indent="0">
              <a:spcAft>
                <a:spcPts val="600"/>
              </a:spcAft>
              <a:buNone/>
            </a:pPr>
            <a:r>
              <a:rPr lang="en-US" sz="1400" dirty="0">
                <a:solidFill>
                  <a:schemeClr val="tx2"/>
                </a:solidFill>
              </a:rPr>
              <a:t>Il blocco finally garantisce che l’evento di stop venga attivato e il thread dell’animazione venga atteso con join(), evitando che l’animazione resti in esecuzione nel terminale.</a:t>
            </a:r>
            <a:endParaRPr lang="en-US" sz="1400" dirty="0"/>
          </a:p>
          <a:p>
            <a:pPr marL="0" indent="0">
              <a:spcAft>
                <a:spcPts val="600"/>
              </a:spcAft>
              <a:buNone/>
            </a:pPr>
            <a:r>
              <a:rPr lang="en-US" sz="1400" dirty="0">
                <a:solidFill>
                  <a:schemeClr val="tx2"/>
                </a:solidFill>
              </a:rPr>
              <a:t>Al termine viene stampata una tabella con lo stato delle porte, colorata secondo la convenzione; la funzione restituisce il dizionario dei risultati e gli errori generali sono stampati in rosso.</a:t>
            </a:r>
            <a:endParaRPr lang="en-US" sz="1400" dirty="0"/>
          </a:p>
          <a:p>
            <a:pPr marL="342900" indent="-342900">
              <a:spcAft>
                <a:spcPts val="600"/>
              </a:spcAft>
              <a:buSzPct val="100000"/>
              <a:buChar char="▪"/>
            </a:pPr>
            <a:r>
              <a:rPr lang="en-US" sz="1400" b="1" dirty="0">
                <a:solidFill>
                  <a:schemeClr val="tx1"/>
                </a:solidFill>
              </a:rPr>
              <a:t>TCP connect scan: </a:t>
            </a:r>
            <a:r>
              <a:rPr lang="en-US" sz="1400" dirty="0">
                <a:solidFill>
                  <a:schemeClr val="tx2"/>
                </a:solidFill>
              </a:rPr>
              <a:t>per ciascuna porta il sistema tenta di completare l’handshake TCP a tre vie (SYN, SYN/ACK, ACK). Se vi riesce, sulla porta è in ascolto un servizio.</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3 · ZMAP: IL TOOLKIT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3.4.7 http_test(host)</a:t>
            </a:r>
            <a:endParaRPr lang="en-US" sz="3000" dirty="0"/>
          </a:p>
        </p:txBody>
      </p:sp>
      <p:sp>
        <p:nvSpPr>
          <p:cNvPr id="4" name="intro"/>
          <p:cNvSpPr txBox="1"/>
          <p:nvPr/>
        </p:nvSpPr>
        <p:spPr>
          <a:xfrm>
            <a:off x="548640" y="1371600"/>
            <a:ext cx="11094415" cy="365760"/>
          </a:xfrm>
          <a:prstGeom prst="rect">
            <a:avLst/>
          </a:prstGeom>
          <a:noFill/>
          <a:ln/>
        </p:spPr>
        <p:txBody>
          <a:bodyPr wrap="square" lIns="0" tIns="0" rIns="0" bIns="0" rtlCol="0" anchor="ctr"/>
          <a:lstStyle/>
          <a:p>
            <a:pPr marL="0" indent="0">
              <a:buNone/>
            </a:pPr>
            <a:r>
              <a:rPr lang="en-US" sz="1500" dirty="0">
                <a:solidFill>
                  <a:schemeClr val="tx2"/>
                </a:solidFill>
              </a:rPr>
              <a:t>La funzione consente di inviare richieste HTTP a un host e di osservarne la risposta, tramite un breve menu:</a:t>
            </a:r>
            <a:endParaRPr lang="en-US" sz="1500" dirty="0"/>
          </a:p>
        </p:txBody>
      </p:sp>
      <p:sp>
        <p:nvSpPr>
          <p:cNvPr id="5" name="method"/>
          <p:cNvSpPr/>
          <p:nvPr/>
        </p:nvSpPr>
        <p:spPr>
          <a:xfrm>
            <a:off x="548640" y="1874520"/>
            <a:ext cx="1463040" cy="438912"/>
          </a:xfrm>
          <a:prstGeom prst="roundRect">
            <a:avLst>
              <a:gd name="adj" fmla="val 16667"/>
            </a:avLst>
          </a:prstGeom>
          <a:solidFill>
            <a:schemeClr val="accent1"/>
          </a:solidFill>
          <a:ln w="12700">
            <a:solidFill>
              <a:schemeClr val="accent1"/>
            </a:solidFill>
            <a:prstDash val="solid"/>
          </a:ln>
        </p:spPr>
      </p:sp>
      <p:sp>
        <p:nvSpPr>
          <p:cNvPr id="6" name="method-name"/>
          <p:cNvSpPr txBox="1"/>
          <p:nvPr/>
        </p:nvSpPr>
        <p:spPr>
          <a:xfrm>
            <a:off x="548640" y="1874520"/>
            <a:ext cx="1463040" cy="438912"/>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1  GET</a:t>
            </a:r>
            <a:endParaRPr lang="en-US" sz="1300" dirty="0"/>
          </a:p>
        </p:txBody>
      </p:sp>
      <p:sp>
        <p:nvSpPr>
          <p:cNvPr id="7" name="method-desc"/>
          <p:cNvSpPr txBox="1"/>
          <p:nvPr/>
        </p:nvSpPr>
        <p:spPr>
          <a:xfrm>
            <a:off x="2194560" y="1874520"/>
            <a:ext cx="4206240" cy="438912"/>
          </a:xfrm>
          <a:prstGeom prst="rect">
            <a:avLst/>
          </a:prstGeom>
          <a:noFill/>
          <a:ln/>
        </p:spPr>
        <p:txBody>
          <a:bodyPr wrap="square" lIns="0" tIns="0" rIns="0" bIns="0" rtlCol="0" anchor="ctr"/>
          <a:lstStyle/>
          <a:p>
            <a:pPr marL="0" indent="0">
              <a:buNone/>
            </a:pPr>
            <a:r>
              <a:rPr lang="en-US" sz="1400" dirty="0">
                <a:solidFill>
                  <a:schemeClr val="tx2"/>
                </a:solidFill>
              </a:rPr>
              <a:t>richiede il contenuto di una risorsa (la richiesta più comune nei browser)</a:t>
            </a:r>
            <a:endParaRPr lang="en-US" sz="1400" dirty="0"/>
          </a:p>
        </p:txBody>
      </p:sp>
      <p:sp>
        <p:nvSpPr>
          <p:cNvPr id="8" name="method"/>
          <p:cNvSpPr/>
          <p:nvPr/>
        </p:nvSpPr>
        <p:spPr>
          <a:xfrm>
            <a:off x="548640" y="2441448"/>
            <a:ext cx="1463040" cy="438912"/>
          </a:xfrm>
          <a:prstGeom prst="roundRect">
            <a:avLst>
              <a:gd name="adj" fmla="val 16667"/>
            </a:avLst>
          </a:prstGeom>
          <a:solidFill>
            <a:schemeClr val="accent1"/>
          </a:solidFill>
          <a:ln w="12700">
            <a:solidFill>
              <a:schemeClr val="accent1"/>
            </a:solidFill>
            <a:prstDash val="solid"/>
          </a:ln>
        </p:spPr>
      </p:sp>
      <p:sp>
        <p:nvSpPr>
          <p:cNvPr id="9" name="method-name"/>
          <p:cNvSpPr txBox="1"/>
          <p:nvPr/>
        </p:nvSpPr>
        <p:spPr>
          <a:xfrm>
            <a:off x="548640" y="2441448"/>
            <a:ext cx="1463040" cy="438912"/>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2  POST</a:t>
            </a:r>
            <a:endParaRPr lang="en-US" sz="1300" dirty="0"/>
          </a:p>
        </p:txBody>
      </p:sp>
      <p:sp>
        <p:nvSpPr>
          <p:cNvPr id="10" name="method-desc"/>
          <p:cNvSpPr txBox="1"/>
          <p:nvPr/>
        </p:nvSpPr>
        <p:spPr>
          <a:xfrm>
            <a:off x="2194560" y="2441448"/>
            <a:ext cx="4206240" cy="438912"/>
          </a:xfrm>
          <a:prstGeom prst="rect">
            <a:avLst/>
          </a:prstGeom>
          <a:noFill/>
          <a:ln/>
        </p:spPr>
        <p:txBody>
          <a:bodyPr wrap="square" lIns="0" tIns="0" rIns="0" bIns="0" rtlCol="0" anchor="ctr"/>
          <a:lstStyle/>
          <a:p>
            <a:pPr marL="0" indent="0">
              <a:buNone/>
            </a:pPr>
            <a:r>
              <a:rPr lang="en-US" sz="1400" dirty="0">
                <a:solidFill>
                  <a:schemeClr val="tx2"/>
                </a:solidFill>
              </a:rPr>
              <a:t>invia dati al server (nel caso specifico, la stringa “test”)</a:t>
            </a:r>
            <a:endParaRPr lang="en-US" sz="1400" dirty="0"/>
          </a:p>
        </p:txBody>
      </p:sp>
      <p:sp>
        <p:nvSpPr>
          <p:cNvPr id="11" name="method"/>
          <p:cNvSpPr/>
          <p:nvPr/>
        </p:nvSpPr>
        <p:spPr>
          <a:xfrm>
            <a:off x="548640" y="3008376"/>
            <a:ext cx="1463040" cy="438912"/>
          </a:xfrm>
          <a:prstGeom prst="roundRect">
            <a:avLst>
              <a:gd name="adj" fmla="val 16667"/>
            </a:avLst>
          </a:prstGeom>
          <a:solidFill>
            <a:schemeClr val="accent1"/>
          </a:solidFill>
          <a:ln w="12700">
            <a:solidFill>
              <a:schemeClr val="accent1"/>
            </a:solidFill>
            <a:prstDash val="solid"/>
          </a:ln>
        </p:spPr>
      </p:sp>
      <p:sp>
        <p:nvSpPr>
          <p:cNvPr id="12" name="method-name"/>
          <p:cNvSpPr txBox="1"/>
          <p:nvPr/>
        </p:nvSpPr>
        <p:spPr>
          <a:xfrm>
            <a:off x="548640" y="3008376"/>
            <a:ext cx="1463040" cy="438912"/>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3  DELETE</a:t>
            </a:r>
            <a:endParaRPr lang="en-US" sz="1300" dirty="0"/>
          </a:p>
        </p:txBody>
      </p:sp>
      <p:sp>
        <p:nvSpPr>
          <p:cNvPr id="13" name="method-desc"/>
          <p:cNvSpPr txBox="1"/>
          <p:nvPr/>
        </p:nvSpPr>
        <p:spPr>
          <a:xfrm>
            <a:off x="2194560" y="3008376"/>
            <a:ext cx="4206240" cy="438912"/>
          </a:xfrm>
          <a:prstGeom prst="rect">
            <a:avLst/>
          </a:prstGeom>
          <a:noFill/>
          <a:ln/>
        </p:spPr>
        <p:txBody>
          <a:bodyPr wrap="square" lIns="0" tIns="0" rIns="0" bIns="0" rtlCol="0" anchor="ctr"/>
          <a:lstStyle/>
          <a:p>
            <a:pPr marL="0" indent="0">
              <a:buNone/>
            </a:pPr>
            <a:r>
              <a:rPr lang="en-US" sz="1400" dirty="0">
                <a:solidFill>
                  <a:schemeClr val="tx2"/>
                </a:solidFill>
              </a:rPr>
              <a:t>richiede la rimozione di una risorsa</a:t>
            </a:r>
            <a:endParaRPr lang="en-US" sz="1400" dirty="0"/>
          </a:p>
        </p:txBody>
      </p:sp>
      <p:sp>
        <p:nvSpPr>
          <p:cNvPr id="14" name="method"/>
          <p:cNvSpPr/>
          <p:nvPr/>
        </p:nvSpPr>
        <p:spPr>
          <a:xfrm>
            <a:off x="548640" y="3575304"/>
            <a:ext cx="1463040" cy="438912"/>
          </a:xfrm>
          <a:prstGeom prst="roundRect">
            <a:avLst>
              <a:gd name="adj" fmla="val 16667"/>
            </a:avLst>
          </a:prstGeom>
          <a:solidFill>
            <a:schemeClr val="accent1"/>
          </a:solidFill>
          <a:ln w="12700">
            <a:solidFill>
              <a:schemeClr val="accent1"/>
            </a:solidFill>
            <a:prstDash val="solid"/>
          </a:ln>
        </p:spPr>
      </p:sp>
      <p:sp>
        <p:nvSpPr>
          <p:cNvPr id="15" name="method-name"/>
          <p:cNvSpPr txBox="1"/>
          <p:nvPr/>
        </p:nvSpPr>
        <p:spPr>
          <a:xfrm>
            <a:off x="548640" y="3575304"/>
            <a:ext cx="1463040" cy="438912"/>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4  HEAD</a:t>
            </a:r>
            <a:endParaRPr lang="en-US" sz="1300" dirty="0"/>
          </a:p>
        </p:txBody>
      </p:sp>
      <p:sp>
        <p:nvSpPr>
          <p:cNvPr id="16" name="method-desc"/>
          <p:cNvSpPr txBox="1"/>
          <p:nvPr/>
        </p:nvSpPr>
        <p:spPr>
          <a:xfrm>
            <a:off x="2194560" y="3575304"/>
            <a:ext cx="4206240" cy="438912"/>
          </a:xfrm>
          <a:prstGeom prst="rect">
            <a:avLst/>
          </a:prstGeom>
          <a:noFill/>
          <a:ln/>
        </p:spPr>
        <p:txBody>
          <a:bodyPr wrap="square" lIns="0" tIns="0" rIns="0" bIns="0" rtlCol="0" anchor="ctr"/>
          <a:lstStyle/>
          <a:p>
            <a:pPr marL="0" indent="0">
              <a:buNone/>
            </a:pPr>
            <a:r>
              <a:rPr lang="en-US" sz="1400" dirty="0">
                <a:solidFill>
                  <a:schemeClr val="tx2"/>
                </a:solidFill>
              </a:rPr>
              <a:t>analoga a GET, ma richiede soltanto le intestazioni e non il corpo</a:t>
            </a:r>
            <a:endParaRPr lang="en-US" sz="1400" dirty="0"/>
          </a:p>
        </p:txBody>
      </p:sp>
      <p:sp>
        <p:nvSpPr>
          <p:cNvPr id="17" name="method"/>
          <p:cNvSpPr/>
          <p:nvPr/>
        </p:nvSpPr>
        <p:spPr>
          <a:xfrm>
            <a:off x="548640" y="4142232"/>
            <a:ext cx="1463040" cy="438912"/>
          </a:xfrm>
          <a:prstGeom prst="roundRect">
            <a:avLst>
              <a:gd name="adj" fmla="val 16667"/>
            </a:avLst>
          </a:prstGeom>
          <a:solidFill>
            <a:schemeClr val="accent1"/>
          </a:solidFill>
          <a:ln w="12700">
            <a:solidFill>
              <a:schemeClr val="accent1"/>
            </a:solidFill>
            <a:prstDash val="solid"/>
          </a:ln>
        </p:spPr>
      </p:sp>
      <p:sp>
        <p:nvSpPr>
          <p:cNvPr id="18" name="method-name"/>
          <p:cNvSpPr txBox="1"/>
          <p:nvPr/>
        </p:nvSpPr>
        <p:spPr>
          <a:xfrm>
            <a:off x="548640" y="4142232"/>
            <a:ext cx="1463040" cy="438912"/>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5  OPTIONS</a:t>
            </a:r>
            <a:endParaRPr lang="en-US" sz="1300" dirty="0"/>
          </a:p>
        </p:txBody>
      </p:sp>
      <p:sp>
        <p:nvSpPr>
          <p:cNvPr id="19" name="method-desc"/>
          <p:cNvSpPr txBox="1"/>
          <p:nvPr/>
        </p:nvSpPr>
        <p:spPr>
          <a:xfrm>
            <a:off x="2194560" y="4142232"/>
            <a:ext cx="4206240" cy="438912"/>
          </a:xfrm>
          <a:prstGeom prst="rect">
            <a:avLst/>
          </a:prstGeom>
          <a:noFill/>
          <a:ln/>
        </p:spPr>
        <p:txBody>
          <a:bodyPr wrap="square" lIns="0" tIns="0" rIns="0" bIns="0" rtlCol="0" anchor="ctr"/>
          <a:lstStyle/>
          <a:p>
            <a:pPr marL="0" indent="0">
              <a:buNone/>
            </a:pPr>
            <a:r>
              <a:rPr lang="en-US" sz="1400" dirty="0">
                <a:solidFill>
                  <a:schemeClr val="tx2"/>
                </a:solidFill>
              </a:rPr>
              <a:t>chiede al server quali metodi supporta per la risorsa</a:t>
            </a:r>
            <a:endParaRPr lang="en-US" sz="1400" dirty="0"/>
          </a:p>
        </p:txBody>
      </p:sp>
      <p:sp>
        <p:nvSpPr>
          <p:cNvPr id="20" name="body-text"/>
          <p:cNvSpPr txBox="1"/>
          <p:nvPr/>
        </p:nvSpPr>
        <p:spPr>
          <a:xfrm>
            <a:off x="6675120" y="1874520"/>
            <a:ext cx="4965192" cy="4114800"/>
          </a:xfrm>
          <a:prstGeom prst="rect">
            <a:avLst/>
          </a:prstGeom>
          <a:noFill/>
          <a:ln/>
        </p:spPr>
        <p:txBody>
          <a:bodyPr wrap="square" lIns="0" tIns="0" rIns="0" bIns="0" rtlCol="0" anchor="t"/>
          <a:lstStyle/>
          <a:p>
            <a:pPr marL="0" indent="0">
              <a:spcAft>
                <a:spcPts val="800"/>
              </a:spcAft>
              <a:buNone/>
            </a:pPr>
            <a:r>
              <a:rPr lang="en-US" sz="1500" dirty="0">
                <a:solidFill>
                  <a:schemeClr val="tx2"/>
                </a:solidFill>
              </a:rPr>
              <a:t>Dopo la scelta, il programma costruisce l’indirizzo nella forma http://&lt;host&gt; e invia la richiesta con il metodo corrispondente della libreria requests, con un timeout di 5 secondi per evitare attese indefinite.</a:t>
            </a:r>
            <a:endParaRPr lang="en-US" sz="1500" dirty="0"/>
          </a:p>
          <a:p>
            <a:pPr marL="0" indent="0">
              <a:spcAft>
                <a:spcPts val="800"/>
              </a:spcAft>
              <a:buNone/>
            </a:pPr>
            <a:r>
              <a:rPr lang="en-US" sz="1500" dirty="0">
                <a:solidFill>
                  <a:schemeClr val="tx2"/>
                </a:solidFill>
              </a:rPr>
              <a:t>Per POST, DELETE, HEAD e OPTIONS stampa in verde il messaggio di successo con il codice di stato HTTP ricevuto (ad esempio 200, 404, 405); per la GET stampa la conferma di completamento.</a:t>
            </a:r>
            <a:endParaRPr lang="en-US" sz="1500" dirty="0"/>
          </a:p>
          <a:p>
            <a:pPr marL="0" indent="0">
              <a:spcAft>
                <a:spcPts val="800"/>
              </a:spcAft>
              <a:buNone/>
            </a:pPr>
            <a:r>
              <a:rPr lang="en-US" sz="1500" dirty="0">
                <a:solidFill>
                  <a:schemeClr val="tx2"/>
                </a:solidFill>
              </a:rPr>
              <a:t>Se la scelta non è prevista compare “Scelta non riconosciuta”; qualsiasi errore di rete viene mostrato come “Errore HTTP”.</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3 · ZMAP: IL TOOLKIT DI RETE</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3.5 Blocco principale e menu</a:t>
            </a:r>
            <a:endParaRPr lang="en-US" sz="3000" dirty="0"/>
          </a:p>
        </p:txBody>
      </p:sp>
      <p:sp>
        <p:nvSpPr>
          <p:cNvPr id="4" name="intro"/>
          <p:cNvSpPr txBox="1"/>
          <p:nvPr/>
        </p:nvSpPr>
        <p:spPr>
          <a:xfrm>
            <a:off x="548640" y="1325880"/>
            <a:ext cx="11094415" cy="548640"/>
          </a:xfrm>
          <a:prstGeom prst="rect">
            <a:avLst/>
          </a:prstGeom>
          <a:noFill/>
          <a:ln/>
        </p:spPr>
        <p:txBody>
          <a:bodyPr wrap="square" lIns="0" tIns="0" rIns="0" bIns="0" rtlCol="0" anchor="ctr"/>
          <a:lstStyle/>
          <a:p>
            <a:pPr marL="0" indent="0">
              <a:buNone/>
            </a:pPr>
            <a:r>
              <a:rPr lang="en-US" sz="1500" dirty="0">
                <a:solidFill>
                  <a:schemeClr val="tx2"/>
                </a:solidFill>
              </a:rPr>
              <a:t>Il blocco if __name__ == "__main__": viene eseguito all’avvio del file. Richiama print_title() ed entra nel ciclo infinito del menu, che propone sette opzioni:</a:t>
            </a:r>
            <a:endParaRPr lang="en-US" sz="1500" dirty="0"/>
          </a:p>
        </p:txBody>
      </p:sp>
      <p:graphicFrame>
        <p:nvGraphicFramePr>
          <p:cNvPr id="44" name="table"/>
          <p:cNvGraphicFramePr>
            <a:graphicFrameLocks noGrp="1"/>
          </p:cNvGraphicFramePr>
          <p:nvPr>
            <p:extLst>
              <p:ext uri="{D42A27DB-BD31-4B8C-83A1-F6EECF244321}">
                <p14:modId xmlns:p14="http://schemas.microsoft.com/office/powerpoint/2010/main" val="1579011935"/>
              </p:ext>
            </p:extLst>
          </p:nvPr>
        </p:nvGraphicFramePr>
        <p:xfrm>
          <a:off x="548640" y="1965960"/>
          <a:ext cx="6766560" cy="3560064"/>
        </p:xfrm>
        <a:graphic>
          <a:graphicData uri="http://schemas.openxmlformats.org/drawingml/2006/table">
            <a:tbl>
              <a:tblPr/>
              <a:tblGrid>
                <a:gridCol w="8229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438912">
                <a:tc>
                  <a:txBody>
                    <a:bodyPr/>
                    <a:lstStyle/>
                    <a:p>
                      <a:pPr marL="0" indent="0">
                        <a:buNone/>
                      </a:pPr>
                      <a:r>
                        <a:rPr lang="en-US" sz="1300" b="1" dirty="0">
                          <a:solidFill>
                            <a:schemeClr val="bg1"/>
                          </a:solidFill>
                        </a:rPr>
                        <a:t>Scelta</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Azione</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Funzione richiamata</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38912">
                <a:tc>
                  <a:txBody>
                    <a:bodyPr/>
                    <a:lstStyle/>
                    <a:p>
                      <a:pPr marL="0" indent="0" algn="ctr">
                        <a:buNone/>
                      </a:pPr>
                      <a:r>
                        <a:rPr lang="en-US" sz="1300" b="1" dirty="0">
                          <a:solidFill>
                            <a:schemeClr val="tx2"/>
                          </a:solidFill>
                        </a:rPr>
                        <a:t>1</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2"/>
                          </a:solidFill>
                        </a:rPr>
                        <a:t>Verificare la raggiungibilità di un host</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2"/>
                          </a:solidFill>
                          <a:latin typeface="Courier New" pitchFamily="34" charset="0"/>
                          <a:ea typeface="Courier New" pitchFamily="34" charset="-122"/>
                          <a:cs typeface="Courier New" pitchFamily="34" charset="-120"/>
                        </a:rPr>
                        <a:t>ping(host)</a:t>
                      </a:r>
                      <a:endParaRPr lang="en-US" sz="13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8912">
                <a:tc>
                  <a:txBody>
                    <a:bodyPr/>
                    <a:lstStyle/>
                    <a:p>
                      <a:pPr marL="0" indent="0" algn="ctr">
                        <a:buNone/>
                      </a:pPr>
                      <a:r>
                        <a:rPr lang="en-US" sz="1300" b="1" dirty="0">
                          <a:solidFill>
                            <a:schemeClr val="tx2"/>
                          </a:solidFill>
                        </a:rPr>
                        <a:t>2</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300" dirty="0">
                          <a:solidFill>
                            <a:schemeClr val="tx2"/>
                          </a:solidFill>
                        </a:rPr>
                        <a:t>Eseguire una scansione della rete</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300" dirty="0">
                          <a:solidFill>
                            <a:schemeClr val="tx2"/>
                          </a:solidFill>
                          <a:latin typeface="Courier New" pitchFamily="34" charset="0"/>
                          <a:ea typeface="Courier New" pitchFamily="34" charset="-122"/>
                          <a:cs typeface="Courier New" pitchFamily="34" charset="-120"/>
                        </a:rPr>
                        <a:t>scan()</a:t>
                      </a:r>
                      <a:endParaRPr lang="en-US" sz="13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38912">
                <a:tc>
                  <a:txBody>
                    <a:bodyPr/>
                    <a:lstStyle/>
                    <a:p>
                      <a:pPr marL="0" indent="0" algn="ctr">
                        <a:buNone/>
                      </a:pPr>
                      <a:r>
                        <a:rPr lang="en-US" sz="1300" b="1" dirty="0">
                          <a:solidFill>
                            <a:schemeClr val="tx2"/>
                          </a:solidFill>
                        </a:rPr>
                        <a:t>3</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2"/>
                          </a:solidFill>
                        </a:rPr>
                        <a:t>Verificare i record DNS di un dominio</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2"/>
                          </a:solidFill>
                          <a:latin typeface="Courier New" pitchFamily="34" charset="0"/>
                          <a:ea typeface="Courier New" pitchFamily="34" charset="-122"/>
                          <a:cs typeface="Courier New" pitchFamily="34" charset="-120"/>
                        </a:rPr>
                        <a:t>dns_lookup(domain)</a:t>
                      </a:r>
                      <a:endParaRPr lang="en-US" sz="13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8912">
                <a:tc>
                  <a:txBody>
                    <a:bodyPr/>
                    <a:lstStyle/>
                    <a:p>
                      <a:pPr marL="0" indent="0" algn="ctr">
                        <a:buNone/>
                      </a:pPr>
                      <a:r>
                        <a:rPr lang="en-US" sz="1300" b="1" dirty="0">
                          <a:solidFill>
                            <a:schemeClr val="tx2"/>
                          </a:solidFill>
                        </a:rPr>
                        <a:t>4</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300" dirty="0">
                          <a:solidFill>
                            <a:schemeClr val="tx2"/>
                          </a:solidFill>
                        </a:rPr>
                        <a:t>Elencare tutte le interfacce</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300" dirty="0">
                          <a:solidFill>
                            <a:schemeClr val="tx2"/>
                          </a:solidFill>
                          <a:latin typeface="Courier New" pitchFamily="34" charset="0"/>
                          <a:ea typeface="Courier New" pitchFamily="34" charset="-122"/>
                          <a:cs typeface="Courier New" pitchFamily="34" charset="-120"/>
                        </a:rPr>
                        <a:t>list_interfaces()</a:t>
                      </a:r>
                      <a:endParaRPr lang="en-US" sz="13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38912">
                <a:tc>
                  <a:txBody>
                    <a:bodyPr/>
                    <a:lstStyle/>
                    <a:p>
                      <a:pPr marL="0" indent="0" algn="ctr">
                        <a:buNone/>
                      </a:pPr>
                      <a:r>
                        <a:rPr lang="en-US" sz="1300" b="1" dirty="0">
                          <a:solidFill>
                            <a:schemeClr val="tx2"/>
                          </a:solidFill>
                        </a:rPr>
                        <a:t>5</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2"/>
                          </a:solidFill>
                        </a:rPr>
                        <a:t>Scansionare porte specifiche</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2"/>
                          </a:solidFill>
                          <a:latin typeface="Courier New" pitchFamily="34" charset="0"/>
                          <a:ea typeface="Courier New" pitchFamily="34" charset="-122"/>
                          <a:cs typeface="Courier New" pitchFamily="34" charset="-120"/>
                        </a:rPr>
                        <a:t>port_scan(host, ports)</a:t>
                      </a:r>
                      <a:endParaRPr lang="en-US" sz="13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38912">
                <a:tc>
                  <a:txBody>
                    <a:bodyPr/>
                    <a:lstStyle/>
                    <a:p>
                      <a:pPr marL="0" indent="0" algn="ctr">
                        <a:buNone/>
                      </a:pPr>
                      <a:r>
                        <a:rPr lang="en-US" sz="1300" b="1" dirty="0">
                          <a:solidFill>
                            <a:schemeClr val="tx2"/>
                          </a:solidFill>
                        </a:rPr>
                        <a:t>6</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300" dirty="0">
                          <a:solidFill>
                            <a:schemeClr val="tx2"/>
                          </a:solidFill>
                        </a:rPr>
                        <a:t>Testare HTTP con GET/POST/DELETE/HEAD/OPTIONS</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300" dirty="0">
                          <a:solidFill>
                            <a:schemeClr val="tx2"/>
                          </a:solidFill>
                          <a:latin typeface="Courier New" pitchFamily="34" charset="0"/>
                          <a:ea typeface="Courier New" pitchFamily="34" charset="-122"/>
                          <a:cs typeface="Courier New" pitchFamily="34" charset="-120"/>
                        </a:rPr>
                        <a:t>http_test(host)</a:t>
                      </a:r>
                      <a:endParaRPr lang="en-US" sz="13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38912">
                <a:tc>
                  <a:txBody>
                    <a:bodyPr/>
                    <a:lstStyle/>
                    <a:p>
                      <a:pPr marL="0" indent="0" algn="ctr">
                        <a:buNone/>
                      </a:pPr>
                      <a:r>
                        <a:rPr lang="en-US" sz="1300" b="1" dirty="0">
                          <a:solidFill>
                            <a:schemeClr val="tx2"/>
                          </a:solidFill>
                        </a:rPr>
                        <a:t>7</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2"/>
                          </a:solidFill>
                        </a:rPr>
                        <a:t>Uscire</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2"/>
                          </a:solidFill>
                          <a:latin typeface="Courier New" pitchFamily="34" charset="0"/>
                          <a:ea typeface="Courier New" pitchFamily="34" charset="-122"/>
                          <a:cs typeface="Courier New" pitchFamily="34" charset="-120"/>
                        </a:rPr>
                        <a:t>Interrompe il ciclo</a:t>
                      </a:r>
                      <a:endParaRPr lang="en-US" sz="13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6" name="tcap"/>
          <p:cNvSpPr txBox="1"/>
          <p:nvPr/>
        </p:nvSpPr>
        <p:spPr>
          <a:xfrm>
            <a:off x="548640" y="5577840"/>
            <a:ext cx="6766560" cy="274320"/>
          </a:xfrm>
          <a:prstGeom prst="rect">
            <a:avLst/>
          </a:prstGeom>
          <a:noFill/>
          <a:ln/>
        </p:spPr>
        <p:txBody>
          <a:bodyPr wrap="square" lIns="0" tIns="0" rIns="0" bIns="0" rtlCol="0" anchor="ctr"/>
          <a:lstStyle/>
          <a:p>
            <a:pPr marL="0" indent="0">
              <a:buNone/>
            </a:pPr>
            <a:r>
              <a:rPr lang="en-US" sz="1100" i="1" dirty="0">
                <a:solidFill>
                  <a:schemeClr val="accent4"/>
                </a:solidFill>
              </a:rPr>
              <a:t>Tabella 7 – Opzioni del menu principale.</a:t>
            </a:r>
            <a:endParaRPr lang="en-US" sz="1100" dirty="0"/>
          </a:p>
        </p:txBody>
      </p:sp>
      <p:sp>
        <p:nvSpPr>
          <p:cNvPr id="7" name="body-text"/>
          <p:cNvSpPr txBox="1"/>
          <p:nvPr/>
        </p:nvSpPr>
        <p:spPr>
          <a:xfrm>
            <a:off x="7589520" y="1965960"/>
            <a:ext cx="4050792" cy="4023360"/>
          </a:xfrm>
          <a:prstGeom prst="rect">
            <a:avLst/>
          </a:prstGeom>
          <a:noFill/>
          <a:ln/>
        </p:spPr>
        <p:txBody>
          <a:bodyPr wrap="square" lIns="0" tIns="0" rIns="0" bIns="0" rtlCol="0" anchor="t"/>
          <a:lstStyle/>
          <a:p>
            <a:pPr marL="0" indent="0">
              <a:spcAft>
                <a:spcPts val="800"/>
              </a:spcAft>
              <a:buNone/>
            </a:pPr>
            <a:r>
              <a:rPr lang="en-US" sz="1400" dirty="0">
                <a:solidFill>
                  <a:schemeClr val="tx2"/>
                </a:solidFill>
              </a:rPr>
              <a:t>L’input viene letto con input() e confrontato con le stringhe “1”–“7” mediante una catena if / elif. Per le opzioni con un bersaglio (1, 3, 5, 6) il programma chiede prima l’indirizzo o il dominio; l’opzione 2 richiede la subnet all’interno della funzione.</a:t>
            </a:r>
            <a:endParaRPr lang="en-US" sz="1400" dirty="0"/>
          </a:p>
          <a:p>
            <a:pPr marL="0" indent="0">
              <a:spcAft>
                <a:spcPts val="800"/>
              </a:spcAft>
              <a:buNone/>
            </a:pPr>
            <a:r>
              <a:rPr lang="en-US" sz="1400" dirty="0">
                <a:solidFill>
                  <a:schemeClr val="tx2"/>
                </a:solidFill>
              </a:rPr>
              <a:t>Dopo ogni scansione delle porte l’indirizzo viene memorizzato come attributo della funzione (port_scan.previous_ip = host). Alla successiva opzione 5 il programma verifica con hasattr se esiste e chiede se riutilizzare lo stesso IP; poi richiede l’intervallo di porte (es. 1-1000) e avvia port_scan.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463040"/>
          </a:xfrm>
          <a:prstGeom prst="rect">
            <a:avLst/>
          </a:prstGeom>
          <a:noFill/>
          <a:ln/>
        </p:spPr>
        <p:txBody>
          <a:bodyPr wrap="square" lIns="0" tIns="0" rIns="0" bIns="0" rtlCol="0"/>
          <a:lstStyle/>
          <a:p>
            <a:pPr marL="0" indent="0" algn="l">
              <a:buNone/>
            </a:pPr>
            <a:r>
              <a:rPr lang="en-US" sz="9600" b="1" dirty="0">
                <a:solidFill>
                  <a:schemeClr val="accent3"/>
                </a:solidFill>
                <a:latin typeface="Arial" pitchFamily="34" charset="0"/>
                <a:ea typeface="Arial" pitchFamily="34" charset="-122"/>
                <a:cs typeface="Arial" pitchFamily="34" charset="-120"/>
              </a:rPr>
              <a:t>04</a:t>
            </a:r>
            <a:endParaRPr lang="en-US" sz="9600" dirty="0"/>
          </a:p>
        </p:txBody>
      </p:sp>
      <p:sp>
        <p:nvSpPr>
          <p:cNvPr id="3" name="Text 0"/>
          <p:cNvSpPr>
            <a:spLocks noGrp="1"/>
          </p:cNvSpPr>
          <p:nvPr>
            <p:ph type="title" idx="101" hasCustomPrompt="1"/>
          </p:nvPr>
        </p:nvSpPr>
        <p:spPr>
          <a:xfrm>
            <a:off x="548640" y="2651760"/>
            <a:ext cx="6583680" cy="1097280"/>
          </a:xfrm>
          <a:prstGeom prst="rect">
            <a:avLst/>
          </a:prstGeom>
          <a:noFill/>
          <a:ln/>
        </p:spPr>
        <p:txBody>
          <a:bodyPr wrap="square" lIns="0" tIns="0" rIns="0" bIns="0" rtlCol="0" anchor="t"/>
          <a:lstStyle/>
          <a:p>
            <a:pPr marL="0" indent="0" algn="l">
              <a:buNone/>
            </a:pPr>
            <a:r>
              <a:rPr lang="en-US" sz="4000" b="1" dirty="0">
                <a:solidFill>
                  <a:schemeClr val="bg1"/>
                </a:solidFill>
                <a:latin typeface="Arial" pitchFamily="34" charset="0"/>
                <a:ea typeface="Arial" pitchFamily="34" charset="-122"/>
                <a:cs typeface="Arial" pitchFamily="34" charset="-120"/>
              </a:rPr>
              <a:t>Raccomandazioni di sicurezza</a:t>
            </a:r>
            <a:endParaRPr lang="en-US" sz="4000" dirty="0"/>
          </a:p>
        </p:txBody>
      </p:sp>
      <p:sp>
        <p:nvSpPr>
          <p:cNvPr id="4" name="Text 0"/>
          <p:cNvSpPr>
            <a:spLocks noGrp="1"/>
          </p:cNvSpPr>
          <p:nvPr>
            <p:ph type="body" idx="102" hasCustomPrompt="1"/>
          </p:nvPr>
        </p:nvSpPr>
        <p:spPr>
          <a:xfrm>
            <a:off x="7589520" y="1280160"/>
            <a:ext cx="4023360" cy="4389120"/>
          </a:xfrm>
          <a:prstGeom prst="rect">
            <a:avLst/>
          </a:prstGeom>
          <a:noFill/>
          <a:ln/>
        </p:spPr>
        <p:txBody>
          <a:bodyPr wrap="square" lIns="0" tIns="0" rIns="0" bIns="0" rtlCol="0" anchor="ctr"/>
          <a:lstStyle/>
          <a:p>
            <a:pPr marL="0" indent="0" algn="l">
              <a:spcAft>
                <a:spcPts val="800"/>
              </a:spcAft>
              <a:buNone/>
            </a:pPr>
            <a:r>
              <a:rPr lang="en-US" sz="1500" dirty="0">
                <a:solidFill>
                  <a:schemeClr val="accent5"/>
                </a:solidFill>
              </a:rPr>
              <a:t>Come richiesto dalla Compagnia Theta, raccomandazioni relative all’infrastruttura di rete e alla configurazione dei firewall.</a:t>
            </a:r>
            <a:endParaRPr lang="en-US" sz="1500" dirty="0"/>
          </a:p>
          <a:p>
            <a:pPr marL="0" indent="0" algn="l">
              <a:spcAft>
                <a:spcPts val="800"/>
              </a:spcAft>
              <a:buNone/>
            </a:pPr>
            <a:r>
              <a:rPr lang="en-US" sz="1500" dirty="0">
                <a:solidFill>
                  <a:schemeClr val="accent5"/>
                </a:solidFill>
              </a:rPr>
              <a:t>4.1 Infrastruttura di rete</a:t>
            </a:r>
            <a:endParaRPr lang="en-US" sz="1500" dirty="0"/>
          </a:p>
          <a:p>
            <a:pPr marL="0" indent="0" algn="l">
              <a:spcAft>
                <a:spcPts val="800"/>
              </a:spcAft>
              <a:buNone/>
            </a:pPr>
            <a:r>
              <a:rPr lang="en-US" sz="1500" dirty="0">
                <a:solidFill>
                  <a:schemeClr val="accent5"/>
                </a:solidFill>
              </a:rPr>
              <a:t>4.2 Firewall</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4 · RACCOMANDAZIONI DI SICUREZZA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4.1 Infrastruttura di rete  ·  4.2 Firewall</a:t>
            </a:r>
            <a:endParaRPr lang="en-US" sz="3000" dirty="0"/>
          </a:p>
        </p:txBody>
      </p:sp>
      <p:sp>
        <p:nvSpPr>
          <p:cNvPr id="4" name="card"/>
          <p:cNvSpPr/>
          <p:nvPr/>
        </p:nvSpPr>
        <p:spPr>
          <a:xfrm>
            <a:off x="548640" y="1463040"/>
            <a:ext cx="10546829" cy="4434840"/>
          </a:xfrm>
          <a:prstGeom prst="roundRect">
            <a:avLst>
              <a:gd name="adj" fmla="val 2500"/>
            </a:avLst>
          </a:prstGeom>
          <a:solidFill>
            <a:schemeClr val="bg2"/>
          </a:solidFill>
          <a:ln w="12700">
            <a:solidFill>
              <a:schemeClr val="bg2"/>
            </a:solidFill>
            <a:prstDash val="solid"/>
          </a:ln>
        </p:spPr>
      </p:sp>
      <p:sp>
        <p:nvSpPr>
          <p:cNvPr id="5" name="badge"/>
          <p:cNvSpPr/>
          <p:nvPr/>
        </p:nvSpPr>
        <p:spPr>
          <a:xfrm>
            <a:off x="777240" y="1691640"/>
            <a:ext cx="457200" cy="457200"/>
          </a:xfrm>
          <a:prstGeom prst="ellipse">
            <a:avLst/>
          </a:prstGeom>
          <a:solidFill>
            <a:schemeClr val="accent1"/>
          </a:solidFill>
          <a:ln w="12700">
            <a:solidFill>
              <a:schemeClr val="accent1"/>
            </a:solidFill>
            <a:prstDash val="solid"/>
          </a:ln>
        </p:spPr>
      </p:sp>
      <p:sp>
        <p:nvSpPr>
          <p:cNvPr id="6" name="badge-num"/>
          <p:cNvSpPr txBox="1"/>
          <p:nvPr/>
        </p:nvSpPr>
        <p:spPr>
          <a:xfrm>
            <a:off x="77724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a:t>
            </a:r>
            <a:endParaRPr lang="en-US" sz="1500" dirty="0"/>
          </a:p>
        </p:txBody>
      </p:sp>
      <p:sp>
        <p:nvSpPr>
          <p:cNvPr id="7" name="card-head"/>
          <p:cNvSpPr txBox="1"/>
          <p:nvPr/>
        </p:nvSpPr>
        <p:spPr>
          <a:xfrm>
            <a:off x="1417320" y="1664208"/>
            <a:ext cx="2606040"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Infrastruttura di rete</a:t>
            </a:r>
            <a:endParaRPr lang="en-US" sz="1600" dirty="0"/>
          </a:p>
        </p:txBody>
      </p:sp>
      <p:sp>
        <p:nvSpPr>
          <p:cNvPr id="8" name="card-body"/>
          <p:cNvSpPr txBox="1"/>
          <p:nvPr/>
        </p:nvSpPr>
        <p:spPr>
          <a:xfrm>
            <a:off x="777240" y="2286000"/>
            <a:ext cx="8253334" cy="3474720"/>
          </a:xfrm>
          <a:prstGeom prst="rect">
            <a:avLst/>
          </a:prstGeom>
          <a:noFill/>
          <a:ln/>
        </p:spPr>
        <p:txBody>
          <a:bodyPr wrap="square" lIns="0" tIns="0" rIns="0" bIns="0" rtlCol="0" anchor="t"/>
          <a:lstStyle/>
          <a:p>
            <a:pPr marL="0" indent="0">
              <a:spcAft>
                <a:spcPts val="400"/>
              </a:spcAft>
              <a:buNone/>
            </a:pPr>
            <a:r>
              <a:rPr lang="en-US" sz="1500" dirty="0">
                <a:solidFill>
                  <a:schemeClr val="tx2"/>
                </a:solidFill>
              </a:rPr>
              <a:t>Ridondanza implementata secondo il paradigma Collapsed Core, su quattro switch core (due per sede) e basata sul protocollo Cisco HSRP (Hot Standby Router Protocol).</a:t>
            </a:r>
            <a:endParaRPr lang="en-US" sz="1500" dirty="0"/>
          </a:p>
          <a:p>
            <a:pPr marL="0" indent="0">
              <a:spcBef>
                <a:spcPts val="600"/>
              </a:spcBef>
              <a:spcAft>
                <a:spcPts val="400"/>
              </a:spcAft>
              <a:buNone/>
            </a:pPr>
            <a:r>
              <a:rPr lang="en-US" sz="1500" b="1" dirty="0">
                <a:solidFill>
                  <a:schemeClr val="accent1"/>
                </a:solidFill>
              </a:rPr>
              <a:t>Interventi consigliati</a:t>
            </a:r>
            <a:endParaRPr lang="en-US" sz="1500" dirty="0"/>
          </a:p>
          <a:p>
            <a:pPr marL="0" indent="0">
              <a:spcAft>
                <a:spcPts val="400"/>
              </a:spcAft>
              <a:buNone/>
            </a:pPr>
            <a:r>
              <a:rPr lang="en-US" sz="1500" dirty="0">
                <a:solidFill>
                  <a:schemeClr val="tx2"/>
                </a:solidFill>
              </a:rPr>
              <a:t>Nessun rilievo.</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463040"/>
          </a:xfrm>
          <a:prstGeom prst="rect">
            <a:avLst/>
          </a:prstGeom>
          <a:noFill/>
          <a:ln/>
        </p:spPr>
        <p:txBody>
          <a:bodyPr wrap="square" lIns="0" tIns="0" rIns="0" bIns="0" rtlCol="0"/>
          <a:lstStyle/>
          <a:p>
            <a:pPr marL="0" indent="0" algn="l">
              <a:buNone/>
            </a:pPr>
            <a:r>
              <a:rPr lang="en-US" sz="9600" b="1" dirty="0">
                <a:solidFill>
                  <a:schemeClr val="accent3"/>
                </a:solidFill>
                <a:latin typeface="Arial" pitchFamily="34" charset="0"/>
                <a:ea typeface="Arial" pitchFamily="34" charset="-122"/>
                <a:cs typeface="Arial" pitchFamily="34" charset="-120"/>
              </a:rPr>
              <a:t>05</a:t>
            </a:r>
            <a:endParaRPr lang="en-US" sz="9600" dirty="0"/>
          </a:p>
        </p:txBody>
      </p:sp>
      <p:sp>
        <p:nvSpPr>
          <p:cNvPr id="3" name="Text 0"/>
          <p:cNvSpPr>
            <a:spLocks noGrp="1"/>
          </p:cNvSpPr>
          <p:nvPr>
            <p:ph type="title" idx="101" hasCustomPrompt="1"/>
          </p:nvPr>
        </p:nvSpPr>
        <p:spPr>
          <a:xfrm>
            <a:off x="548640" y="2651760"/>
            <a:ext cx="6583680" cy="1097280"/>
          </a:xfrm>
          <a:prstGeom prst="rect">
            <a:avLst/>
          </a:prstGeom>
          <a:noFill/>
          <a:ln/>
        </p:spPr>
        <p:txBody>
          <a:bodyPr wrap="square" lIns="0" tIns="0" rIns="0" bIns="0" rtlCol="0" anchor="t"/>
          <a:lstStyle/>
          <a:p>
            <a:pPr marL="0" indent="0" algn="l">
              <a:buNone/>
            </a:pPr>
            <a:r>
              <a:rPr lang="en-US" sz="4000" b="1" dirty="0">
                <a:solidFill>
                  <a:schemeClr val="bg1"/>
                </a:solidFill>
                <a:latin typeface="Arial" pitchFamily="34" charset="0"/>
                <a:ea typeface="Arial" pitchFamily="34" charset="-122"/>
                <a:cs typeface="Arial" pitchFamily="34" charset="-120"/>
              </a:rPr>
              <a:t>Strumento di cattura dei socket di rete (Sniffer)</a:t>
            </a:r>
            <a:endParaRPr lang="en-US" sz="4000" dirty="0"/>
          </a:p>
        </p:txBody>
      </p:sp>
      <p:sp>
        <p:nvSpPr>
          <p:cNvPr id="4" name="Text 0"/>
          <p:cNvSpPr>
            <a:spLocks noGrp="1"/>
          </p:cNvSpPr>
          <p:nvPr>
            <p:ph type="body" idx="102" hasCustomPrompt="1"/>
          </p:nvPr>
        </p:nvSpPr>
        <p:spPr>
          <a:xfrm>
            <a:off x="7589520" y="1280160"/>
            <a:ext cx="4023360" cy="4389120"/>
          </a:xfrm>
          <a:prstGeom prst="rect">
            <a:avLst/>
          </a:prstGeom>
          <a:noFill/>
          <a:ln/>
        </p:spPr>
        <p:txBody>
          <a:bodyPr wrap="square" lIns="0" tIns="0" rIns="0" bIns="0" rtlCol="0" anchor="ctr"/>
          <a:lstStyle/>
          <a:p>
            <a:pPr marL="0" indent="0" algn="l">
              <a:spcAft>
                <a:spcPts val="800"/>
              </a:spcAft>
              <a:buNone/>
            </a:pPr>
            <a:r>
              <a:rPr lang="en-US" sz="1500" dirty="0">
                <a:solidFill>
                  <a:schemeClr val="accent5"/>
                </a:solidFill>
              </a:rPr>
              <a:t>5.1 Funzionamento in sintesi</a:t>
            </a:r>
            <a:endParaRPr lang="en-US" sz="1500" dirty="0"/>
          </a:p>
          <a:p>
            <a:pPr marL="0" indent="0" algn="l">
              <a:spcAft>
                <a:spcPts val="800"/>
              </a:spcAft>
              <a:buNone/>
            </a:pPr>
            <a:r>
              <a:rPr lang="en-US" sz="1500" dirty="0">
                <a:solidFill>
                  <a:schemeClr val="accent5"/>
                </a:solidFill>
              </a:rPr>
              <a:t>5.2 Import dei moduli</a:t>
            </a:r>
            <a:endParaRPr lang="en-US" sz="1500" dirty="0"/>
          </a:p>
          <a:p>
            <a:pPr marL="0" indent="0" algn="l">
              <a:spcAft>
                <a:spcPts val="800"/>
              </a:spcAft>
              <a:buNone/>
            </a:pPr>
            <a:r>
              <a:rPr lang="en-US" sz="1500" dirty="0">
                <a:solidFill>
                  <a:schemeClr val="accent5"/>
                </a:solidFill>
              </a:rPr>
              <a:t>5.3 Funzioni di supporto</a:t>
            </a:r>
            <a:endParaRPr lang="en-US" sz="1500" dirty="0"/>
          </a:p>
          <a:p>
            <a:pPr marL="0" indent="0" algn="l">
              <a:spcAft>
                <a:spcPts val="800"/>
              </a:spcAft>
              <a:buNone/>
            </a:pPr>
            <a:r>
              <a:rPr lang="en-US" sz="1500" dirty="0">
                <a:solidFill>
                  <a:schemeClr val="accent5"/>
                </a:solidFill>
              </a:rPr>
              <a:t>5.4 Creazione del socket raw</a:t>
            </a:r>
            <a:endParaRPr lang="en-US" sz="1500" dirty="0"/>
          </a:p>
          <a:p>
            <a:pPr marL="0" indent="0" algn="l">
              <a:spcAft>
                <a:spcPts val="800"/>
              </a:spcAft>
              <a:buNone/>
            </a:pPr>
            <a:r>
              <a:rPr lang="en-US" sz="1500" dirty="0">
                <a:solidFill>
                  <a:schemeClr val="accent5"/>
                </a:solidFill>
              </a:rPr>
              <a:t>5.5 Ciclo di cattura e header Ethernet</a:t>
            </a:r>
            <a:endParaRPr lang="en-US" sz="1500" dirty="0"/>
          </a:p>
          <a:p>
            <a:pPr marL="0" indent="0" algn="l">
              <a:spcAft>
                <a:spcPts val="800"/>
              </a:spcAft>
              <a:buNone/>
            </a:pPr>
            <a:r>
              <a:rPr lang="en-US" sz="1500" dirty="0">
                <a:solidFill>
                  <a:schemeClr val="accent5"/>
                </a:solidFill>
              </a:rPr>
              <a:t>5.6 Decodifica dell’header IP</a:t>
            </a:r>
            <a:endParaRPr lang="en-US" sz="1500" dirty="0"/>
          </a:p>
          <a:p>
            <a:pPr marL="0" indent="0" algn="l">
              <a:spcAft>
                <a:spcPts val="800"/>
              </a:spcAft>
              <a:buNone/>
            </a:pPr>
            <a:r>
              <a:rPr lang="en-US" sz="1500" dirty="0">
                <a:solidFill>
                  <a:schemeClr val="accent5"/>
                </a:solidFill>
              </a:rPr>
              <a:t>5.7 Decodifica di TCP, UDP e ICMP</a:t>
            </a:r>
            <a:endParaRPr lang="en-US" sz="1500" dirty="0"/>
          </a:p>
          <a:p>
            <a:pPr marL="0" indent="0" algn="l">
              <a:spcAft>
                <a:spcPts val="800"/>
              </a:spcAft>
              <a:buNone/>
            </a:pPr>
            <a:r>
              <a:rPr lang="en-US" sz="1500" dirty="0">
                <a:solidFill>
                  <a:schemeClr val="accent5"/>
                </a:solidFill>
              </a:rPr>
              <a:t>5.8 Esecuzione e note d’uso</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5 · STRUMENTO DI CATTURA DEI SOCKET DI RETE (SNIFFER)</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5.1 Funzionamento in sintesi</a:t>
            </a:r>
            <a:endParaRPr lang="en-US" sz="3000" dirty="0"/>
          </a:p>
        </p:txBody>
      </p:sp>
      <p:sp>
        <p:nvSpPr>
          <p:cNvPr id="4" name="intro"/>
          <p:cNvSpPr txBox="1"/>
          <p:nvPr/>
        </p:nvSpPr>
        <p:spPr>
          <a:xfrm>
            <a:off x="548640" y="1325880"/>
            <a:ext cx="11094415" cy="731520"/>
          </a:xfrm>
          <a:prstGeom prst="rect">
            <a:avLst/>
          </a:prstGeom>
          <a:noFill/>
          <a:ln/>
        </p:spPr>
        <p:txBody>
          <a:bodyPr wrap="square" lIns="0" tIns="0" rIns="0" bIns="0" rtlCol="0" anchor="ctr"/>
          <a:lstStyle/>
          <a:p>
            <a:pPr marL="0" indent="0">
              <a:buNone/>
            </a:pPr>
            <a:r>
              <a:rPr lang="en-US" sz="1500" dirty="0">
                <a:solidFill>
                  <a:schemeClr val="tx2"/>
                </a:solidFill>
              </a:rPr>
              <a:t>Packet sniffer scritto in Python mediante raw socket (esclusivamente libreria standard, solo Linux), che cattura i frame dalla scheda di rete e ne decodifica gli header Ethernet, IP e di trasporto (TCP, UDP, ICMP). Il programma opera in tre passaggi, ripetuti per ogni pacchetto:</a:t>
            </a:r>
            <a:endParaRPr lang="en-US" sz="1500" dirty="0"/>
          </a:p>
        </p:txBody>
      </p:sp>
      <p:sp>
        <p:nvSpPr>
          <p:cNvPr id="5" name="card"/>
          <p:cNvSpPr/>
          <p:nvPr/>
        </p:nvSpPr>
        <p:spPr>
          <a:xfrm>
            <a:off x="548640" y="2194560"/>
            <a:ext cx="3515258" cy="2286000"/>
          </a:xfrm>
          <a:prstGeom prst="roundRect">
            <a:avLst>
              <a:gd name="adj" fmla="val 4000"/>
            </a:avLst>
          </a:prstGeom>
          <a:solidFill>
            <a:schemeClr val="bg2"/>
          </a:solidFill>
          <a:ln w="12700">
            <a:solidFill>
              <a:schemeClr val="bg2"/>
            </a:solidFill>
            <a:prstDash val="solid"/>
          </a:ln>
        </p:spPr>
      </p:sp>
      <p:sp>
        <p:nvSpPr>
          <p:cNvPr id="6" name="badge"/>
          <p:cNvSpPr/>
          <p:nvPr/>
        </p:nvSpPr>
        <p:spPr>
          <a:xfrm>
            <a:off x="777240" y="2423160"/>
            <a:ext cx="457200" cy="457200"/>
          </a:xfrm>
          <a:prstGeom prst="ellipse">
            <a:avLst/>
          </a:prstGeom>
          <a:solidFill>
            <a:schemeClr val="accent1"/>
          </a:solidFill>
          <a:ln w="12700">
            <a:solidFill>
              <a:schemeClr val="accent1"/>
            </a:solidFill>
            <a:prstDash val="solid"/>
          </a:ln>
        </p:spPr>
      </p:sp>
      <p:sp>
        <p:nvSpPr>
          <p:cNvPr id="7" name="badge-num"/>
          <p:cNvSpPr txBox="1"/>
          <p:nvPr/>
        </p:nvSpPr>
        <p:spPr>
          <a:xfrm>
            <a:off x="777240" y="242316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8" name="card-head"/>
          <p:cNvSpPr txBox="1"/>
          <p:nvPr/>
        </p:nvSpPr>
        <p:spPr>
          <a:xfrm>
            <a:off x="1417320" y="239572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Ricezione grezza</a:t>
            </a:r>
            <a:endParaRPr lang="en-US" sz="1600" dirty="0"/>
          </a:p>
        </p:txBody>
      </p:sp>
      <p:sp>
        <p:nvSpPr>
          <p:cNvPr id="9" name="card-body"/>
          <p:cNvSpPr txBox="1"/>
          <p:nvPr/>
        </p:nvSpPr>
        <p:spPr>
          <a:xfrm>
            <a:off x="777240" y="3017520"/>
            <a:ext cx="3058058" cy="1325880"/>
          </a:xfrm>
          <a:prstGeom prst="rect">
            <a:avLst/>
          </a:prstGeom>
          <a:noFill/>
          <a:ln/>
        </p:spPr>
        <p:txBody>
          <a:bodyPr wrap="square" lIns="0" tIns="0" rIns="0" bIns="0" rtlCol="0" anchor="t"/>
          <a:lstStyle/>
          <a:p>
            <a:pPr marL="0" indent="0">
              <a:buNone/>
            </a:pPr>
            <a:r>
              <a:rPr lang="en-US" sz="1400" dirty="0">
                <a:solidFill>
                  <a:schemeClr val="tx2"/>
                </a:solidFill>
              </a:rPr>
              <a:t>Il socket raw riceve tutti i frame che transitano sulla scheda di rete, così come arrivano, senza che il sistema operativo li elabori.</a:t>
            </a:r>
            <a:endParaRPr lang="en-US" sz="1400" dirty="0"/>
          </a:p>
        </p:txBody>
      </p:sp>
      <p:sp>
        <p:nvSpPr>
          <p:cNvPr id="10" name="card"/>
          <p:cNvSpPr/>
          <p:nvPr/>
        </p:nvSpPr>
        <p:spPr>
          <a:xfrm>
            <a:off x="4338218" y="2194560"/>
            <a:ext cx="3515258" cy="2286000"/>
          </a:xfrm>
          <a:prstGeom prst="roundRect">
            <a:avLst>
              <a:gd name="adj" fmla="val 4000"/>
            </a:avLst>
          </a:prstGeom>
          <a:solidFill>
            <a:schemeClr val="bg2"/>
          </a:solidFill>
          <a:ln w="12700">
            <a:solidFill>
              <a:schemeClr val="bg2"/>
            </a:solidFill>
            <a:prstDash val="solid"/>
          </a:ln>
        </p:spPr>
      </p:sp>
      <p:sp>
        <p:nvSpPr>
          <p:cNvPr id="11" name="badge"/>
          <p:cNvSpPr/>
          <p:nvPr/>
        </p:nvSpPr>
        <p:spPr>
          <a:xfrm>
            <a:off x="4566818" y="2423160"/>
            <a:ext cx="457200" cy="457200"/>
          </a:xfrm>
          <a:prstGeom prst="ellipse">
            <a:avLst/>
          </a:prstGeom>
          <a:solidFill>
            <a:schemeClr val="accent1"/>
          </a:solidFill>
          <a:ln w="12700">
            <a:solidFill>
              <a:schemeClr val="accent1"/>
            </a:solidFill>
            <a:prstDash val="solid"/>
          </a:ln>
        </p:spPr>
      </p:sp>
      <p:sp>
        <p:nvSpPr>
          <p:cNvPr id="12" name="badge-num"/>
          <p:cNvSpPr txBox="1"/>
          <p:nvPr/>
        </p:nvSpPr>
        <p:spPr>
          <a:xfrm>
            <a:off x="4566818" y="242316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card-head"/>
          <p:cNvSpPr txBox="1"/>
          <p:nvPr/>
        </p:nvSpPr>
        <p:spPr>
          <a:xfrm>
            <a:off x="5206898" y="239572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Header Ethernet e IP</a:t>
            </a:r>
            <a:endParaRPr lang="en-US" sz="1600" dirty="0"/>
          </a:p>
        </p:txBody>
      </p:sp>
      <p:sp>
        <p:nvSpPr>
          <p:cNvPr id="14" name="card-body"/>
          <p:cNvSpPr txBox="1"/>
          <p:nvPr/>
        </p:nvSpPr>
        <p:spPr>
          <a:xfrm>
            <a:off x="4566818" y="3017520"/>
            <a:ext cx="3058058" cy="1325880"/>
          </a:xfrm>
          <a:prstGeom prst="rect">
            <a:avLst/>
          </a:prstGeom>
          <a:noFill/>
          <a:ln/>
        </p:spPr>
        <p:txBody>
          <a:bodyPr wrap="square" lIns="0" tIns="0" rIns="0" bIns="0" rtlCol="0" anchor="t"/>
          <a:lstStyle/>
          <a:p>
            <a:pPr marL="0" indent="0">
              <a:buNone/>
            </a:pPr>
            <a:r>
              <a:rPr lang="en-US" sz="1400" dirty="0">
                <a:solidFill>
                  <a:schemeClr val="tx2"/>
                </a:solidFill>
              </a:rPr>
              <a:t>Dal frame grezzo legge l’header Ethernet (primi 14 byte) e, se il pacchetto è IPv4, l’header IP (20 byte successivi).</a:t>
            </a:r>
            <a:endParaRPr lang="en-US" sz="1400" dirty="0"/>
          </a:p>
        </p:txBody>
      </p:sp>
      <p:sp>
        <p:nvSpPr>
          <p:cNvPr id="15" name="card"/>
          <p:cNvSpPr/>
          <p:nvPr/>
        </p:nvSpPr>
        <p:spPr>
          <a:xfrm>
            <a:off x="8127797" y="2194560"/>
            <a:ext cx="3515258" cy="2286000"/>
          </a:xfrm>
          <a:prstGeom prst="roundRect">
            <a:avLst>
              <a:gd name="adj" fmla="val 4000"/>
            </a:avLst>
          </a:prstGeom>
          <a:solidFill>
            <a:schemeClr val="bg2"/>
          </a:solidFill>
          <a:ln w="12700">
            <a:solidFill>
              <a:schemeClr val="bg2"/>
            </a:solidFill>
            <a:prstDash val="solid"/>
          </a:ln>
        </p:spPr>
      </p:sp>
      <p:sp>
        <p:nvSpPr>
          <p:cNvPr id="16" name="badge"/>
          <p:cNvSpPr/>
          <p:nvPr/>
        </p:nvSpPr>
        <p:spPr>
          <a:xfrm>
            <a:off x="8356397" y="2423160"/>
            <a:ext cx="457200" cy="457200"/>
          </a:xfrm>
          <a:prstGeom prst="ellipse">
            <a:avLst/>
          </a:prstGeom>
          <a:solidFill>
            <a:schemeClr val="accent1"/>
          </a:solidFill>
          <a:ln w="12700">
            <a:solidFill>
              <a:schemeClr val="accent1"/>
            </a:solidFill>
            <a:prstDash val="solid"/>
          </a:ln>
        </p:spPr>
      </p:sp>
      <p:sp>
        <p:nvSpPr>
          <p:cNvPr id="17" name="badge-num"/>
          <p:cNvSpPr txBox="1"/>
          <p:nvPr/>
        </p:nvSpPr>
        <p:spPr>
          <a:xfrm>
            <a:off x="8356397" y="242316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8" name="card-head"/>
          <p:cNvSpPr txBox="1"/>
          <p:nvPr/>
        </p:nvSpPr>
        <p:spPr>
          <a:xfrm>
            <a:off x="8996477" y="239572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Livello di trasporto</a:t>
            </a:r>
            <a:endParaRPr lang="en-US" sz="1600" dirty="0"/>
          </a:p>
        </p:txBody>
      </p:sp>
      <p:sp>
        <p:nvSpPr>
          <p:cNvPr id="19" name="card-body"/>
          <p:cNvSpPr txBox="1"/>
          <p:nvPr/>
        </p:nvSpPr>
        <p:spPr>
          <a:xfrm>
            <a:off x="8356397" y="3017520"/>
            <a:ext cx="3058058" cy="1325880"/>
          </a:xfrm>
          <a:prstGeom prst="rect">
            <a:avLst/>
          </a:prstGeom>
          <a:noFill/>
          <a:ln/>
        </p:spPr>
        <p:txBody>
          <a:bodyPr wrap="square" lIns="0" tIns="0" rIns="0" bIns="0" rtlCol="0" anchor="t"/>
          <a:lstStyle/>
          <a:p>
            <a:pPr marL="0" indent="0">
              <a:buNone/>
            </a:pPr>
            <a:r>
              <a:rPr lang="en-US" sz="1400" dirty="0">
                <a:solidFill>
                  <a:schemeClr val="tx2"/>
                </a:solidFill>
              </a:rPr>
              <a:t>In base al numero di protocollo nell’header IP determina se vi sia un segmento TCP (6), un datagramma UDP (17) o un messaggio ICMP (1) e ne stampa porte oppure tipo e codice.</a:t>
            </a:r>
            <a:endParaRPr lang="en-US" sz="1400" dirty="0"/>
          </a:p>
        </p:txBody>
      </p:sp>
      <p:sp>
        <p:nvSpPr>
          <p:cNvPr id="20" name="env-text"/>
          <p:cNvSpPr txBox="1"/>
          <p:nvPr/>
        </p:nvSpPr>
        <p:spPr>
          <a:xfrm>
            <a:off x="548640" y="4709160"/>
            <a:ext cx="4572000" cy="1234440"/>
          </a:xfrm>
          <a:prstGeom prst="rect">
            <a:avLst/>
          </a:prstGeom>
          <a:noFill/>
          <a:ln/>
        </p:spPr>
        <p:txBody>
          <a:bodyPr wrap="square" lIns="0" tIns="0" rIns="0" bIns="0" rtlCol="0" anchor="ctr"/>
          <a:lstStyle/>
          <a:p>
            <a:pPr marL="0" indent="0">
              <a:buNone/>
            </a:pPr>
            <a:r>
              <a:rPr lang="en-US" sz="1400" i="1" dirty="0">
                <a:solidFill>
                  <a:schemeClr val="tx2"/>
                </a:solidFill>
              </a:rPr>
              <a:t>Il principio di fondo: un pacchetto è costituito da livelli annidati, come buste inserite l’una nell’altra. Il programma “apre” una busta alla volta, leggendo i byte nelle posizioni corrispondenti.</a:t>
            </a:r>
            <a:endParaRPr lang="en-US" sz="1400" dirty="0"/>
          </a:p>
        </p:txBody>
      </p:sp>
      <p:sp>
        <p:nvSpPr>
          <p:cNvPr id="21" name="env"/>
          <p:cNvSpPr/>
          <p:nvPr/>
        </p:nvSpPr>
        <p:spPr>
          <a:xfrm>
            <a:off x="5394960" y="4709160"/>
            <a:ext cx="6245352" cy="1234440"/>
          </a:xfrm>
          <a:prstGeom prst="roundRect">
            <a:avLst>
              <a:gd name="adj" fmla="val 5926"/>
            </a:avLst>
          </a:prstGeom>
          <a:solidFill>
            <a:schemeClr val="tx2"/>
          </a:solidFill>
          <a:ln w="12700">
            <a:solidFill>
              <a:schemeClr val="bg1"/>
            </a:solidFill>
            <a:prstDash val="solid"/>
          </a:ln>
        </p:spPr>
      </p:sp>
      <p:sp>
        <p:nvSpPr>
          <p:cNvPr id="22" name="env-label"/>
          <p:cNvSpPr txBox="1"/>
          <p:nvPr/>
        </p:nvSpPr>
        <p:spPr>
          <a:xfrm>
            <a:off x="5486400" y="4709160"/>
            <a:ext cx="685800" cy="1234440"/>
          </a:xfrm>
          <a:prstGeom prst="rect">
            <a:avLst/>
          </a:prstGeom>
          <a:noFill/>
          <a:ln/>
        </p:spPr>
        <p:txBody>
          <a:bodyPr wrap="square" lIns="0" tIns="0" rIns="0" bIns="0" rtlCol="0" anchor="ctr"/>
          <a:lstStyle/>
          <a:p>
            <a:pPr marL="0" indent="0">
              <a:buNone/>
            </a:pPr>
            <a:r>
              <a:rPr lang="en-US" sz="1100" b="1" dirty="0">
                <a:solidFill>
                  <a:schemeClr val="bg1"/>
                </a:solidFill>
              </a:rPr>
              <a:t>Ethernet</a:t>
            </a:r>
            <a:endParaRPr lang="en-US" sz="1100" dirty="0"/>
          </a:p>
        </p:txBody>
      </p:sp>
      <p:sp>
        <p:nvSpPr>
          <p:cNvPr id="23" name="env"/>
          <p:cNvSpPr/>
          <p:nvPr/>
        </p:nvSpPr>
        <p:spPr>
          <a:xfrm>
            <a:off x="6080760" y="4910328"/>
            <a:ext cx="4873752" cy="832104"/>
          </a:xfrm>
          <a:prstGeom prst="roundRect">
            <a:avLst>
              <a:gd name="adj" fmla="val 8791"/>
            </a:avLst>
          </a:prstGeom>
          <a:solidFill>
            <a:schemeClr val="accent2"/>
          </a:solidFill>
          <a:ln w="12700">
            <a:solidFill>
              <a:schemeClr val="bg1"/>
            </a:solidFill>
            <a:prstDash val="solid"/>
          </a:ln>
        </p:spPr>
      </p:sp>
      <p:sp>
        <p:nvSpPr>
          <p:cNvPr id="24" name="env-label"/>
          <p:cNvSpPr txBox="1"/>
          <p:nvPr/>
        </p:nvSpPr>
        <p:spPr>
          <a:xfrm>
            <a:off x="6172200" y="4910328"/>
            <a:ext cx="685800" cy="832104"/>
          </a:xfrm>
          <a:prstGeom prst="rect">
            <a:avLst/>
          </a:prstGeom>
          <a:noFill/>
          <a:ln/>
        </p:spPr>
        <p:txBody>
          <a:bodyPr wrap="square" lIns="0" tIns="0" rIns="0" bIns="0" rtlCol="0" anchor="ctr"/>
          <a:lstStyle/>
          <a:p>
            <a:pPr marL="0" indent="0">
              <a:buNone/>
            </a:pPr>
            <a:r>
              <a:rPr lang="en-US" sz="1100" b="1" dirty="0">
                <a:solidFill>
                  <a:schemeClr val="bg1"/>
                </a:solidFill>
              </a:rPr>
              <a:t>IP</a:t>
            </a:r>
            <a:endParaRPr lang="en-US" sz="1100" dirty="0"/>
          </a:p>
        </p:txBody>
      </p:sp>
      <p:sp>
        <p:nvSpPr>
          <p:cNvPr id="25" name="env"/>
          <p:cNvSpPr/>
          <p:nvPr/>
        </p:nvSpPr>
        <p:spPr>
          <a:xfrm>
            <a:off x="6766560" y="5111496"/>
            <a:ext cx="3502152" cy="429768"/>
          </a:xfrm>
          <a:prstGeom prst="roundRect">
            <a:avLst>
              <a:gd name="adj" fmla="val 17021"/>
            </a:avLst>
          </a:prstGeom>
          <a:solidFill>
            <a:schemeClr val="accent1"/>
          </a:solidFill>
          <a:ln w="12700">
            <a:solidFill>
              <a:schemeClr val="bg1"/>
            </a:solidFill>
            <a:prstDash val="solid"/>
          </a:ln>
        </p:spPr>
      </p:sp>
      <p:sp>
        <p:nvSpPr>
          <p:cNvPr id="26" name="env-core"/>
          <p:cNvSpPr txBox="1"/>
          <p:nvPr/>
        </p:nvSpPr>
        <p:spPr>
          <a:xfrm>
            <a:off x="6858000" y="5111496"/>
            <a:ext cx="3319272" cy="429768"/>
          </a:xfrm>
          <a:prstGeom prst="rect">
            <a:avLst/>
          </a:prstGeom>
          <a:noFill/>
          <a:ln/>
        </p:spPr>
        <p:txBody>
          <a:bodyPr wrap="square" lIns="0" tIns="0" rIns="0" bIns="0" rtlCol="0" anchor="ctr"/>
          <a:lstStyle/>
          <a:p>
            <a:pPr marL="0" indent="0" algn="ctr">
              <a:buNone/>
            </a:pPr>
            <a:r>
              <a:rPr lang="en-US" sz="1300" b="1" dirty="0">
                <a:solidFill>
                  <a:schemeClr val="bg1"/>
                </a:solidFill>
              </a:rPr>
              <a:t>TCP / UDP / ICMP</a:t>
            </a:r>
            <a:endParaRPr lang="en-US" sz="1300" dirty="0"/>
          </a:p>
        </p:txBody>
      </p:sp>
      <p:sp>
        <p:nvSpPr>
          <p:cNvPr id="27"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5 · STRUMENTO DI CATTURA DEI SOCKET DI RETE (SNIFFER)</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5.2 Import dei moduli  ·  5.3 Funzioni di supporto</a:t>
            </a:r>
            <a:endParaRPr lang="en-US" sz="3000" dirty="0"/>
          </a:p>
        </p:txBody>
      </p:sp>
      <p:sp>
        <p:nvSpPr>
          <p:cNvPr id="4" name="code-bg"/>
          <p:cNvSpPr/>
          <p:nvPr/>
        </p:nvSpPr>
        <p:spPr>
          <a:xfrm>
            <a:off x="548640" y="1417320"/>
            <a:ext cx="5120640" cy="1051560"/>
          </a:xfrm>
          <a:prstGeom prst="roundRect">
            <a:avLst>
              <a:gd name="adj" fmla="val 6957"/>
            </a:avLst>
          </a:prstGeom>
          <a:solidFill>
            <a:srgbClr val="0F1117"/>
          </a:solidFill>
          <a:ln w="12700">
            <a:solidFill>
              <a:srgbClr val="0F1117"/>
            </a:solidFill>
            <a:prstDash val="solid"/>
          </a:ln>
        </p:spPr>
      </p:sp>
      <p:sp>
        <p:nvSpPr>
          <p:cNvPr id="5" name="code"/>
          <p:cNvSpPr txBox="1"/>
          <p:nvPr/>
        </p:nvSpPr>
        <p:spPr>
          <a:xfrm>
            <a:off x="777240" y="1581912"/>
            <a:ext cx="4663440" cy="777240"/>
          </a:xfrm>
          <a:prstGeom prst="rect">
            <a:avLst/>
          </a:prstGeom>
          <a:noFill/>
          <a:ln/>
        </p:spPr>
        <p:txBody>
          <a:bodyPr wrap="square" lIns="0" tIns="0" rIns="0" bIns="0" rtlCol="0" anchor="t"/>
          <a:lstStyle/>
          <a:p>
            <a:pPr marL="0" indent="0">
              <a:buNone/>
            </a:pPr>
            <a:r>
              <a:rPr lang="en-US" sz="1300" dirty="0">
                <a:solidFill>
                  <a:srgbClr val="E5E7EB"/>
                </a:solidFill>
                <a:latin typeface="Courier New" pitchFamily="34" charset="0"/>
                <a:ea typeface="Courier New" pitchFamily="34" charset="-122"/>
                <a:cs typeface="Courier New" pitchFamily="34" charset="-120"/>
              </a:rPr>
              <a:t>import socket</a:t>
            </a:r>
            <a:endParaRPr lang="en-US" sz="1300" dirty="0"/>
          </a:p>
          <a:p>
            <a:pPr marL="0" indent="0">
              <a:buNone/>
            </a:pPr>
            <a:r>
              <a:rPr lang="en-US" sz="1300" dirty="0">
                <a:solidFill>
                  <a:srgbClr val="E5E7EB"/>
                </a:solidFill>
                <a:latin typeface="Courier New" pitchFamily="34" charset="0"/>
                <a:ea typeface="Courier New" pitchFamily="34" charset="-122"/>
                <a:cs typeface="Courier New" pitchFamily="34" charset="-120"/>
              </a:rPr>
              <a:t>import struct</a:t>
            </a:r>
            <a:endParaRPr lang="en-US" sz="1300" dirty="0"/>
          </a:p>
        </p:txBody>
      </p:sp>
      <p:sp>
        <p:nvSpPr>
          <p:cNvPr id="6" name="body-text"/>
          <p:cNvSpPr txBox="1"/>
          <p:nvPr/>
        </p:nvSpPr>
        <p:spPr>
          <a:xfrm>
            <a:off x="548640" y="2651760"/>
            <a:ext cx="5120640" cy="3291840"/>
          </a:xfrm>
          <a:prstGeom prst="rect">
            <a:avLst/>
          </a:prstGeom>
          <a:noFill/>
          <a:ln/>
        </p:spPr>
        <p:txBody>
          <a:bodyPr wrap="square" lIns="0" tIns="0" rIns="0" bIns="0" rtlCol="0" anchor="t"/>
          <a:lstStyle/>
          <a:p>
            <a:pPr marL="0" indent="0">
              <a:spcAft>
                <a:spcPts val="800"/>
              </a:spcAft>
              <a:buNone/>
            </a:pPr>
            <a:r>
              <a:rPr lang="en-US" sz="1400" dirty="0">
                <a:solidFill>
                  <a:schemeClr val="tx2"/>
                </a:solidFill>
              </a:rPr>
              <a:t>Solo due moduli della libreria standard: nessuna installazione aggiuntiva.</a:t>
            </a:r>
            <a:endParaRPr lang="en-US" sz="1400" dirty="0"/>
          </a:p>
          <a:p>
            <a:pPr marL="342900" indent="-342900">
              <a:spcAft>
                <a:spcPts val="800"/>
              </a:spcAft>
              <a:buSzPct val="100000"/>
              <a:buChar char="▪"/>
            </a:pPr>
            <a:r>
              <a:rPr lang="en-US" sz="1400" b="1" dirty="0">
                <a:solidFill>
                  <a:schemeClr val="tx1"/>
                </a:solidFill>
              </a:rPr>
              <a:t>socket </a:t>
            </a:r>
            <a:r>
              <a:rPr lang="en-US" sz="1400" dirty="0">
                <a:solidFill>
                  <a:schemeClr val="tx2"/>
                </a:solidFill>
              </a:rPr>
              <a:t>fornisce l’accesso alla rete a basso livello e consente di creare il raw socket che cattura i pacchetti.</a:t>
            </a:r>
            <a:endParaRPr lang="en-US" sz="1400" dirty="0"/>
          </a:p>
          <a:p>
            <a:pPr marL="342900" indent="-342900">
              <a:spcAft>
                <a:spcPts val="800"/>
              </a:spcAft>
              <a:buSzPct val="100000"/>
              <a:buChar char="▪"/>
            </a:pPr>
            <a:r>
              <a:rPr lang="en-US" sz="1400" b="1" dirty="0">
                <a:solidFill>
                  <a:schemeClr val="tx1"/>
                </a:solidFill>
              </a:rPr>
              <a:t>struct </a:t>
            </a:r>
            <a:r>
              <a:rPr lang="en-US" sz="1400" dirty="0">
                <a:solidFill>
                  <a:schemeClr val="tx2"/>
                </a:solidFill>
              </a:rPr>
              <a:t>interpreta una sequenza di byte grezzi come valori Python. Gli header di rete sono campi binari di lunghezza fissa: struct.unpack li suddivide nei singoli campi secondo un formato prestabilito.</a:t>
            </a:r>
            <a:endParaRPr lang="en-US" sz="1400" dirty="0"/>
          </a:p>
        </p:txBody>
      </p:sp>
      <p:sp>
        <p:nvSpPr>
          <p:cNvPr id="7" name="code-bg"/>
          <p:cNvSpPr/>
          <p:nvPr/>
        </p:nvSpPr>
        <p:spPr>
          <a:xfrm>
            <a:off x="5943600" y="1417320"/>
            <a:ext cx="5696712" cy="1691640"/>
          </a:xfrm>
          <a:prstGeom prst="roundRect">
            <a:avLst>
              <a:gd name="adj" fmla="val 4324"/>
            </a:avLst>
          </a:prstGeom>
          <a:solidFill>
            <a:srgbClr val="0F1117"/>
          </a:solidFill>
          <a:ln w="12700">
            <a:solidFill>
              <a:srgbClr val="0F1117"/>
            </a:solidFill>
            <a:prstDash val="solid"/>
          </a:ln>
        </p:spPr>
      </p:sp>
      <p:sp>
        <p:nvSpPr>
          <p:cNvPr id="8" name="code"/>
          <p:cNvSpPr txBox="1"/>
          <p:nvPr/>
        </p:nvSpPr>
        <p:spPr>
          <a:xfrm>
            <a:off x="6172200" y="1581912"/>
            <a:ext cx="5239512" cy="1417320"/>
          </a:xfrm>
          <a:prstGeom prst="rect">
            <a:avLst/>
          </a:prstGeom>
          <a:noFill/>
          <a:ln/>
        </p:spPr>
        <p:txBody>
          <a:bodyPr wrap="square" lIns="0" tIns="0" rIns="0" bIns="0" rtlCol="0" anchor="t"/>
          <a:lstStyle/>
          <a:p>
            <a:pPr marL="0" indent="0">
              <a:buNone/>
            </a:pPr>
            <a:r>
              <a:rPr lang="en-US" sz="1300" dirty="0">
                <a:solidFill>
                  <a:srgbClr val="E5E7EB"/>
                </a:solidFill>
                <a:latin typeface="Courier New"/>
                <a:ea typeface="Courier New" pitchFamily="34" charset="-122"/>
                <a:cs typeface="Courier New"/>
              </a:rPr>
              <a:t>def </a:t>
            </a:r>
            <a:r>
              <a:rPr lang="en-US" sz="1300" dirty="0" err="1">
                <a:solidFill>
                  <a:srgbClr val="E5E7EB"/>
                </a:solidFill>
                <a:latin typeface="Courier New"/>
                <a:ea typeface="Courier New" pitchFamily="34" charset="-122"/>
                <a:cs typeface="Courier New"/>
              </a:rPr>
              <a:t>mac_address</a:t>
            </a:r>
            <a:r>
              <a:rPr lang="en-US" sz="1300" dirty="0">
                <a:solidFill>
                  <a:srgbClr val="E5E7EB"/>
                </a:solidFill>
                <a:latin typeface="Courier New"/>
                <a:ea typeface="Courier New" pitchFamily="34" charset="-122"/>
                <a:cs typeface="Courier New"/>
              </a:rPr>
              <a:t>(</a:t>
            </a:r>
            <a:r>
              <a:rPr lang="en-US" sz="1300" dirty="0" err="1">
                <a:solidFill>
                  <a:srgbClr val="E5E7EB"/>
                </a:solidFill>
                <a:latin typeface="Courier New"/>
                <a:ea typeface="Courier New" pitchFamily="34" charset="-122"/>
                <a:cs typeface="Courier New"/>
              </a:rPr>
              <a:t>dati</a:t>
            </a:r>
            <a:r>
              <a:rPr lang="en-US" sz="1300" dirty="0">
                <a:solidFill>
                  <a:srgbClr val="E5E7EB"/>
                </a:solidFill>
                <a:latin typeface="Courier New"/>
                <a:ea typeface="Courier New" pitchFamily="34" charset="-122"/>
                <a:cs typeface="Courier New"/>
              </a:rPr>
              <a:t>):</a:t>
            </a:r>
            <a:endParaRPr lang="en-US" sz="1300" dirty="0">
              <a:latin typeface="Courier New"/>
              <a:cs typeface="Courier New"/>
            </a:endParaRPr>
          </a:p>
          <a:p>
            <a:pPr marL="0" indent="0">
              <a:buNone/>
            </a:pPr>
            <a:endParaRPr lang="en-US" sz="1300">
              <a:solidFill>
                <a:srgbClr val="E5E7EB"/>
              </a:solidFill>
              <a:latin typeface="Courier New"/>
              <a:cs typeface="Courier New"/>
            </a:endParaRPr>
          </a:p>
          <a:p>
            <a:pPr marL="0" indent="0">
              <a:buNone/>
            </a:pPr>
            <a:endParaRPr lang="en-US" sz="1300" dirty="0"/>
          </a:p>
          <a:p>
            <a:pPr marL="0" indent="0">
              <a:buNone/>
            </a:pPr>
            <a:r>
              <a:rPr lang="en-US" sz="1300" dirty="0">
                <a:solidFill>
                  <a:srgbClr val="E5E7EB"/>
                </a:solidFill>
                <a:latin typeface="Courier New"/>
                <a:ea typeface="Courier New" pitchFamily="34" charset="-122"/>
                <a:cs typeface="Courier New"/>
              </a:rPr>
              <a:t>def </a:t>
            </a:r>
            <a:r>
              <a:rPr lang="en-US" sz="1300" dirty="0" err="1">
                <a:solidFill>
                  <a:srgbClr val="E5E7EB"/>
                </a:solidFill>
                <a:latin typeface="Courier New"/>
                <a:ea typeface="Courier New" pitchFamily="34" charset="-122"/>
                <a:cs typeface="Courier New"/>
              </a:rPr>
              <a:t>ip_address</a:t>
            </a:r>
            <a:r>
              <a:rPr lang="en-US" sz="1300" dirty="0">
                <a:solidFill>
                  <a:srgbClr val="E5E7EB"/>
                </a:solidFill>
                <a:latin typeface="Courier New"/>
                <a:ea typeface="Courier New" pitchFamily="34" charset="-122"/>
                <a:cs typeface="Courier New"/>
              </a:rPr>
              <a:t>(</a:t>
            </a:r>
            <a:r>
              <a:rPr lang="en-US" sz="1300" dirty="0" err="1">
                <a:solidFill>
                  <a:srgbClr val="E5E7EB"/>
                </a:solidFill>
                <a:latin typeface="Courier New"/>
                <a:ea typeface="Courier New" pitchFamily="34" charset="-122"/>
                <a:cs typeface="Courier New"/>
              </a:rPr>
              <a:t>dati</a:t>
            </a:r>
            <a:r>
              <a:rPr lang="en-US" sz="1300" dirty="0">
                <a:solidFill>
                  <a:srgbClr val="E5E7EB"/>
                </a:solidFill>
                <a:latin typeface="Courier New"/>
                <a:ea typeface="Courier New" pitchFamily="34" charset="-122"/>
                <a:cs typeface="Courier New"/>
              </a:rPr>
              <a:t>):</a:t>
            </a:r>
            <a:endParaRPr lang="en-US" sz="1300" dirty="0">
              <a:latin typeface="Courier New"/>
              <a:cs typeface="Courier New"/>
            </a:endParaRPr>
          </a:p>
          <a:p>
            <a:pPr marL="0" indent="0">
              <a:buNone/>
            </a:pPr>
            <a:r>
              <a:rPr lang="en-US" sz="1300" dirty="0">
                <a:solidFill>
                  <a:srgbClr val="E5E7EB"/>
                </a:solidFill>
                <a:latin typeface="Courier New"/>
                <a:ea typeface="Courier New" pitchFamily="34" charset="-122"/>
                <a:cs typeface="Courier New"/>
              </a:rPr>
              <a:t> </a:t>
            </a:r>
            <a:endParaRPr lang="en-US" sz="1300" dirty="0">
              <a:solidFill>
                <a:srgbClr val="E5E7EB"/>
              </a:solidFill>
              <a:latin typeface="Courier New"/>
              <a:cs typeface="Courier New"/>
            </a:endParaRPr>
          </a:p>
        </p:txBody>
      </p:sp>
      <p:sp>
        <p:nvSpPr>
          <p:cNvPr id="9" name="body-text"/>
          <p:cNvSpPr txBox="1"/>
          <p:nvPr/>
        </p:nvSpPr>
        <p:spPr>
          <a:xfrm>
            <a:off x="5943600" y="3291840"/>
            <a:ext cx="5696712" cy="2743200"/>
          </a:xfrm>
          <a:prstGeom prst="rect">
            <a:avLst/>
          </a:prstGeom>
          <a:noFill/>
          <a:ln/>
        </p:spPr>
        <p:txBody>
          <a:bodyPr wrap="square" lIns="0" tIns="0" rIns="0" bIns="0" rtlCol="0" anchor="t"/>
          <a:lstStyle/>
          <a:p>
            <a:pPr marL="0" indent="0">
              <a:spcAft>
                <a:spcPts val="500"/>
              </a:spcAft>
              <a:buNone/>
            </a:pPr>
            <a:r>
              <a:rPr lang="en-US" sz="1400" dirty="0">
                <a:solidFill>
                  <a:schemeClr val="tx2"/>
                </a:solidFill>
              </a:rPr>
              <a:t>Le due </a:t>
            </a:r>
            <a:r>
              <a:rPr lang="en-US" sz="1400" dirty="0" err="1">
                <a:solidFill>
                  <a:schemeClr val="tx2"/>
                </a:solidFill>
              </a:rPr>
              <a:t>funzioni</a:t>
            </a:r>
            <a:r>
              <a:rPr lang="en-US" sz="1400" dirty="0">
                <a:solidFill>
                  <a:schemeClr val="tx2"/>
                </a:solidFill>
              </a:rPr>
              <a:t> </a:t>
            </a:r>
            <a:r>
              <a:rPr lang="en-US" sz="1400" dirty="0" err="1">
                <a:solidFill>
                  <a:schemeClr val="tx2"/>
                </a:solidFill>
              </a:rPr>
              <a:t>rendono</a:t>
            </a:r>
            <a:r>
              <a:rPr lang="en-US" sz="1400" dirty="0">
                <a:solidFill>
                  <a:schemeClr val="tx2"/>
                </a:solidFill>
              </a:rPr>
              <a:t> </a:t>
            </a:r>
            <a:r>
              <a:rPr lang="en-US" sz="1400" dirty="0" err="1">
                <a:solidFill>
                  <a:schemeClr val="tx2"/>
                </a:solidFill>
              </a:rPr>
              <a:t>leggibili</a:t>
            </a:r>
            <a:r>
              <a:rPr lang="en-US" sz="1400" dirty="0">
                <a:solidFill>
                  <a:schemeClr val="tx2"/>
                </a:solidFill>
              </a:rPr>
              <a:t> </a:t>
            </a:r>
            <a:r>
              <a:rPr lang="en-US" sz="1400" dirty="0" err="1">
                <a:solidFill>
                  <a:schemeClr val="tx2"/>
                </a:solidFill>
              </a:rPr>
              <a:t>gli</a:t>
            </a:r>
            <a:r>
              <a:rPr lang="en-US" sz="1400" dirty="0">
                <a:solidFill>
                  <a:schemeClr val="tx2"/>
                </a:solidFill>
              </a:rPr>
              <a:t> </a:t>
            </a:r>
            <a:r>
              <a:rPr lang="en-US" sz="1400" dirty="0" err="1">
                <a:solidFill>
                  <a:schemeClr val="tx2"/>
                </a:solidFill>
              </a:rPr>
              <a:t>indirizzi</a:t>
            </a:r>
            <a:r>
              <a:rPr lang="en-US" sz="1400" dirty="0">
                <a:solidFill>
                  <a:schemeClr val="tx2"/>
                </a:solidFill>
              </a:rPr>
              <a:t>, </a:t>
            </a:r>
            <a:r>
              <a:rPr lang="en-US" sz="1400" dirty="0" err="1">
                <a:solidFill>
                  <a:schemeClr val="tx2"/>
                </a:solidFill>
              </a:rPr>
              <a:t>rappresentati</a:t>
            </a:r>
            <a:r>
              <a:rPr lang="en-US" sz="1400" dirty="0">
                <a:solidFill>
                  <a:schemeClr val="tx2"/>
                </a:solidFill>
              </a:rPr>
              <a:t> </a:t>
            </a:r>
            <a:r>
              <a:rPr lang="en-US" sz="1400" dirty="0" err="1">
                <a:solidFill>
                  <a:schemeClr val="tx2"/>
                </a:solidFill>
              </a:rPr>
              <a:t>nel</a:t>
            </a:r>
            <a:r>
              <a:rPr lang="en-US" sz="1400" dirty="0">
                <a:solidFill>
                  <a:schemeClr val="tx2"/>
                </a:solidFill>
              </a:rPr>
              <a:t> </a:t>
            </a:r>
            <a:r>
              <a:rPr lang="en-US" sz="1400" dirty="0" err="1">
                <a:solidFill>
                  <a:schemeClr val="tx2"/>
                </a:solidFill>
              </a:rPr>
              <a:t>pacchetto</a:t>
            </a:r>
            <a:r>
              <a:rPr lang="en-US" sz="1400" dirty="0">
                <a:solidFill>
                  <a:schemeClr val="tx2"/>
                </a:solidFill>
              </a:rPr>
              <a:t> da byte </a:t>
            </a:r>
            <a:r>
              <a:rPr lang="en-US" sz="1400" dirty="0" err="1">
                <a:solidFill>
                  <a:schemeClr val="tx2"/>
                </a:solidFill>
              </a:rPr>
              <a:t>grezzi</a:t>
            </a:r>
            <a:r>
              <a:rPr lang="en-US" sz="1400" dirty="0">
                <a:solidFill>
                  <a:schemeClr val="tx2"/>
                </a:solidFill>
              </a:rPr>
              <a:t>.</a:t>
            </a:r>
          </a:p>
          <a:p>
            <a:pPr marL="342900" indent="-342900">
              <a:spcAft>
                <a:spcPts val="500"/>
              </a:spcAft>
              <a:buSzPct val="100000"/>
              <a:buChar char="▪"/>
            </a:pPr>
            <a:r>
              <a:rPr lang="en-US" sz="1400" b="1" dirty="0" err="1"/>
              <a:t>mac_address</a:t>
            </a:r>
            <a:r>
              <a:rPr lang="en-US" sz="1400" b="1" dirty="0"/>
              <a:t> </a:t>
            </a:r>
            <a:r>
              <a:rPr lang="en-US" sz="1400" dirty="0" err="1">
                <a:solidFill>
                  <a:schemeClr val="tx2"/>
                </a:solidFill>
              </a:rPr>
              <a:t>converte</a:t>
            </a:r>
            <a:r>
              <a:rPr lang="en-US" sz="1400" dirty="0">
                <a:solidFill>
                  <a:schemeClr val="tx2"/>
                </a:solidFill>
              </a:rPr>
              <a:t> </a:t>
            </a:r>
            <a:r>
              <a:rPr lang="en-US" sz="1400" dirty="0" err="1">
                <a:solidFill>
                  <a:schemeClr val="tx2"/>
                </a:solidFill>
              </a:rPr>
              <a:t>i</a:t>
            </a:r>
            <a:r>
              <a:rPr lang="en-US" sz="1400" dirty="0">
                <a:solidFill>
                  <a:schemeClr val="tx2"/>
                </a:solidFill>
              </a:rPr>
              <a:t> 6 byte di </a:t>
            </a:r>
            <a:r>
              <a:rPr lang="en-US" sz="1400" dirty="0" err="1">
                <a:solidFill>
                  <a:schemeClr val="tx2"/>
                </a:solidFill>
              </a:rPr>
              <a:t>un MAC</a:t>
            </a:r>
            <a:r>
              <a:rPr lang="en-US" sz="1400" dirty="0">
                <a:solidFill>
                  <a:schemeClr val="tx2"/>
                </a:solidFill>
              </a:rPr>
              <a:t> </a:t>
            </a:r>
            <a:r>
              <a:rPr lang="en-US" sz="1400" dirty="0" err="1">
                <a:solidFill>
                  <a:schemeClr val="tx2"/>
                </a:solidFill>
              </a:rPr>
              <a:t>nel</a:t>
            </a:r>
            <a:r>
              <a:rPr lang="en-US" sz="1400" dirty="0">
                <a:solidFill>
                  <a:schemeClr val="tx2"/>
                </a:solidFill>
              </a:rPr>
              <a:t> </a:t>
            </a:r>
            <a:r>
              <a:rPr lang="en-US" sz="1400" dirty="0" err="1">
                <a:solidFill>
                  <a:schemeClr val="tx2"/>
                </a:solidFill>
              </a:rPr>
              <a:t>formato</a:t>
            </a:r>
            <a:r>
              <a:rPr lang="en-US" sz="1400" dirty="0">
                <a:solidFill>
                  <a:schemeClr val="tx2"/>
                </a:solidFill>
              </a:rPr>
              <a:t> </a:t>
            </a:r>
            <a:r>
              <a:rPr lang="en-US" sz="1400" dirty="0" err="1">
                <a:solidFill>
                  <a:schemeClr val="tx2"/>
                </a:solidFill>
              </a:rPr>
              <a:t>aa:bb:cc:dd:ee:ff</a:t>
            </a:r>
            <a:r>
              <a:rPr lang="en-US" sz="1400" dirty="0">
                <a:solidFill>
                  <a:schemeClr val="tx2"/>
                </a:solidFill>
              </a:rPr>
              <a:t>: per ogni byte b scrive (</a:t>
            </a:r>
            <a:r>
              <a:rPr lang="en-US" sz="1400" dirty="0" err="1">
                <a:solidFill>
                  <a:schemeClr val="tx2"/>
                </a:solidFill>
              </a:rPr>
              <a:t>esadecimale</a:t>
            </a:r>
            <a:r>
              <a:rPr lang="en-US" sz="1400" dirty="0">
                <a:solidFill>
                  <a:schemeClr val="tx2"/>
                </a:solidFill>
              </a:rPr>
              <a:t> </a:t>
            </a:r>
            <a:r>
              <a:rPr lang="en-US" sz="1400" dirty="0" err="1">
                <a:solidFill>
                  <a:schemeClr val="tx2"/>
                </a:solidFill>
              </a:rPr>
              <a:t>su</a:t>
            </a:r>
            <a:r>
              <a:rPr lang="en-US" sz="1400" dirty="0">
                <a:solidFill>
                  <a:schemeClr val="tx2"/>
                </a:solidFill>
              </a:rPr>
              <a:t> due </a:t>
            </a:r>
            <a:r>
              <a:rPr lang="en-US" sz="1400" dirty="0" err="1">
                <a:solidFill>
                  <a:schemeClr val="tx2"/>
                </a:solidFill>
              </a:rPr>
              <a:t>cifre</a:t>
            </a:r>
            <a:r>
              <a:rPr lang="en-US" sz="1400" dirty="0">
                <a:solidFill>
                  <a:schemeClr val="tx2"/>
                </a:solidFill>
              </a:rPr>
              <a:t>) e </a:t>
            </a:r>
            <a:r>
              <a:rPr lang="en-US" sz="1400" dirty="0" err="1">
                <a:solidFill>
                  <a:schemeClr val="tx2"/>
                </a:solidFill>
              </a:rPr>
              <a:t>unisce</a:t>
            </a:r>
            <a:r>
              <a:rPr lang="en-US" sz="1400" dirty="0">
                <a:solidFill>
                  <a:schemeClr val="tx2"/>
                </a:solidFill>
              </a:rPr>
              <a:t> con </a:t>
            </a:r>
            <a:r>
              <a:rPr lang="en-US" sz="1400" dirty="0" err="1">
                <a:solidFill>
                  <a:schemeClr val="tx2"/>
                </a:solidFill>
              </a:rPr>
              <a:t>i</a:t>
            </a:r>
            <a:r>
              <a:rPr lang="en-US" sz="1400" dirty="0">
                <a:solidFill>
                  <a:schemeClr val="tx2"/>
                </a:solidFill>
              </a:rPr>
              <a:t> due </a:t>
            </a:r>
            <a:r>
              <a:rPr lang="en-US" sz="1400" dirty="0" err="1">
                <a:solidFill>
                  <a:schemeClr val="tx2"/>
                </a:solidFill>
              </a:rPr>
              <a:t>punti</a:t>
            </a:r>
            <a:r>
              <a:rPr lang="en-US" sz="1400" dirty="0">
                <a:solidFill>
                  <a:schemeClr val="tx2"/>
                </a:solidFill>
              </a:rPr>
              <a:t>.</a:t>
            </a:r>
            <a:endParaRPr lang="en-US" sz="1400" dirty="0">
              <a:solidFill>
                <a:schemeClr val="tx2"/>
              </a:solidFill>
              <a:ea typeface="Calibri"/>
              <a:cs typeface="Calibri"/>
            </a:endParaRPr>
          </a:p>
          <a:p>
            <a:pPr marL="342900" indent="-342900">
              <a:spcAft>
                <a:spcPts val="500"/>
              </a:spcAft>
              <a:buSzPct val="100000"/>
              <a:buChar char="▪"/>
            </a:pPr>
            <a:r>
              <a:rPr lang="en-US" sz="1400" b="1" dirty="0" err="1"/>
              <a:t>ip_address</a:t>
            </a:r>
            <a:r>
              <a:rPr lang="en-US" sz="1400" b="1" dirty="0"/>
              <a:t> </a:t>
            </a:r>
            <a:r>
              <a:rPr lang="en-US" sz="1400" dirty="0" err="1">
                <a:solidFill>
                  <a:schemeClr val="tx2"/>
                </a:solidFill>
              </a:rPr>
              <a:t>restituisce</a:t>
            </a:r>
            <a:r>
              <a:rPr lang="en-US" sz="1400" dirty="0">
                <a:solidFill>
                  <a:schemeClr val="tx2"/>
                </a:solidFill>
              </a:rPr>
              <a:t> </a:t>
            </a:r>
            <a:r>
              <a:rPr lang="en-US" sz="1400" dirty="0" err="1">
                <a:solidFill>
                  <a:schemeClr val="tx2"/>
                </a:solidFill>
              </a:rPr>
              <a:t>i</a:t>
            </a:r>
            <a:r>
              <a:rPr lang="en-US" sz="1400" dirty="0">
                <a:solidFill>
                  <a:schemeClr val="tx2"/>
                </a:solidFill>
              </a:rPr>
              <a:t> 4 byte di </a:t>
            </a:r>
            <a:r>
              <a:rPr lang="en-US" sz="1400" dirty="0" err="1">
                <a:solidFill>
                  <a:schemeClr val="tx2"/>
                </a:solidFill>
              </a:rPr>
              <a:t>un IP</a:t>
            </a:r>
            <a:r>
              <a:rPr lang="en-US" sz="1400" dirty="0">
                <a:solidFill>
                  <a:schemeClr val="tx2"/>
                </a:solidFill>
              </a:rPr>
              <a:t> </a:t>
            </a:r>
            <a:r>
              <a:rPr lang="en-US" sz="1400" dirty="0" err="1">
                <a:solidFill>
                  <a:schemeClr val="tx2"/>
                </a:solidFill>
              </a:rPr>
              <a:t>nel</a:t>
            </a:r>
            <a:r>
              <a:rPr lang="en-US" sz="1400" dirty="0">
                <a:solidFill>
                  <a:schemeClr val="tx2"/>
                </a:solidFill>
              </a:rPr>
              <a:t> </a:t>
            </a:r>
            <a:r>
              <a:rPr lang="en-US" sz="1400" dirty="0" err="1">
                <a:solidFill>
                  <a:schemeClr val="tx2"/>
                </a:solidFill>
              </a:rPr>
              <a:t>formato</a:t>
            </a:r>
            <a:r>
              <a:rPr lang="en-US" sz="1400" dirty="0">
                <a:solidFill>
                  <a:schemeClr val="tx2"/>
                </a:solidFill>
              </a:rPr>
              <a:t> 192.168.1.1.</a:t>
            </a:r>
          </a:p>
          <a:p>
            <a:pPr marL="0" indent="0">
              <a:spcAft>
                <a:spcPts val="500"/>
              </a:spcAft>
              <a:buNone/>
            </a:pPr>
            <a:r>
              <a:rPr lang="en-US" sz="1400" dirty="0">
                <a:solidFill>
                  <a:schemeClr val="tx2"/>
                </a:solidFill>
              </a:rPr>
              <a:t>Sono </a:t>
            </a:r>
            <a:r>
              <a:rPr lang="en-US" sz="1400" dirty="0" err="1">
                <a:solidFill>
                  <a:schemeClr val="tx2"/>
                </a:solidFill>
              </a:rPr>
              <a:t>all’inizio</a:t>
            </a:r>
            <a:r>
              <a:rPr lang="en-US" sz="1400" dirty="0">
                <a:solidFill>
                  <a:schemeClr val="tx2"/>
                </a:solidFill>
              </a:rPr>
              <a:t> del </a:t>
            </a:r>
            <a:r>
              <a:rPr lang="en-US" sz="1400" dirty="0" err="1">
                <a:solidFill>
                  <a:schemeClr val="tx2"/>
                </a:solidFill>
              </a:rPr>
              <a:t>codice</a:t>
            </a:r>
            <a:r>
              <a:rPr lang="en-US" sz="1400" dirty="0">
                <a:solidFill>
                  <a:schemeClr val="tx2"/>
                </a:solidFill>
              </a:rPr>
              <a:t> </a:t>
            </a:r>
            <a:r>
              <a:rPr lang="en-US" sz="1400" dirty="0" err="1">
                <a:solidFill>
                  <a:schemeClr val="tx2"/>
                </a:solidFill>
              </a:rPr>
              <a:t>perché</a:t>
            </a:r>
            <a:r>
              <a:rPr lang="en-US" sz="1400" dirty="0">
                <a:solidFill>
                  <a:schemeClr val="tx2"/>
                </a:solidFill>
              </a:rPr>
              <a:t> </a:t>
            </a:r>
            <a:r>
              <a:rPr lang="en-US" sz="1400" dirty="0" err="1">
                <a:solidFill>
                  <a:schemeClr val="tx2"/>
                </a:solidFill>
              </a:rPr>
              <a:t>richiamate</a:t>
            </a:r>
            <a:r>
              <a:rPr lang="en-US" sz="1400" dirty="0">
                <a:solidFill>
                  <a:schemeClr val="tx2"/>
                </a:solidFill>
              </a:rPr>
              <a:t> </a:t>
            </a:r>
            <a:r>
              <a:rPr lang="en-US" sz="1400" dirty="0" err="1">
                <a:solidFill>
                  <a:schemeClr val="tx2"/>
                </a:solidFill>
              </a:rPr>
              <a:t>più</a:t>
            </a:r>
            <a:r>
              <a:rPr lang="en-US" sz="1400" dirty="0">
                <a:solidFill>
                  <a:schemeClr val="tx2"/>
                </a:solidFill>
              </a:rPr>
              <a:t> volte: basta </a:t>
            </a:r>
            <a:r>
              <a:rPr lang="en-US" sz="1400" dirty="0" err="1">
                <a:solidFill>
                  <a:schemeClr val="tx2"/>
                </a:solidFill>
              </a:rPr>
              <a:t>richiamarle</a:t>
            </a:r>
            <a:r>
              <a:rPr lang="en-US" sz="1400" dirty="0">
                <a:solidFill>
                  <a:schemeClr val="tx2"/>
                </a:solidFill>
              </a:rPr>
              <a:t> </a:t>
            </a:r>
            <a:r>
              <a:rPr lang="en-US" sz="1400" dirty="0" err="1">
                <a:solidFill>
                  <a:schemeClr val="tx2"/>
                </a:solidFill>
              </a:rPr>
              <a:t>anziché</a:t>
            </a:r>
            <a:r>
              <a:rPr lang="en-US" sz="1400" dirty="0">
                <a:solidFill>
                  <a:schemeClr val="tx2"/>
                </a:solidFill>
              </a:rPr>
              <a:t> </a:t>
            </a:r>
            <a:r>
              <a:rPr lang="en-US" sz="1400" dirty="0" err="1">
                <a:solidFill>
                  <a:schemeClr val="tx2"/>
                </a:solidFill>
              </a:rPr>
              <a:t>ripetere</a:t>
            </a:r>
            <a:r>
              <a:rPr lang="en-US" sz="1400" dirty="0">
                <a:solidFill>
                  <a:schemeClr val="tx2"/>
                </a:solidFill>
              </a:rPr>
              <a:t> la </a:t>
            </a:r>
            <a:r>
              <a:rPr lang="en-US" sz="1400" dirty="0" err="1">
                <a:solidFill>
                  <a:schemeClr val="tx2"/>
                </a:solidFill>
              </a:rPr>
              <a:t>conversione</a:t>
            </a:r>
            <a:r>
              <a:rPr lang="en-US" sz="1400" dirty="0">
                <a:solidFill>
                  <a:schemeClr val="tx2"/>
                </a:solidFill>
              </a:rPr>
              <a:t>.</a:t>
            </a:r>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5 · STRUMENTO DI CATTURA DEI SOCKET DI RETE (SNIFFER)</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5.4 Creazione del socket raw</a:t>
            </a:r>
            <a:endParaRPr lang="en-US" sz="3000" dirty="0"/>
          </a:p>
        </p:txBody>
      </p:sp>
      <p:sp>
        <p:nvSpPr>
          <p:cNvPr id="4" name="code-bg"/>
          <p:cNvSpPr/>
          <p:nvPr/>
        </p:nvSpPr>
        <p:spPr>
          <a:xfrm>
            <a:off x="548640" y="1417320"/>
            <a:ext cx="11094415" cy="685800"/>
          </a:xfrm>
          <a:prstGeom prst="roundRect">
            <a:avLst>
              <a:gd name="adj" fmla="val 10667"/>
            </a:avLst>
          </a:prstGeom>
          <a:solidFill>
            <a:srgbClr val="0F1117"/>
          </a:solidFill>
          <a:ln w="12700">
            <a:solidFill>
              <a:srgbClr val="0F1117"/>
            </a:solidFill>
            <a:prstDash val="solid"/>
          </a:ln>
        </p:spPr>
      </p:sp>
      <p:sp>
        <p:nvSpPr>
          <p:cNvPr id="5" name="code"/>
          <p:cNvSpPr txBox="1"/>
          <p:nvPr/>
        </p:nvSpPr>
        <p:spPr>
          <a:xfrm>
            <a:off x="777240" y="1581912"/>
            <a:ext cx="10637215" cy="411480"/>
          </a:xfrm>
          <a:prstGeom prst="rect">
            <a:avLst/>
          </a:prstGeom>
          <a:noFill/>
          <a:ln/>
        </p:spPr>
        <p:txBody>
          <a:bodyPr wrap="square" lIns="0" tIns="0" rIns="0" bIns="0" rtlCol="0" anchor="t"/>
          <a:lstStyle/>
          <a:p>
            <a:pPr marL="0" indent="0">
              <a:buNone/>
            </a:pPr>
            <a:r>
              <a:rPr lang="en-US" sz="1500" dirty="0">
                <a:solidFill>
                  <a:srgbClr val="E5E7EB"/>
                </a:solidFill>
                <a:latin typeface="Courier New" pitchFamily="34" charset="0"/>
                <a:ea typeface="Courier New" pitchFamily="34" charset="-122"/>
                <a:cs typeface="Courier New" pitchFamily="34" charset="-120"/>
              </a:rPr>
              <a:t>s = socket.socket(socket.AF_PACKET, socket.SOCK_RAW, socket.ntohs(0x0003))</a:t>
            </a:r>
            <a:endParaRPr lang="en-US" sz="1500" dirty="0"/>
          </a:p>
        </p:txBody>
      </p:sp>
      <p:sp>
        <p:nvSpPr>
          <p:cNvPr id="6" name="intro"/>
          <p:cNvSpPr txBox="1"/>
          <p:nvPr/>
        </p:nvSpPr>
        <p:spPr>
          <a:xfrm>
            <a:off x="548640" y="2240280"/>
            <a:ext cx="11094415" cy="365760"/>
          </a:xfrm>
          <a:prstGeom prst="rect">
            <a:avLst/>
          </a:prstGeom>
          <a:noFill/>
          <a:ln/>
        </p:spPr>
        <p:txBody>
          <a:bodyPr wrap="square" lIns="0" tIns="0" rIns="0" bIns="0" rtlCol="0" anchor="ctr"/>
          <a:lstStyle/>
          <a:p>
            <a:pPr marL="0" indent="0">
              <a:buNone/>
            </a:pPr>
            <a:r>
              <a:rPr lang="en-US" sz="1500" dirty="0">
                <a:solidFill>
                  <a:schemeClr val="tx2"/>
                </a:solidFill>
              </a:rPr>
              <a:t>La riga centrale del programma: crea un socket speciale che riceve i pacchetti grezzi.</a:t>
            </a:r>
            <a:endParaRPr lang="en-US" sz="1500" dirty="0"/>
          </a:p>
        </p:txBody>
      </p:sp>
      <p:sp>
        <p:nvSpPr>
          <p:cNvPr id="7" name="card"/>
          <p:cNvSpPr/>
          <p:nvPr/>
        </p:nvSpPr>
        <p:spPr>
          <a:xfrm>
            <a:off x="1991443" y="2616283"/>
            <a:ext cx="3515258" cy="2148840"/>
          </a:xfrm>
          <a:prstGeom prst="roundRect">
            <a:avLst>
              <a:gd name="adj" fmla="val 4255"/>
            </a:avLst>
          </a:prstGeom>
          <a:solidFill>
            <a:schemeClr val="bg2"/>
          </a:solidFill>
          <a:ln w="12700">
            <a:solidFill>
              <a:schemeClr val="bg2"/>
            </a:solidFill>
            <a:prstDash val="solid"/>
          </a:ln>
        </p:spPr>
      </p:sp>
      <p:sp>
        <p:nvSpPr>
          <p:cNvPr id="8" name="badge"/>
          <p:cNvSpPr/>
          <p:nvPr/>
        </p:nvSpPr>
        <p:spPr>
          <a:xfrm>
            <a:off x="2220043" y="2844883"/>
            <a:ext cx="457200" cy="457200"/>
          </a:xfrm>
          <a:prstGeom prst="ellipse">
            <a:avLst/>
          </a:prstGeom>
          <a:solidFill>
            <a:schemeClr val="accent1"/>
          </a:solidFill>
          <a:ln w="12700">
            <a:solidFill>
              <a:schemeClr val="accent1"/>
            </a:solidFill>
            <a:prstDash val="solid"/>
          </a:ln>
        </p:spPr>
      </p:sp>
      <p:sp>
        <p:nvSpPr>
          <p:cNvPr id="9" name="badge-num"/>
          <p:cNvSpPr txBox="1"/>
          <p:nvPr/>
        </p:nvSpPr>
        <p:spPr>
          <a:xfrm>
            <a:off x="2220043" y="2844883"/>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10" name="card-head"/>
          <p:cNvSpPr txBox="1"/>
          <p:nvPr/>
        </p:nvSpPr>
        <p:spPr>
          <a:xfrm>
            <a:off x="2860123" y="2817451"/>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AF_PACKET</a:t>
            </a:r>
            <a:endParaRPr lang="en-US" sz="1600" dirty="0"/>
          </a:p>
        </p:txBody>
      </p:sp>
      <p:sp>
        <p:nvSpPr>
          <p:cNvPr id="11" name="card-body"/>
          <p:cNvSpPr txBox="1"/>
          <p:nvPr/>
        </p:nvSpPr>
        <p:spPr>
          <a:xfrm>
            <a:off x="2220043" y="3439243"/>
            <a:ext cx="3058058" cy="1188720"/>
          </a:xfrm>
          <a:prstGeom prst="rect">
            <a:avLst/>
          </a:prstGeom>
          <a:noFill/>
          <a:ln/>
        </p:spPr>
        <p:txBody>
          <a:bodyPr wrap="square" lIns="0" tIns="0" rIns="0" bIns="0" rtlCol="0" anchor="t"/>
          <a:lstStyle/>
          <a:p>
            <a:pPr marL="0" indent="0">
              <a:buNone/>
            </a:pPr>
            <a:r>
              <a:rPr lang="en-US" sz="1400" dirty="0">
                <a:solidFill>
                  <a:schemeClr val="tx2"/>
                </a:solidFill>
              </a:rPr>
              <a:t>Famiglia di socket di Linux che opera a livello 2 (collegamento dati): vengono ricevuti i frame interi, header Ethernet compreso.</a:t>
            </a:r>
            <a:endParaRPr lang="en-US" sz="1400" dirty="0"/>
          </a:p>
        </p:txBody>
      </p:sp>
      <p:sp>
        <p:nvSpPr>
          <p:cNvPr id="12" name="card"/>
          <p:cNvSpPr/>
          <p:nvPr/>
        </p:nvSpPr>
        <p:spPr>
          <a:xfrm>
            <a:off x="6286940" y="2603791"/>
            <a:ext cx="3515258" cy="2148840"/>
          </a:xfrm>
          <a:prstGeom prst="roundRect">
            <a:avLst>
              <a:gd name="adj" fmla="val 4255"/>
            </a:avLst>
          </a:prstGeom>
          <a:solidFill>
            <a:schemeClr val="bg2"/>
          </a:solidFill>
          <a:ln w="12700">
            <a:solidFill>
              <a:schemeClr val="bg2"/>
            </a:solidFill>
            <a:prstDash val="solid"/>
          </a:ln>
        </p:spPr>
      </p:sp>
      <p:sp>
        <p:nvSpPr>
          <p:cNvPr id="13" name="badge"/>
          <p:cNvSpPr/>
          <p:nvPr/>
        </p:nvSpPr>
        <p:spPr>
          <a:xfrm>
            <a:off x="6515540" y="2832391"/>
            <a:ext cx="457200" cy="457200"/>
          </a:xfrm>
          <a:prstGeom prst="ellipse">
            <a:avLst/>
          </a:prstGeom>
          <a:solidFill>
            <a:schemeClr val="accent1"/>
          </a:solidFill>
          <a:ln w="12700">
            <a:solidFill>
              <a:schemeClr val="accent1"/>
            </a:solidFill>
            <a:prstDash val="solid"/>
          </a:ln>
        </p:spPr>
      </p:sp>
      <p:sp>
        <p:nvSpPr>
          <p:cNvPr id="14" name="badge-num"/>
          <p:cNvSpPr txBox="1"/>
          <p:nvPr/>
        </p:nvSpPr>
        <p:spPr>
          <a:xfrm>
            <a:off x="6515540" y="2832391"/>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5" name="card-head"/>
          <p:cNvSpPr txBox="1"/>
          <p:nvPr/>
        </p:nvSpPr>
        <p:spPr>
          <a:xfrm>
            <a:off x="7155620" y="2804959"/>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SOCK_RAW</a:t>
            </a:r>
            <a:endParaRPr lang="en-US" sz="1600" dirty="0"/>
          </a:p>
        </p:txBody>
      </p:sp>
      <p:sp>
        <p:nvSpPr>
          <p:cNvPr id="16" name="card-body"/>
          <p:cNvSpPr txBox="1"/>
          <p:nvPr/>
        </p:nvSpPr>
        <p:spPr>
          <a:xfrm>
            <a:off x="6515540" y="3426751"/>
            <a:ext cx="3058058" cy="1188720"/>
          </a:xfrm>
          <a:prstGeom prst="rect">
            <a:avLst/>
          </a:prstGeom>
          <a:noFill/>
          <a:ln/>
        </p:spPr>
        <p:txBody>
          <a:bodyPr wrap="square" lIns="0" tIns="0" rIns="0" bIns="0" rtlCol="0" anchor="t"/>
          <a:lstStyle/>
          <a:p>
            <a:pPr marL="0" indent="0">
              <a:buNone/>
            </a:pPr>
            <a:r>
              <a:rPr lang="en-US" sz="1400" dirty="0">
                <a:solidFill>
                  <a:schemeClr val="tx2"/>
                </a:solidFill>
              </a:rPr>
              <a:t>Pacchetti “grezzi”, senza che il sistema operativo li elabori o ne rimuova gli header: arrivano esattamente come viaggiano sul cavo.</a:t>
            </a:r>
            <a:endParaRPr lang="en-US" sz="1400" dirty="0"/>
          </a:p>
        </p:txBody>
      </p:sp>
      <p:sp>
        <p:nvSpPr>
          <p:cNvPr id="22" name="body-text"/>
          <p:cNvSpPr txBox="1"/>
          <p:nvPr/>
        </p:nvSpPr>
        <p:spPr>
          <a:xfrm>
            <a:off x="548640" y="5029200"/>
            <a:ext cx="5669280" cy="914400"/>
          </a:xfrm>
          <a:prstGeom prst="rect">
            <a:avLst/>
          </a:prstGeom>
          <a:noFill/>
          <a:ln/>
        </p:spPr>
        <p:txBody>
          <a:bodyPr wrap="square" lIns="0" tIns="0" rIns="0" bIns="0" rtlCol="0" anchor="ctr"/>
          <a:lstStyle/>
          <a:p>
            <a:pPr marL="0" indent="0">
              <a:buNone/>
            </a:pPr>
            <a:r>
              <a:rPr lang="en-US" sz="1400" dirty="0">
                <a:solidFill>
                  <a:schemeClr val="tx2"/>
                </a:solidFill>
              </a:rPr>
              <a:t>Subito dopo viene stampato un messaggio di avvio e inizializzato a 0 il contatore numero, che tiene il conteggio dei pacchetti catturati.</a:t>
            </a:r>
            <a:endParaRPr lang="en-US" sz="1400" dirty="0"/>
          </a:p>
        </p:txBody>
      </p:sp>
      <p:sp>
        <p:nvSpPr>
          <p:cNvPr id="23" name="code-bg"/>
          <p:cNvSpPr/>
          <p:nvPr/>
        </p:nvSpPr>
        <p:spPr>
          <a:xfrm>
            <a:off x="6492240" y="5029200"/>
            <a:ext cx="5148072" cy="960120"/>
          </a:xfrm>
          <a:prstGeom prst="roundRect">
            <a:avLst>
              <a:gd name="adj" fmla="val 7619"/>
            </a:avLst>
          </a:prstGeom>
          <a:solidFill>
            <a:srgbClr val="0F1117"/>
          </a:solidFill>
          <a:ln w="12700">
            <a:solidFill>
              <a:srgbClr val="0F1117"/>
            </a:solidFill>
            <a:prstDash val="solid"/>
          </a:ln>
        </p:spPr>
      </p:sp>
      <p:sp>
        <p:nvSpPr>
          <p:cNvPr id="24" name="code"/>
          <p:cNvSpPr txBox="1"/>
          <p:nvPr/>
        </p:nvSpPr>
        <p:spPr>
          <a:xfrm>
            <a:off x="6720840" y="5193792"/>
            <a:ext cx="4690872" cy="685800"/>
          </a:xfrm>
          <a:prstGeom prst="rect">
            <a:avLst/>
          </a:prstGeom>
          <a:noFill/>
          <a:ln/>
        </p:spPr>
        <p:txBody>
          <a:bodyPr wrap="square" lIns="0" tIns="0" rIns="0" bIns="0" rtlCol="0" anchor="t"/>
          <a:lstStyle/>
          <a:p>
            <a:pPr marL="0" indent="0">
              <a:buNone/>
            </a:pPr>
            <a:r>
              <a:rPr lang="en-US" sz="1200" dirty="0">
                <a:solidFill>
                  <a:srgbClr val="E5E7EB"/>
                </a:solidFill>
                <a:latin typeface="Courier New" pitchFamily="34" charset="0"/>
                <a:ea typeface="Courier New" pitchFamily="34" charset="-122"/>
                <a:cs typeface="Courier New" pitchFamily="34" charset="-120"/>
              </a:rPr>
              <a:t>print("Sniffer avviato, premi Ctrl+C per fermarlo\n")</a:t>
            </a:r>
            <a:endParaRPr lang="en-US" sz="1200" dirty="0"/>
          </a:p>
          <a:p>
            <a:pPr marL="0" indent="0">
              <a:buNone/>
            </a:pP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numero = 0</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5 · STRUMENTO DI CATTURA DEI SOCKET DI RETE (SNIFFER)</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5.5 Ciclo di cattura e header Ethernet</a:t>
            </a:r>
            <a:endParaRPr lang="en-US" sz="3000" dirty="0"/>
          </a:p>
        </p:txBody>
      </p:sp>
      <p:sp>
        <p:nvSpPr>
          <p:cNvPr id="4" name="code-bg"/>
          <p:cNvSpPr/>
          <p:nvPr/>
        </p:nvSpPr>
        <p:spPr>
          <a:xfrm>
            <a:off x="548640" y="1371600"/>
            <a:ext cx="5760720" cy="2148840"/>
          </a:xfrm>
          <a:prstGeom prst="roundRect">
            <a:avLst>
              <a:gd name="adj" fmla="val 3404"/>
            </a:avLst>
          </a:prstGeom>
          <a:solidFill>
            <a:srgbClr val="0F1117"/>
          </a:solidFill>
          <a:ln w="12700">
            <a:solidFill>
              <a:srgbClr val="0F1117"/>
            </a:solidFill>
            <a:prstDash val="solid"/>
          </a:ln>
        </p:spPr>
      </p:sp>
      <p:sp>
        <p:nvSpPr>
          <p:cNvPr id="5" name="code"/>
          <p:cNvSpPr txBox="1"/>
          <p:nvPr/>
        </p:nvSpPr>
        <p:spPr>
          <a:xfrm>
            <a:off x="777240" y="1536192"/>
            <a:ext cx="5303520" cy="1874520"/>
          </a:xfrm>
          <a:prstGeom prst="rect">
            <a:avLst/>
          </a:prstGeom>
          <a:noFill/>
          <a:ln/>
        </p:spPr>
        <p:txBody>
          <a:bodyPr wrap="square" lIns="0" tIns="0" rIns="0" bIns="0" rtlCol="0" anchor="t"/>
          <a:lstStyle/>
          <a:p>
            <a:pPr marL="0" indent="0">
              <a:buNone/>
            </a:pPr>
            <a:r>
              <a:rPr lang="en-US" sz="1100" dirty="0">
                <a:solidFill>
                  <a:srgbClr val="E5E7EB"/>
                </a:solidFill>
                <a:latin typeface="Courier New" pitchFamily="34" charset="0"/>
                <a:ea typeface="Courier New" pitchFamily="34" charset="-122"/>
                <a:cs typeface="Courier New" pitchFamily="34" charset="-120"/>
              </a:rPr>
              <a:t>try:</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while True:</a:t>
            </a:r>
            <a:endParaRPr lang="en-US" sz="1100" dirty="0"/>
          </a:p>
          <a:p>
            <a:pPr marL="0" indent="0">
              <a:buNone/>
            </a:pPr>
            <a:r>
              <a:rPr lang="en-US" sz="1100" dirty="0">
                <a:solidFill>
                  <a:srgbClr val="E5E7EB"/>
                </a:solidFill>
                <a:latin typeface="Courier New"/>
                <a:ea typeface="Courier New" pitchFamily="34" charset="-122"/>
                <a:cs typeface="Courier New"/>
              </a:rPr>
              <a:t>        </a:t>
            </a:r>
            <a:r>
              <a:rPr lang="en-US" sz="1100" dirty="0" err="1">
                <a:solidFill>
                  <a:srgbClr val="E5E7EB"/>
                </a:solidFill>
                <a:latin typeface="Courier New"/>
                <a:ea typeface="Courier New" pitchFamily="34" charset="-122"/>
                <a:cs typeface="Courier New"/>
              </a:rPr>
              <a:t>pacchetto</a:t>
            </a:r>
            <a:r>
              <a:rPr lang="en-US" sz="1100" dirty="0">
                <a:solidFill>
                  <a:srgbClr val="E5E7EB"/>
                </a:solidFill>
                <a:latin typeface="Courier New"/>
                <a:ea typeface="Courier New" pitchFamily="34" charset="-122"/>
                <a:cs typeface="Courier New"/>
              </a:rPr>
              <a:t>, </a:t>
            </a:r>
            <a:r>
              <a:rPr lang="en-US" sz="1100" dirty="0" err="1">
                <a:solidFill>
                  <a:srgbClr val="E5E7EB"/>
                </a:solidFill>
                <a:latin typeface="Courier New"/>
                <a:ea typeface="Courier New" pitchFamily="34" charset="-122"/>
                <a:cs typeface="Courier New"/>
              </a:rPr>
              <a:t>indirizzo</a:t>
            </a:r>
            <a:r>
              <a:rPr lang="en-US" sz="1100" dirty="0">
                <a:solidFill>
                  <a:srgbClr val="E5E7EB"/>
                </a:solidFill>
                <a:latin typeface="Courier New"/>
                <a:ea typeface="Courier New" pitchFamily="34" charset="-122"/>
                <a:cs typeface="Courier New"/>
              </a:rPr>
              <a:t> = </a:t>
            </a:r>
            <a:r>
              <a:rPr lang="en-US" sz="1100" dirty="0" err="1">
                <a:solidFill>
                  <a:srgbClr val="E5E7EB"/>
                </a:solidFill>
                <a:latin typeface="Courier New"/>
                <a:ea typeface="Courier New" pitchFamily="34" charset="-122"/>
                <a:cs typeface="Courier New"/>
              </a:rPr>
              <a:t>s.recvfrom</a:t>
            </a:r>
            <a:r>
              <a:rPr lang="en-US" sz="1100" dirty="0">
                <a:solidFill>
                  <a:srgbClr val="E5E7EB"/>
                </a:solidFill>
                <a:latin typeface="Courier New"/>
                <a:ea typeface="Courier New" pitchFamily="34" charset="-122"/>
                <a:cs typeface="Courier New"/>
              </a:rPr>
              <a:t>(65535)</a:t>
            </a:r>
            <a:endParaRPr lang="en-US" sz="1100" dirty="0">
              <a:latin typeface="Courier New"/>
              <a:cs typeface="Courier New"/>
            </a:endParaRPr>
          </a:p>
          <a:p>
            <a:pPr marL="0" indent="0">
              <a:buNone/>
            </a:pPr>
            <a:r>
              <a:rPr lang="en-US" sz="1100" dirty="0">
                <a:solidFill>
                  <a:srgbClr val="E5E7EB"/>
                </a:solidFill>
                <a:latin typeface="Courier New"/>
                <a:ea typeface="Courier New" pitchFamily="34" charset="-122"/>
                <a:cs typeface="Courier New"/>
              </a:rPr>
              <a:t>        </a:t>
            </a:r>
            <a:r>
              <a:rPr lang="en-US" sz="1100" dirty="0" err="1">
                <a:solidFill>
                  <a:srgbClr val="E5E7EB"/>
                </a:solidFill>
                <a:latin typeface="Courier New"/>
                <a:ea typeface="Courier New" pitchFamily="34" charset="-122"/>
                <a:cs typeface="Courier New"/>
              </a:rPr>
              <a:t>numero</a:t>
            </a:r>
            <a:r>
              <a:rPr lang="en-US" sz="1100" dirty="0">
                <a:solidFill>
                  <a:srgbClr val="E5E7EB"/>
                </a:solidFill>
                <a:latin typeface="Courier New"/>
                <a:ea typeface="Courier New" pitchFamily="34" charset="-122"/>
                <a:cs typeface="Courier New"/>
              </a:rPr>
              <a:t> += 1</a:t>
            </a:r>
            <a:endParaRPr lang="en-US" sz="1100" dirty="0">
              <a:latin typeface="Courier New"/>
              <a:cs typeface="Courier New"/>
            </a:endParaRPr>
          </a:p>
          <a:p>
            <a:pPr marL="0" indent="0">
              <a:buNone/>
            </a:pPr>
            <a:endParaRPr lang="en-US" sz="1100" dirty="0"/>
          </a:p>
          <a:p>
            <a:pPr marL="0" indent="0">
              <a:buNone/>
            </a:pPr>
            <a:r>
              <a:rPr lang="en-US" sz="1100" dirty="0">
                <a:solidFill>
                  <a:srgbClr val="E5E7EB"/>
                </a:solidFill>
                <a:latin typeface="Courier New"/>
                <a:ea typeface="Courier New" pitchFamily="34" charset="-122"/>
                <a:cs typeface="Courier New"/>
              </a:rPr>
              <a:t>        # header Ethernet (</a:t>
            </a:r>
            <a:r>
              <a:rPr lang="en-US" sz="1100" dirty="0" err="1">
                <a:solidFill>
                  <a:srgbClr val="E5E7EB"/>
                </a:solidFill>
                <a:latin typeface="Courier New"/>
                <a:ea typeface="Courier New" pitchFamily="34" charset="-122"/>
                <a:cs typeface="Courier New"/>
              </a:rPr>
              <a:t>primi</a:t>
            </a:r>
            <a:r>
              <a:rPr lang="en-US" sz="1100" dirty="0">
                <a:solidFill>
                  <a:srgbClr val="E5E7EB"/>
                </a:solidFill>
                <a:latin typeface="Courier New"/>
                <a:ea typeface="Courier New" pitchFamily="34" charset="-122"/>
                <a:cs typeface="Courier New"/>
              </a:rPr>
              <a:t> 14 byte)</a:t>
            </a:r>
            <a:endParaRPr lang="en-US" sz="1100" dirty="0">
              <a:latin typeface="Courier New"/>
              <a:cs typeface="Courier New"/>
            </a:endParaRPr>
          </a:p>
          <a:p>
            <a:pPr marL="0" indent="0">
              <a:buNone/>
            </a:pPr>
            <a:r>
              <a:rPr lang="en-US" sz="1100" dirty="0">
                <a:solidFill>
                  <a:srgbClr val="E5E7EB"/>
                </a:solidFill>
                <a:latin typeface="Courier New"/>
                <a:ea typeface="Courier New" pitchFamily="34" charset="-122"/>
                <a:cs typeface="Courier New"/>
              </a:rPr>
              <a:t>        </a:t>
            </a:r>
            <a:r>
              <a:rPr lang="en-US" sz="1100" dirty="0" err="1">
                <a:solidFill>
                  <a:srgbClr val="E5E7EB"/>
                </a:solidFill>
                <a:latin typeface="Courier New"/>
                <a:ea typeface="Courier New" pitchFamily="34" charset="-122"/>
                <a:cs typeface="Courier New"/>
              </a:rPr>
              <a:t>mac_dest</a:t>
            </a:r>
            <a:r>
              <a:rPr lang="en-US" sz="1100" dirty="0">
                <a:solidFill>
                  <a:srgbClr val="E5E7EB"/>
                </a:solidFill>
                <a:latin typeface="Courier New"/>
                <a:ea typeface="Courier New" pitchFamily="34" charset="-122"/>
                <a:cs typeface="Courier New"/>
              </a:rPr>
              <a:t>, </a:t>
            </a:r>
            <a:r>
              <a:rPr lang="en-US" sz="1100" dirty="0" err="1">
                <a:solidFill>
                  <a:srgbClr val="E5E7EB"/>
                </a:solidFill>
                <a:latin typeface="Courier New"/>
                <a:ea typeface="Courier New" pitchFamily="34" charset="-122"/>
                <a:cs typeface="Courier New"/>
              </a:rPr>
              <a:t>mac_sorg</a:t>
            </a:r>
            <a:r>
              <a:rPr lang="en-US" sz="1100" dirty="0">
                <a:solidFill>
                  <a:srgbClr val="E5E7EB"/>
                </a:solidFill>
                <a:latin typeface="Courier New"/>
                <a:ea typeface="Courier New" pitchFamily="34" charset="-122"/>
                <a:cs typeface="Courier New"/>
              </a:rPr>
              <a:t>, </a:t>
            </a:r>
            <a:r>
              <a:rPr lang="en-US" sz="1100" dirty="0" err="1">
                <a:solidFill>
                  <a:srgbClr val="E5E7EB"/>
                </a:solidFill>
                <a:latin typeface="Courier New"/>
                <a:ea typeface="Courier New" pitchFamily="34" charset="-122"/>
                <a:cs typeface="Courier New"/>
              </a:rPr>
              <a:t>tipo</a:t>
            </a:r>
            <a:r>
              <a:rPr lang="en-US" sz="1100" dirty="0">
                <a:solidFill>
                  <a:srgbClr val="E5E7EB"/>
                </a:solidFill>
                <a:latin typeface="Courier New"/>
                <a:ea typeface="Courier New" pitchFamily="34" charset="-122"/>
                <a:cs typeface="Courier New"/>
              </a:rPr>
              <a:t> = </a:t>
            </a:r>
            <a:r>
              <a:rPr lang="en-US" sz="1100" dirty="0" err="1">
                <a:solidFill>
                  <a:srgbClr val="E5E7EB"/>
                </a:solidFill>
                <a:latin typeface="Courier New"/>
                <a:ea typeface="Courier New" pitchFamily="34" charset="-122"/>
                <a:cs typeface="Courier New"/>
              </a:rPr>
              <a:t>struct.unpack</a:t>
            </a:r>
            <a:endParaRPr lang="en-US" sz="1100" dirty="0" err="1">
              <a:solidFill>
                <a:srgbClr val="E5E7EB"/>
              </a:solidFill>
              <a:latin typeface="Courier New"/>
              <a:cs typeface="Courier New"/>
            </a:endParaRPr>
          </a:p>
        </p:txBody>
      </p:sp>
      <p:sp>
        <p:nvSpPr>
          <p:cNvPr id="6" name="code-bg"/>
          <p:cNvSpPr/>
          <p:nvPr/>
        </p:nvSpPr>
        <p:spPr>
          <a:xfrm>
            <a:off x="548640" y="3657600"/>
            <a:ext cx="5760720" cy="2377440"/>
          </a:xfrm>
          <a:prstGeom prst="roundRect">
            <a:avLst>
              <a:gd name="adj" fmla="val 3077"/>
            </a:avLst>
          </a:prstGeom>
          <a:solidFill>
            <a:srgbClr val="0F1117"/>
          </a:solidFill>
          <a:ln w="12700">
            <a:solidFill>
              <a:srgbClr val="0F1117"/>
            </a:solidFill>
            <a:prstDash val="solid"/>
          </a:ln>
        </p:spPr>
      </p:sp>
      <p:sp>
        <p:nvSpPr>
          <p:cNvPr id="7" name="code"/>
          <p:cNvSpPr txBox="1"/>
          <p:nvPr/>
        </p:nvSpPr>
        <p:spPr>
          <a:xfrm>
            <a:off x="777240" y="3822192"/>
            <a:ext cx="5303520" cy="2103120"/>
          </a:xfrm>
          <a:prstGeom prst="rect">
            <a:avLst/>
          </a:prstGeom>
          <a:noFill/>
          <a:ln/>
        </p:spPr>
        <p:txBody>
          <a:bodyPr wrap="square" lIns="0" tIns="0" rIns="0" bIns="0" rtlCol="0" anchor="t"/>
          <a:lstStyle/>
          <a:p>
            <a:pPr marL="0" indent="0">
              <a:buNone/>
            </a:pPr>
            <a:r>
              <a:rPr lang="en-US" sz="1100" dirty="0">
                <a:solidFill>
                  <a:srgbClr val="E5E7EB"/>
                </a:solidFill>
                <a:latin typeface="Courier New"/>
                <a:ea typeface="Courier New" pitchFamily="34" charset="-122"/>
                <a:cs typeface="Courier New"/>
              </a:rPr>
              <a:t>        print("</a:t>
            </a:r>
            <a:r>
              <a:rPr lang="en-US" sz="1100" dirty="0" err="1">
                <a:solidFill>
                  <a:srgbClr val="E5E7EB"/>
                </a:solidFill>
                <a:latin typeface="Courier New"/>
                <a:ea typeface="Courier New" pitchFamily="34" charset="-122"/>
                <a:cs typeface="Courier New"/>
              </a:rPr>
              <a:t>Pacchetto</a:t>
            </a:r>
            <a:r>
              <a:rPr lang="en-US" sz="1100" dirty="0">
                <a:solidFill>
                  <a:srgbClr val="E5E7EB"/>
                </a:solidFill>
                <a:latin typeface="Courier New"/>
                <a:ea typeface="Courier New" pitchFamily="34" charset="-122"/>
                <a:cs typeface="Courier New"/>
              </a:rPr>
              <a:t> n.", </a:t>
            </a:r>
            <a:r>
              <a:rPr lang="en-US" sz="1100" dirty="0" err="1">
                <a:solidFill>
                  <a:srgbClr val="E5E7EB"/>
                </a:solidFill>
                <a:latin typeface="Courier New"/>
                <a:ea typeface="Courier New" pitchFamily="34" charset="-122"/>
                <a:cs typeface="Courier New"/>
              </a:rPr>
              <a:t>numero</a:t>
            </a:r>
            <a:r>
              <a:rPr lang="en-US" sz="1100" dirty="0">
                <a:solidFill>
                  <a:srgbClr val="E5E7EB"/>
                </a:solidFill>
                <a:latin typeface="Courier New"/>
                <a:ea typeface="Courier New" pitchFamily="34" charset="-122"/>
                <a:cs typeface="Courier New"/>
              </a:rPr>
              <a:t>)</a:t>
            </a:r>
            <a:endParaRPr lang="en-US" sz="1100" dirty="0">
              <a:latin typeface="Courier New"/>
              <a:cs typeface="Courier New"/>
            </a:endParaRPr>
          </a:p>
          <a:p>
            <a:pPr marL="0" indent="0">
              <a:buNone/>
            </a:pPr>
            <a:r>
              <a:rPr lang="en-US" sz="1100" dirty="0">
                <a:solidFill>
                  <a:srgbClr val="E5E7EB"/>
                </a:solidFill>
                <a:latin typeface="Courier New"/>
                <a:ea typeface="Courier New" pitchFamily="34" charset="-122"/>
                <a:cs typeface="Courier New"/>
              </a:rPr>
              <a:t>        print("  MAC </a:t>
            </a:r>
            <a:r>
              <a:rPr lang="en-US" sz="1100" dirty="0" err="1">
                <a:solidFill>
                  <a:srgbClr val="E5E7EB"/>
                </a:solidFill>
                <a:latin typeface="Courier New"/>
                <a:ea typeface="Courier New" pitchFamily="34" charset="-122"/>
                <a:cs typeface="Courier New"/>
              </a:rPr>
              <a:t>sorgente</a:t>
            </a:r>
            <a:r>
              <a:rPr lang="en-US" sz="1100" dirty="0">
                <a:solidFill>
                  <a:srgbClr val="E5E7EB"/>
                </a:solidFill>
                <a:latin typeface="Courier New"/>
                <a:ea typeface="Courier New" pitchFamily="34" charset="-122"/>
                <a:cs typeface="Courier New"/>
              </a:rPr>
              <a:t>:", </a:t>
            </a:r>
            <a:r>
              <a:rPr lang="en-US" sz="1100" dirty="0" err="1">
                <a:solidFill>
                  <a:srgbClr val="E5E7EB"/>
                </a:solidFill>
                <a:latin typeface="Courier New"/>
                <a:ea typeface="Courier New" pitchFamily="34" charset="-122"/>
                <a:cs typeface="Courier New"/>
              </a:rPr>
              <a:t>mac_address</a:t>
            </a:r>
            <a:r>
              <a:rPr lang="en-US" sz="1100" dirty="0">
                <a:solidFill>
                  <a:srgbClr val="E5E7EB"/>
                </a:solidFill>
                <a:latin typeface="Courier New"/>
                <a:ea typeface="Courier New" pitchFamily="34" charset="-122"/>
                <a:cs typeface="Courier New"/>
              </a:rPr>
              <a:t>(</a:t>
            </a:r>
            <a:r>
              <a:rPr lang="en-US" sz="1100" dirty="0" err="1">
                <a:solidFill>
                  <a:srgbClr val="E5E7EB"/>
                </a:solidFill>
                <a:latin typeface="Courier New"/>
                <a:ea typeface="Courier New" pitchFamily="34" charset="-122"/>
                <a:cs typeface="Courier New"/>
              </a:rPr>
              <a:t>mac_sorg</a:t>
            </a:r>
            <a:r>
              <a:rPr lang="en-US" sz="1100" dirty="0">
                <a:solidFill>
                  <a:srgbClr val="E5E7EB"/>
                </a:solidFill>
                <a:latin typeface="Courier New"/>
                <a:ea typeface="Courier New" pitchFamily="34" charset="-122"/>
                <a:cs typeface="Courier New"/>
              </a:rPr>
              <a:t>),</a:t>
            </a:r>
            <a:endParaRPr lang="en-US" sz="1100" dirty="0">
              <a:latin typeface="Courier New"/>
              <a:cs typeface="Courier New"/>
            </a:endParaRPr>
          </a:p>
          <a:p>
            <a:pPr marL="0" indent="0">
              <a:buNone/>
            </a:pPr>
            <a:r>
              <a:rPr lang="en-US" sz="1100" dirty="0">
                <a:solidFill>
                  <a:srgbClr val="E5E7EB"/>
                </a:solidFill>
                <a:latin typeface="Courier New"/>
                <a:ea typeface="Courier New" pitchFamily="34" charset="-122"/>
                <a:cs typeface="Courier New"/>
              </a:rPr>
              <a:t>              "-&gt; MAC </a:t>
            </a:r>
            <a:r>
              <a:rPr lang="en-US" sz="1100" dirty="0" err="1">
                <a:solidFill>
                  <a:srgbClr val="E5E7EB"/>
                </a:solidFill>
                <a:latin typeface="Courier New"/>
                <a:ea typeface="Courier New" pitchFamily="34" charset="-122"/>
                <a:cs typeface="Courier New"/>
              </a:rPr>
              <a:t>destinazione</a:t>
            </a:r>
            <a:r>
              <a:rPr lang="en-US" sz="1100" dirty="0">
                <a:solidFill>
                  <a:srgbClr val="E5E7EB"/>
                </a:solidFill>
                <a:latin typeface="Courier New"/>
                <a:ea typeface="Courier New" pitchFamily="34" charset="-122"/>
                <a:cs typeface="Courier New"/>
              </a:rPr>
              <a:t>:", </a:t>
            </a:r>
            <a:r>
              <a:rPr lang="en-US" sz="1100" dirty="0" err="1">
                <a:solidFill>
                  <a:srgbClr val="E5E7EB"/>
                </a:solidFill>
                <a:latin typeface="Courier New"/>
                <a:ea typeface="Courier New" pitchFamily="34" charset="-122"/>
                <a:cs typeface="Courier New"/>
              </a:rPr>
              <a:t>mac_address</a:t>
            </a:r>
            <a:r>
              <a:rPr lang="en-US" sz="1100" dirty="0">
                <a:solidFill>
                  <a:srgbClr val="E5E7EB"/>
                </a:solidFill>
                <a:latin typeface="Courier New"/>
                <a:ea typeface="Courier New" pitchFamily="34" charset="-122"/>
                <a:cs typeface="Courier New"/>
              </a:rPr>
              <a:t>(</a:t>
            </a:r>
            <a:r>
              <a:rPr lang="en-US" sz="1100" dirty="0" err="1">
                <a:solidFill>
                  <a:srgbClr val="E5E7EB"/>
                </a:solidFill>
                <a:latin typeface="Courier New"/>
                <a:ea typeface="Courier New" pitchFamily="34" charset="-122"/>
                <a:cs typeface="Courier New"/>
              </a:rPr>
              <a:t>mac_dest</a:t>
            </a:r>
            <a:r>
              <a:rPr lang="en-US" sz="1100" dirty="0">
                <a:solidFill>
                  <a:srgbClr val="E5E7EB"/>
                </a:solidFill>
                <a:latin typeface="Courier New"/>
                <a:ea typeface="Courier New" pitchFamily="34" charset="-122"/>
                <a:cs typeface="Courier New"/>
              </a:rPr>
              <a:t>))</a:t>
            </a:r>
            <a:endParaRPr lang="en-US" sz="1100" dirty="0">
              <a:latin typeface="Courier New"/>
              <a:cs typeface="Courier New"/>
            </a:endParaRPr>
          </a:p>
          <a:p>
            <a:pPr marL="0" indent="0">
              <a:buNone/>
            </a:pPr>
            <a:endParaRPr lang="en-US" sz="1100" dirty="0"/>
          </a:p>
          <a:p>
            <a:endParaRPr lang="en-US" sz="1100" dirty="0">
              <a:solidFill>
                <a:srgbClr val="E5E7EB"/>
              </a:solidFill>
              <a:latin typeface="Courier New"/>
              <a:ea typeface="Courier New" pitchFamily="34" charset="-122"/>
              <a:cs typeface="Courier New"/>
            </a:endParaRPr>
          </a:p>
          <a:p>
            <a:endParaRPr lang="en-US" sz="1100" dirty="0">
              <a:solidFill>
                <a:srgbClr val="E5E7EB"/>
              </a:solidFill>
              <a:latin typeface="Courier New"/>
              <a:ea typeface="Courier New" pitchFamily="34" charset="-122"/>
              <a:cs typeface="Courier New"/>
            </a:endParaRPr>
          </a:p>
          <a:p>
            <a:r>
              <a:rPr lang="en-US" sz="1100">
                <a:solidFill>
                  <a:srgbClr val="E5E7EB"/>
                </a:solidFill>
                <a:latin typeface="Courier New"/>
                <a:ea typeface="Courier New" pitchFamily="34" charset="-122"/>
                <a:cs typeface="Courier New"/>
              </a:rPr>
              <a:t>print("  </a:t>
            </a:r>
            <a:r>
              <a:rPr lang="en-US" sz="1100" err="1">
                <a:solidFill>
                  <a:srgbClr val="E5E7EB"/>
                </a:solidFill>
                <a:latin typeface="Courier New"/>
                <a:ea typeface="Courier New" pitchFamily="34" charset="-122"/>
                <a:cs typeface="Courier New"/>
              </a:rPr>
              <a:t>Non e</a:t>
            </a:r>
            <a:r>
              <a:rPr lang="en-US" sz="1100" dirty="0">
                <a:solidFill>
                  <a:srgbClr val="E5E7EB"/>
                </a:solidFill>
                <a:latin typeface="Courier New"/>
                <a:ea typeface="Courier New" pitchFamily="34" charset="-122"/>
                <a:cs typeface="Courier New"/>
              </a:rPr>
              <a:t>' un </a:t>
            </a:r>
            <a:r>
              <a:rPr lang="en-US" sz="1100" err="1">
                <a:solidFill>
                  <a:srgbClr val="E5E7EB"/>
                </a:solidFill>
                <a:latin typeface="Courier New"/>
                <a:ea typeface="Courier New" pitchFamily="34" charset="-122"/>
                <a:cs typeface="Courier New"/>
              </a:rPr>
              <a:t>pacchetto</a:t>
            </a:r>
            <a:r>
              <a:rPr lang="en-US" sz="1100" dirty="0">
                <a:solidFill>
                  <a:srgbClr val="E5E7EB"/>
                </a:solidFill>
                <a:latin typeface="Courier New"/>
                <a:ea typeface="Courier New" pitchFamily="34" charset="-122"/>
                <a:cs typeface="Courier New"/>
              </a:rPr>
              <a:t> IPv4\n")</a:t>
            </a:r>
            <a:endParaRPr lang="en-US" sz="1100">
              <a:latin typeface="Courier New"/>
              <a:cs typeface="Courier New"/>
            </a:endParaRPr>
          </a:p>
          <a:p>
            <a:pPr marL="0" indent="0">
              <a:buNone/>
            </a:pPr>
            <a:r>
              <a:rPr lang="en-US" sz="1100" dirty="0">
                <a:solidFill>
                  <a:srgbClr val="E5E7EB"/>
                </a:solidFill>
                <a:latin typeface="Courier New" pitchFamily="34" charset="0"/>
                <a:ea typeface="Courier New" pitchFamily="34" charset="-122"/>
                <a:cs typeface="Courier New" pitchFamily="34" charset="-120"/>
              </a:rPr>
              <a:t>            continue</a:t>
            </a:r>
            <a:endParaRPr lang="en-US" sz="1100" dirty="0"/>
          </a:p>
        </p:txBody>
      </p:sp>
      <p:sp>
        <p:nvSpPr>
          <p:cNvPr id="8" name="body-text"/>
          <p:cNvSpPr txBox="1"/>
          <p:nvPr/>
        </p:nvSpPr>
        <p:spPr>
          <a:xfrm>
            <a:off x="6583680" y="1371600"/>
            <a:ext cx="5056632" cy="4663440"/>
          </a:xfrm>
          <a:prstGeom prst="rect">
            <a:avLst/>
          </a:prstGeom>
          <a:noFill/>
          <a:ln/>
        </p:spPr>
        <p:txBody>
          <a:bodyPr wrap="square" lIns="0" tIns="0" rIns="0" bIns="0" rtlCol="0" anchor="t"/>
          <a:lstStyle/>
          <a:p>
            <a:pPr marL="0" indent="0">
              <a:spcAft>
                <a:spcPts val="500"/>
              </a:spcAft>
              <a:buNone/>
            </a:pPr>
            <a:r>
              <a:rPr lang="en-US" sz="1400" dirty="0">
                <a:solidFill>
                  <a:schemeClr val="tx2"/>
                </a:solidFill>
              </a:rPr>
              <a:t>while True è un </a:t>
            </a:r>
            <a:r>
              <a:rPr lang="en-US" sz="1400" dirty="0" err="1">
                <a:solidFill>
                  <a:schemeClr val="tx2"/>
                </a:solidFill>
              </a:rPr>
              <a:t>ciclo</a:t>
            </a:r>
            <a:r>
              <a:rPr lang="en-US" sz="1400" dirty="0">
                <a:solidFill>
                  <a:schemeClr val="tx2"/>
                </a:solidFill>
              </a:rPr>
              <a:t> </a:t>
            </a:r>
            <a:r>
              <a:rPr lang="en-US" sz="1400" dirty="0" err="1">
                <a:solidFill>
                  <a:schemeClr val="tx2"/>
                </a:solidFill>
              </a:rPr>
              <a:t>infinito</a:t>
            </a:r>
            <a:r>
              <a:rPr lang="en-US" sz="1400" dirty="0">
                <a:solidFill>
                  <a:schemeClr val="tx2"/>
                </a:solidFill>
              </a:rPr>
              <a:t>: il </a:t>
            </a:r>
            <a:r>
              <a:rPr lang="en-US" sz="1400" dirty="0" err="1">
                <a:solidFill>
                  <a:schemeClr val="tx2"/>
                </a:solidFill>
              </a:rPr>
              <a:t>programma</a:t>
            </a:r>
            <a:r>
              <a:rPr lang="en-US" sz="1400" dirty="0">
                <a:solidFill>
                  <a:schemeClr val="tx2"/>
                </a:solidFill>
              </a:rPr>
              <a:t> </a:t>
            </a:r>
            <a:r>
              <a:rPr lang="en-US" sz="1400" dirty="0" err="1">
                <a:solidFill>
                  <a:schemeClr val="tx2"/>
                </a:solidFill>
              </a:rPr>
              <a:t>cattura</a:t>
            </a:r>
            <a:r>
              <a:rPr lang="en-US" sz="1400" dirty="0">
                <a:solidFill>
                  <a:schemeClr val="tx2"/>
                </a:solidFill>
              </a:rPr>
              <a:t> </a:t>
            </a:r>
            <a:r>
              <a:rPr lang="en-US" sz="1400" dirty="0" err="1">
                <a:solidFill>
                  <a:schemeClr val="tx2"/>
                </a:solidFill>
              </a:rPr>
              <a:t>finché</a:t>
            </a:r>
            <a:r>
              <a:rPr lang="en-US" sz="1400" dirty="0">
                <a:solidFill>
                  <a:schemeClr val="tx2"/>
                </a:solidFill>
              </a:rPr>
              <a:t> non </a:t>
            </a:r>
            <a:r>
              <a:rPr lang="en-US" sz="1400" dirty="0" err="1">
                <a:solidFill>
                  <a:schemeClr val="tx2"/>
                </a:solidFill>
              </a:rPr>
              <a:t>viene</a:t>
            </a:r>
            <a:r>
              <a:rPr lang="en-US" sz="1400" dirty="0">
                <a:solidFill>
                  <a:schemeClr val="tx2"/>
                </a:solidFill>
              </a:rPr>
              <a:t> </a:t>
            </a:r>
            <a:r>
              <a:rPr lang="en-US" sz="1400" dirty="0" err="1">
                <a:solidFill>
                  <a:schemeClr val="tx2"/>
                </a:solidFill>
              </a:rPr>
              <a:t>fermato</a:t>
            </a:r>
            <a:r>
              <a:rPr lang="en-US" sz="1400" dirty="0">
                <a:solidFill>
                  <a:schemeClr val="tx2"/>
                </a:solidFill>
              </a:rPr>
              <a:t>. È in un </a:t>
            </a:r>
            <a:r>
              <a:rPr lang="en-US" sz="1400" dirty="0" err="1">
                <a:solidFill>
                  <a:schemeClr val="tx2"/>
                </a:solidFill>
              </a:rPr>
              <a:t>blocco</a:t>
            </a:r>
            <a:r>
              <a:rPr lang="en-US" sz="1400" dirty="0">
                <a:solidFill>
                  <a:schemeClr val="tx2"/>
                </a:solidFill>
              </a:rPr>
              <a:t> try </a:t>
            </a:r>
            <a:r>
              <a:rPr lang="en-US" sz="1400" dirty="0" err="1">
                <a:solidFill>
                  <a:schemeClr val="tx2"/>
                </a:solidFill>
              </a:rPr>
              <a:t>perché</a:t>
            </a:r>
            <a:r>
              <a:rPr lang="en-US" sz="1400" dirty="0">
                <a:solidFill>
                  <a:schemeClr val="tx2"/>
                </a:solidFill>
              </a:rPr>
              <a:t> </a:t>
            </a:r>
            <a:r>
              <a:rPr lang="en-US" sz="1400" dirty="0" err="1">
                <a:solidFill>
                  <a:schemeClr val="tx2"/>
                </a:solidFill>
              </a:rPr>
              <a:t>può</a:t>
            </a:r>
            <a:r>
              <a:rPr lang="en-US" sz="1400" dirty="0">
                <a:solidFill>
                  <a:schemeClr val="tx2"/>
                </a:solidFill>
              </a:rPr>
              <a:t> </a:t>
            </a:r>
            <a:r>
              <a:rPr lang="en-US" sz="1400" dirty="0" err="1">
                <a:solidFill>
                  <a:schemeClr val="tx2"/>
                </a:solidFill>
              </a:rPr>
              <a:t>essere</a:t>
            </a:r>
            <a:r>
              <a:rPr lang="en-US" sz="1400" dirty="0">
                <a:solidFill>
                  <a:schemeClr val="tx2"/>
                </a:solidFill>
              </a:rPr>
              <a:t> </a:t>
            </a:r>
            <a:r>
              <a:rPr lang="en-US" sz="1400" dirty="0" err="1">
                <a:solidFill>
                  <a:schemeClr val="tx2"/>
                </a:solidFill>
              </a:rPr>
              <a:t>interrotto</a:t>
            </a:r>
            <a:r>
              <a:rPr lang="en-US" sz="1400" dirty="0">
                <a:solidFill>
                  <a:schemeClr val="tx2"/>
                </a:solidFill>
              </a:rPr>
              <a:t> con </a:t>
            </a:r>
            <a:r>
              <a:rPr lang="en-US" sz="1400" dirty="0" err="1">
                <a:solidFill>
                  <a:schemeClr val="tx2"/>
                </a:solidFill>
              </a:rPr>
              <a:t>Ctrl+C</a:t>
            </a:r>
            <a:r>
              <a:rPr lang="en-US" sz="1400" dirty="0">
                <a:solidFill>
                  <a:schemeClr val="tx2"/>
                </a:solidFill>
              </a:rPr>
              <a:t>.</a:t>
            </a:r>
          </a:p>
          <a:p>
            <a:pPr>
              <a:spcAft>
                <a:spcPts val="500"/>
              </a:spcAft>
            </a:pPr>
            <a:endParaRPr lang="en-US" sz="1400" dirty="0">
              <a:solidFill>
                <a:schemeClr val="tx2"/>
              </a:solidFill>
            </a:endParaRPr>
          </a:p>
          <a:p>
            <a:pPr>
              <a:spcAft>
                <a:spcPts val="500"/>
              </a:spcAft>
            </a:pPr>
            <a:r>
              <a:rPr lang="en-US" sz="1400" dirty="0">
                <a:solidFill>
                  <a:schemeClr val="tx2"/>
                </a:solidFill>
              </a:rPr>
              <a:t>Si </a:t>
            </a:r>
            <a:r>
              <a:rPr lang="en-US" sz="1400" dirty="0" err="1">
                <a:solidFill>
                  <a:schemeClr val="tx2"/>
                </a:solidFill>
              </a:rPr>
              <a:t>stampano</a:t>
            </a:r>
            <a:r>
              <a:rPr lang="en-US" sz="1400" dirty="0">
                <a:solidFill>
                  <a:schemeClr val="tx2"/>
                </a:solidFill>
              </a:rPr>
              <a:t> </a:t>
            </a:r>
            <a:r>
              <a:rPr lang="en-US" sz="1400" dirty="0" err="1">
                <a:solidFill>
                  <a:schemeClr val="tx2"/>
                </a:solidFill>
              </a:rPr>
              <a:t>numero</a:t>
            </a:r>
            <a:r>
              <a:rPr lang="en-US" sz="1400" dirty="0">
                <a:solidFill>
                  <a:schemeClr val="tx2"/>
                </a:solidFill>
              </a:rPr>
              <a:t> e MAC (con </a:t>
            </a:r>
            <a:r>
              <a:rPr lang="en-US" sz="1400" dirty="0" err="1">
                <a:solidFill>
                  <a:schemeClr val="tx2"/>
                </a:solidFill>
              </a:rPr>
              <a:t>mac_address</a:t>
            </a:r>
            <a:r>
              <a:rPr lang="en-US" sz="1400" dirty="0">
                <a:solidFill>
                  <a:schemeClr val="tx2"/>
                </a:solidFill>
              </a:rPr>
              <a:t>). Se </a:t>
            </a:r>
            <a:r>
              <a:rPr lang="en-US" sz="1400" dirty="0" err="1">
                <a:solidFill>
                  <a:schemeClr val="tx2"/>
                </a:solidFill>
              </a:rPr>
              <a:t>tipo</a:t>
            </a:r>
            <a:r>
              <a:rPr lang="en-US" sz="1400" dirty="0">
                <a:solidFill>
                  <a:schemeClr val="tx2"/>
                </a:solidFill>
              </a:rPr>
              <a:t> non  (IPv4) — ad </a:t>
            </a:r>
            <a:r>
              <a:rPr lang="en-US" sz="1400" dirty="0" err="1">
                <a:solidFill>
                  <a:schemeClr val="tx2"/>
                </a:solidFill>
              </a:rPr>
              <a:t>esempio</a:t>
            </a:r>
            <a:r>
              <a:rPr lang="en-US" sz="1400" dirty="0">
                <a:solidFill>
                  <a:schemeClr val="tx2"/>
                </a:solidFill>
              </a:rPr>
              <a:t> ARP o IPv6 — lo </a:t>
            </a:r>
            <a:r>
              <a:rPr lang="en-US" sz="1400" dirty="0" err="1">
                <a:solidFill>
                  <a:schemeClr val="tx2"/>
                </a:solidFill>
              </a:rPr>
              <a:t>si</a:t>
            </a:r>
            <a:r>
              <a:rPr lang="en-US" sz="1400" dirty="0">
                <a:solidFill>
                  <a:schemeClr val="tx2"/>
                </a:solidFill>
              </a:rPr>
              <a:t> </a:t>
            </a:r>
            <a:r>
              <a:rPr lang="en-US" sz="1400" dirty="0" err="1">
                <a:solidFill>
                  <a:schemeClr val="tx2"/>
                </a:solidFill>
              </a:rPr>
              <a:t>segnala</a:t>
            </a:r>
            <a:r>
              <a:rPr lang="en-US" sz="1400" dirty="0">
                <a:solidFill>
                  <a:schemeClr val="tx2"/>
                </a:solidFill>
              </a:rPr>
              <a:t> e continue </a:t>
            </a:r>
            <a:r>
              <a:rPr lang="en-US" sz="1400" dirty="0" err="1">
                <a:solidFill>
                  <a:schemeClr val="tx2"/>
                </a:solidFill>
              </a:rPr>
              <a:t>passa</a:t>
            </a:r>
            <a:r>
              <a:rPr lang="en-US" sz="1400" dirty="0">
                <a:solidFill>
                  <a:schemeClr val="tx2"/>
                </a:solidFill>
              </a:rPr>
              <a:t> </a:t>
            </a:r>
            <a:r>
              <a:rPr lang="en-US" sz="1400" dirty="0" err="1">
                <a:solidFill>
                  <a:schemeClr val="tx2"/>
                </a:solidFill>
              </a:rPr>
              <a:t>all’iterazione</a:t>
            </a:r>
            <a:r>
              <a:rPr lang="en-US" sz="1400" dirty="0">
                <a:solidFill>
                  <a:schemeClr val="tx2"/>
                </a:solidFill>
              </a:rPr>
              <a:t> </a:t>
            </a:r>
            <a:r>
              <a:rPr lang="en-US" sz="1400" dirty="0" err="1">
                <a:solidFill>
                  <a:schemeClr val="tx2"/>
                </a:solidFill>
              </a:rPr>
              <a:t>successiva</a:t>
            </a:r>
            <a:r>
              <a:rPr lang="en-US" sz="1400" dirty="0">
                <a:solidFill>
                  <a:schemeClr val="tx2"/>
                </a:solidFill>
              </a:rPr>
              <a:t>.</a:t>
            </a:r>
            <a:endParaRPr lang="en-US" sz="1400">
              <a:solidFill>
                <a:schemeClr val="tx2"/>
              </a:solidFill>
              <a:ea typeface="Calibri"/>
              <a:cs typeface="Calibri"/>
            </a:endParaRPr>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5 · STRUMENTO DI CATTURA DEI SOCKET DI RETE (SNIFFER)</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5.6 Decodifica dell’header IP</a:t>
            </a:r>
            <a:endParaRPr lang="en-US" sz="3000" dirty="0"/>
          </a:p>
        </p:txBody>
      </p:sp>
      <p:sp>
        <p:nvSpPr>
          <p:cNvPr id="4" name="code-bg"/>
          <p:cNvSpPr/>
          <p:nvPr/>
        </p:nvSpPr>
        <p:spPr>
          <a:xfrm>
            <a:off x="548640" y="1371600"/>
            <a:ext cx="5486400" cy="4663440"/>
          </a:xfrm>
          <a:prstGeom prst="roundRect">
            <a:avLst>
              <a:gd name="adj" fmla="val 1569"/>
            </a:avLst>
          </a:prstGeom>
          <a:solidFill>
            <a:srgbClr val="0F1117"/>
          </a:solidFill>
          <a:ln w="12700">
            <a:solidFill>
              <a:srgbClr val="0F1117"/>
            </a:solidFill>
            <a:prstDash val="solid"/>
          </a:ln>
        </p:spPr>
      </p:sp>
      <p:sp>
        <p:nvSpPr>
          <p:cNvPr id="5" name="code"/>
          <p:cNvSpPr txBox="1"/>
          <p:nvPr/>
        </p:nvSpPr>
        <p:spPr>
          <a:xfrm>
            <a:off x="777240" y="1536192"/>
            <a:ext cx="5029200" cy="4389120"/>
          </a:xfrm>
          <a:prstGeom prst="rect">
            <a:avLst/>
          </a:prstGeom>
          <a:noFill/>
          <a:ln/>
        </p:spPr>
        <p:txBody>
          <a:bodyPr wrap="square" lIns="0" tIns="0" rIns="0" bIns="0" rtlCol="0" anchor="t"/>
          <a:lstStyle/>
          <a:p>
            <a:pPr marL="0" indent="0">
              <a:buNone/>
            </a:pPr>
            <a:r>
              <a:rPr lang="en-US" sz="1200" dirty="0">
                <a:solidFill>
                  <a:srgbClr val="E5E7EB"/>
                </a:solidFill>
                <a:latin typeface="Courier New"/>
                <a:ea typeface="Courier New" pitchFamily="34" charset="-122"/>
                <a:cs typeface="Courier New"/>
              </a:rPr>
              <a:t># header IP (</a:t>
            </a:r>
            <a:r>
              <a:rPr lang="en-US" sz="1200" dirty="0" err="1">
                <a:solidFill>
                  <a:srgbClr val="E5E7EB"/>
                </a:solidFill>
                <a:latin typeface="Courier New"/>
                <a:ea typeface="Courier New" pitchFamily="34" charset="-122"/>
                <a:cs typeface="Courier New"/>
              </a:rPr>
              <a:t>20 byte</a:t>
            </a:r>
            <a:r>
              <a:rPr lang="en-US" sz="1200" dirty="0">
                <a:solidFill>
                  <a:srgbClr val="E5E7EB"/>
                </a:solidFill>
                <a:latin typeface="Courier New"/>
                <a:ea typeface="Courier New" pitchFamily="34" charset="-122"/>
                <a:cs typeface="Courier New"/>
              </a:rPr>
              <a:t> dopo </a:t>
            </a:r>
            <a:r>
              <a:rPr lang="en-US" sz="1200" dirty="0" err="1">
                <a:solidFill>
                  <a:srgbClr val="E5E7EB"/>
                </a:solidFill>
                <a:latin typeface="Courier New"/>
                <a:ea typeface="Courier New" pitchFamily="34" charset="-122"/>
                <a:cs typeface="Courier New"/>
              </a:rPr>
              <a:t>l'Ethernet</a:t>
            </a:r>
            <a:r>
              <a:rPr lang="en-US" sz="1200" dirty="0">
                <a:solidFill>
                  <a:srgbClr val="E5E7EB"/>
                </a:solidFill>
                <a:latin typeface="Courier New"/>
                <a:ea typeface="Courier New" pitchFamily="34" charset="-122"/>
                <a:cs typeface="Courier New"/>
              </a:rPr>
              <a:t>)</a:t>
            </a:r>
            <a:endParaRPr lang="en-US" sz="1200" dirty="0">
              <a:latin typeface="Courier New"/>
              <a:cs typeface="Courier New"/>
            </a:endParaRPr>
          </a:p>
          <a:p>
            <a:pPr marL="0" indent="0">
              <a:buNone/>
            </a:pPr>
            <a:r>
              <a:rPr lang="en-US" sz="1200" dirty="0" err="1">
                <a:solidFill>
                  <a:srgbClr val="E5E7EB"/>
                </a:solidFill>
                <a:latin typeface="Courier New"/>
                <a:ea typeface="Courier New" pitchFamily="34" charset="-122"/>
                <a:cs typeface="Courier New"/>
              </a:rPr>
              <a:t>ip_header</a:t>
            </a:r>
            <a:r>
              <a:rPr lang="en-US" sz="1200" dirty="0">
                <a:solidFill>
                  <a:srgbClr val="E5E7EB"/>
                </a:solidFill>
                <a:latin typeface="Courier New"/>
                <a:ea typeface="Courier New" pitchFamily="34" charset="-122"/>
                <a:cs typeface="Courier New"/>
              </a:rPr>
              <a:t> = </a:t>
            </a:r>
            <a:r>
              <a:rPr lang="en-US" sz="1200" dirty="0" err="1">
                <a:solidFill>
                  <a:srgbClr val="E5E7EB"/>
                </a:solidFill>
                <a:latin typeface="Courier New"/>
                <a:ea typeface="Courier New" pitchFamily="34" charset="-122"/>
                <a:cs typeface="Courier New"/>
              </a:rPr>
              <a:t>pacchetto</a:t>
            </a:r>
            <a:endParaRPr lang="en-US" sz="1200" dirty="0" err="1">
              <a:solidFill>
                <a:srgbClr val="E5E7EB"/>
              </a:solidFill>
              <a:latin typeface="Courier New"/>
              <a:cs typeface="Courier New"/>
            </a:endParaRPr>
          </a:p>
          <a:p>
            <a:pPr marL="0" indent="0">
              <a:buNone/>
            </a:pPr>
            <a:r>
              <a:rPr lang="en-US" sz="1200" dirty="0" err="1">
                <a:solidFill>
                  <a:srgbClr val="E5E7EB"/>
                </a:solidFill>
                <a:latin typeface="Courier New"/>
                <a:ea typeface="Courier New" pitchFamily="34" charset="-122"/>
                <a:cs typeface="Courier New"/>
              </a:rPr>
              <a:t>ip</a:t>
            </a:r>
            <a:r>
              <a:rPr lang="en-US" sz="1200" dirty="0">
                <a:solidFill>
                  <a:srgbClr val="E5E7EB"/>
                </a:solidFill>
                <a:latin typeface="Courier New"/>
                <a:ea typeface="Courier New" pitchFamily="34" charset="-122"/>
                <a:cs typeface="Courier New"/>
              </a:rPr>
              <a:t> = </a:t>
            </a:r>
            <a:r>
              <a:rPr lang="en-US" sz="1200" dirty="0" err="1">
                <a:solidFill>
                  <a:srgbClr val="E5E7EB"/>
                </a:solidFill>
                <a:latin typeface="Courier New"/>
                <a:ea typeface="Courier New" pitchFamily="34" charset="-122"/>
                <a:cs typeface="Courier New"/>
              </a:rPr>
              <a:t>struct.unpack</a:t>
            </a:r>
            <a:endParaRPr lang="en-US" sz="1200" dirty="0" err="1">
              <a:solidFill>
                <a:srgbClr val="E5E7EB"/>
              </a:solidFill>
              <a:latin typeface="Courier New"/>
              <a:cs typeface="Courier New"/>
            </a:endParaRPr>
          </a:p>
          <a:p>
            <a:pPr marL="0" indent="0">
              <a:buNone/>
            </a:pPr>
            <a:endParaRPr lang="en-US" sz="1200" dirty="0"/>
          </a:p>
          <a:p>
            <a:pPr marL="0" indent="0">
              <a:buNone/>
            </a:pPr>
            <a:r>
              <a:rPr lang="en-US" sz="1200" dirty="0" err="1">
                <a:solidFill>
                  <a:srgbClr val="E5E7EB"/>
                </a:solidFill>
                <a:latin typeface="Courier New"/>
                <a:ea typeface="Courier New" pitchFamily="34" charset="-122"/>
                <a:cs typeface="Courier New"/>
              </a:rPr>
              <a:t>lunghezza_header</a:t>
            </a:r>
            <a:endParaRPr lang="en-US" sz="1200" dirty="0" err="1">
              <a:solidFill>
                <a:srgbClr val="E5E7EB"/>
              </a:solidFill>
              <a:latin typeface="Courier New"/>
              <a:cs typeface="Courier New"/>
            </a:endParaRPr>
          </a:p>
          <a:p>
            <a:pPr marL="0" indent="0">
              <a:buNone/>
            </a:pPr>
            <a:r>
              <a:rPr lang="en-US" sz="1200" dirty="0" err="1">
                <a:solidFill>
                  <a:srgbClr val="E5E7EB"/>
                </a:solidFill>
                <a:latin typeface="Courier New"/>
                <a:ea typeface="Courier New" pitchFamily="34" charset="-122"/>
                <a:cs typeface="Courier New"/>
              </a:rPr>
              <a:t>ttl</a:t>
            </a:r>
            <a:r>
              <a:rPr lang="en-US" sz="1200" dirty="0">
                <a:solidFill>
                  <a:srgbClr val="E5E7EB"/>
                </a:solidFill>
                <a:latin typeface="Courier New"/>
                <a:ea typeface="Courier New" pitchFamily="34" charset="-122"/>
                <a:cs typeface="Courier New"/>
              </a:rPr>
              <a:t>        = </a:t>
            </a:r>
            <a:r>
              <a:rPr lang="en-US" sz="1200" dirty="0" err="1">
                <a:solidFill>
                  <a:srgbClr val="E5E7EB"/>
                </a:solidFill>
                <a:latin typeface="Courier New"/>
                <a:ea typeface="Courier New" pitchFamily="34" charset="-122"/>
                <a:cs typeface="Courier New"/>
              </a:rPr>
              <a:t>ip</a:t>
            </a:r>
            <a:r>
              <a:rPr lang="en-US" sz="1200" dirty="0">
                <a:solidFill>
                  <a:srgbClr val="E5E7EB"/>
                </a:solidFill>
                <a:latin typeface="Courier New"/>
                <a:ea typeface="Courier New" pitchFamily="34" charset="-122"/>
                <a:cs typeface="Courier New"/>
              </a:rPr>
              <a:t>[5]</a:t>
            </a:r>
            <a:endParaRPr lang="en-US" sz="1200" dirty="0">
              <a:latin typeface="Courier New"/>
              <a:cs typeface="Courier New"/>
            </a:endParaRPr>
          </a:p>
          <a:p>
            <a:pPr marL="0" indent="0">
              <a:buNone/>
            </a:pPr>
            <a:r>
              <a:rPr lang="en-US" sz="1200" dirty="0" err="1">
                <a:solidFill>
                  <a:srgbClr val="E5E7EB"/>
                </a:solidFill>
                <a:latin typeface="Courier New"/>
                <a:ea typeface="Courier New" pitchFamily="34" charset="-122"/>
                <a:cs typeface="Courier New"/>
              </a:rPr>
              <a:t>protocollo</a:t>
            </a:r>
            <a:r>
              <a:rPr lang="en-US" sz="1200" dirty="0">
                <a:solidFill>
                  <a:srgbClr val="E5E7EB"/>
                </a:solidFill>
                <a:latin typeface="Courier New"/>
                <a:ea typeface="Courier New" pitchFamily="34" charset="-122"/>
                <a:cs typeface="Courier New"/>
              </a:rPr>
              <a:t> = </a:t>
            </a:r>
            <a:r>
              <a:rPr lang="en-US" sz="1200" dirty="0" err="1">
                <a:solidFill>
                  <a:srgbClr val="E5E7EB"/>
                </a:solidFill>
                <a:latin typeface="Courier New"/>
                <a:ea typeface="Courier New" pitchFamily="34" charset="-122"/>
                <a:cs typeface="Courier New"/>
              </a:rPr>
              <a:t>ip</a:t>
            </a:r>
            <a:r>
              <a:rPr lang="en-US" sz="1200" dirty="0">
                <a:solidFill>
                  <a:srgbClr val="E5E7EB"/>
                </a:solidFill>
                <a:latin typeface="Courier New"/>
                <a:ea typeface="Courier New" pitchFamily="34" charset="-122"/>
                <a:cs typeface="Courier New"/>
              </a:rPr>
              <a:t>[6]</a:t>
            </a:r>
            <a:endParaRPr lang="en-US" sz="1200" dirty="0">
              <a:latin typeface="Courier New"/>
              <a:cs typeface="Courier New"/>
            </a:endParaRPr>
          </a:p>
          <a:p>
            <a:pPr marL="0" indent="0">
              <a:buNone/>
            </a:pPr>
            <a:r>
              <a:rPr lang="en-US" sz="1200" dirty="0" err="1">
                <a:solidFill>
                  <a:srgbClr val="E5E7EB"/>
                </a:solidFill>
                <a:latin typeface="Courier New"/>
                <a:ea typeface="Courier New" pitchFamily="34" charset="-122"/>
                <a:cs typeface="Courier New"/>
              </a:rPr>
              <a:t>ip_sorg</a:t>
            </a:r>
            <a:r>
              <a:rPr lang="en-US" sz="1200" dirty="0">
                <a:solidFill>
                  <a:srgbClr val="E5E7EB"/>
                </a:solidFill>
                <a:latin typeface="Courier New"/>
                <a:ea typeface="Courier New" pitchFamily="34" charset="-122"/>
                <a:cs typeface="Courier New"/>
              </a:rPr>
              <a:t> = </a:t>
            </a:r>
            <a:r>
              <a:rPr lang="en-US" sz="1200" dirty="0" err="1">
                <a:solidFill>
                  <a:srgbClr val="E5E7EB"/>
                </a:solidFill>
                <a:latin typeface="Courier New"/>
                <a:ea typeface="Courier New" pitchFamily="34" charset="-122"/>
                <a:cs typeface="Courier New"/>
              </a:rPr>
              <a:t>ip_address</a:t>
            </a:r>
            <a:r>
              <a:rPr lang="en-US" sz="1200" dirty="0">
                <a:solidFill>
                  <a:srgbClr val="E5E7EB"/>
                </a:solidFill>
                <a:latin typeface="Courier New"/>
                <a:ea typeface="Courier New" pitchFamily="34" charset="-122"/>
                <a:cs typeface="Courier New"/>
              </a:rPr>
              <a:t>(</a:t>
            </a:r>
            <a:r>
              <a:rPr lang="en-US" sz="1200" dirty="0" err="1">
                <a:solidFill>
                  <a:srgbClr val="E5E7EB"/>
                </a:solidFill>
                <a:latin typeface="Courier New"/>
                <a:ea typeface="Courier New" pitchFamily="34" charset="-122"/>
                <a:cs typeface="Courier New"/>
              </a:rPr>
              <a:t>ip</a:t>
            </a:r>
            <a:r>
              <a:rPr lang="en-US" sz="1200" dirty="0">
                <a:solidFill>
                  <a:srgbClr val="E5E7EB"/>
                </a:solidFill>
                <a:latin typeface="Courier New"/>
                <a:ea typeface="Courier New" pitchFamily="34" charset="-122"/>
                <a:cs typeface="Courier New"/>
              </a:rPr>
              <a:t>[8])</a:t>
            </a:r>
            <a:endParaRPr lang="en-US" sz="1200" dirty="0">
              <a:latin typeface="Courier New"/>
              <a:cs typeface="Courier New"/>
            </a:endParaRPr>
          </a:p>
          <a:p>
            <a:pPr marL="0" indent="0">
              <a:buNone/>
            </a:pPr>
            <a:r>
              <a:rPr lang="en-US" sz="1200" dirty="0" err="1">
                <a:solidFill>
                  <a:srgbClr val="E5E7EB"/>
                </a:solidFill>
                <a:latin typeface="Courier New"/>
                <a:ea typeface="Courier New" pitchFamily="34" charset="-122"/>
                <a:cs typeface="Courier New"/>
              </a:rPr>
              <a:t>ip_dest</a:t>
            </a:r>
            <a:r>
              <a:rPr lang="en-US" sz="1200" dirty="0">
                <a:solidFill>
                  <a:srgbClr val="E5E7EB"/>
                </a:solidFill>
                <a:latin typeface="Courier New"/>
                <a:ea typeface="Courier New" pitchFamily="34" charset="-122"/>
                <a:cs typeface="Courier New"/>
              </a:rPr>
              <a:t> = </a:t>
            </a:r>
            <a:r>
              <a:rPr lang="en-US" sz="1200" dirty="0" err="1">
                <a:solidFill>
                  <a:srgbClr val="E5E7EB"/>
                </a:solidFill>
                <a:latin typeface="Courier New"/>
                <a:ea typeface="Courier New" pitchFamily="34" charset="-122"/>
                <a:cs typeface="Courier New"/>
              </a:rPr>
              <a:t>ip_address</a:t>
            </a:r>
            <a:r>
              <a:rPr lang="en-US" sz="1200" dirty="0">
                <a:solidFill>
                  <a:srgbClr val="E5E7EB"/>
                </a:solidFill>
                <a:latin typeface="Courier New"/>
                <a:ea typeface="Courier New" pitchFamily="34" charset="-122"/>
                <a:cs typeface="Courier New"/>
              </a:rPr>
              <a:t>(</a:t>
            </a:r>
            <a:r>
              <a:rPr lang="en-US" sz="1200" dirty="0" err="1">
                <a:solidFill>
                  <a:srgbClr val="E5E7EB"/>
                </a:solidFill>
                <a:latin typeface="Courier New"/>
                <a:ea typeface="Courier New" pitchFamily="34" charset="-122"/>
                <a:cs typeface="Courier New"/>
              </a:rPr>
              <a:t>ip</a:t>
            </a:r>
            <a:r>
              <a:rPr lang="en-US" sz="1200" dirty="0">
                <a:solidFill>
                  <a:srgbClr val="E5E7EB"/>
                </a:solidFill>
                <a:latin typeface="Courier New"/>
                <a:ea typeface="Courier New" pitchFamily="34" charset="-122"/>
                <a:cs typeface="Courier New"/>
              </a:rPr>
              <a:t>[9])</a:t>
            </a:r>
            <a:endParaRPr lang="en-US" sz="1200" dirty="0">
              <a:latin typeface="Courier New"/>
              <a:cs typeface="Courier New"/>
            </a:endParaRPr>
          </a:p>
          <a:p>
            <a:pPr marL="0" indent="0">
              <a:buNone/>
            </a:pPr>
            <a:endParaRPr lang="en-US" sz="1200" dirty="0"/>
          </a:p>
          <a:p>
            <a:pPr marL="0" indent="0">
              <a:buNone/>
            </a:pPr>
            <a:r>
              <a:rPr lang="en-US" sz="1200" dirty="0">
                <a:solidFill>
                  <a:srgbClr val="E5E7EB"/>
                </a:solidFill>
                <a:latin typeface="Courier New"/>
                <a:ea typeface="Courier New" pitchFamily="34" charset="-122"/>
                <a:cs typeface="Courier New"/>
              </a:rPr>
              <a:t>print("  IP </a:t>
            </a:r>
            <a:r>
              <a:rPr lang="en-US" sz="1200" dirty="0" err="1">
                <a:solidFill>
                  <a:srgbClr val="E5E7EB"/>
                </a:solidFill>
                <a:latin typeface="Courier New"/>
                <a:ea typeface="Courier New" pitchFamily="34" charset="-122"/>
                <a:cs typeface="Courier New"/>
              </a:rPr>
              <a:t>sorgente</a:t>
            </a:r>
            <a:r>
              <a:rPr lang="en-US" sz="1200" dirty="0">
                <a:solidFill>
                  <a:srgbClr val="E5E7EB"/>
                </a:solidFill>
                <a:latin typeface="Courier New"/>
                <a:ea typeface="Courier New" pitchFamily="34" charset="-122"/>
                <a:cs typeface="Courier New"/>
              </a:rPr>
              <a:t>:", </a:t>
            </a:r>
            <a:r>
              <a:rPr lang="en-US" sz="1200" dirty="0" err="1">
                <a:solidFill>
                  <a:srgbClr val="E5E7EB"/>
                </a:solidFill>
                <a:latin typeface="Courier New"/>
                <a:ea typeface="Courier New" pitchFamily="34" charset="-122"/>
                <a:cs typeface="Courier New"/>
              </a:rPr>
              <a:t>ip_sorg</a:t>
            </a:r>
            <a:r>
              <a:rPr lang="en-US" sz="1200" dirty="0">
                <a:solidFill>
                  <a:srgbClr val="E5E7EB"/>
                </a:solidFill>
                <a:latin typeface="Courier New"/>
                <a:ea typeface="Courier New" pitchFamily="34" charset="-122"/>
                <a:cs typeface="Courier New"/>
              </a:rPr>
              <a:t>, "-&gt; IP </a:t>
            </a:r>
            <a:r>
              <a:rPr lang="en-US" sz="1200" dirty="0" err="1">
                <a:solidFill>
                  <a:srgbClr val="E5E7EB"/>
                </a:solidFill>
                <a:latin typeface="Courier New"/>
                <a:ea typeface="Courier New" pitchFamily="34" charset="-122"/>
                <a:cs typeface="Courier New"/>
              </a:rPr>
              <a:t>destinazione</a:t>
            </a:r>
            <a:r>
              <a:rPr lang="en-US" sz="1200" dirty="0">
                <a:solidFill>
                  <a:srgbClr val="E5E7EB"/>
                </a:solidFill>
                <a:latin typeface="Courier New"/>
                <a:ea typeface="Courier New" pitchFamily="34" charset="-122"/>
                <a:cs typeface="Courier New"/>
              </a:rPr>
              <a:t>:",</a:t>
            </a:r>
            <a:endParaRPr lang="en-US" sz="1200" dirty="0">
              <a:latin typeface="Courier New"/>
              <a:cs typeface="Courier New"/>
            </a:endParaRPr>
          </a:p>
          <a:p>
            <a:pPr marL="0" indent="0">
              <a:buNone/>
            </a:pPr>
            <a:r>
              <a:rPr lang="en-US" sz="1200" dirty="0">
                <a:solidFill>
                  <a:srgbClr val="E5E7EB"/>
                </a:solidFill>
                <a:latin typeface="Courier New"/>
                <a:ea typeface="Courier New" pitchFamily="34" charset="-122"/>
                <a:cs typeface="Courier New"/>
              </a:rPr>
              <a:t>      </a:t>
            </a:r>
            <a:r>
              <a:rPr lang="en-US" sz="1200" dirty="0" err="1">
                <a:solidFill>
                  <a:srgbClr val="E5E7EB"/>
                </a:solidFill>
                <a:latin typeface="Courier New"/>
                <a:ea typeface="Courier New" pitchFamily="34" charset="-122"/>
                <a:cs typeface="Courier New"/>
              </a:rPr>
              <a:t>ip_dest</a:t>
            </a:r>
            <a:r>
              <a:rPr lang="en-US" sz="1200" dirty="0">
                <a:solidFill>
                  <a:srgbClr val="E5E7EB"/>
                </a:solidFill>
                <a:latin typeface="Courier New"/>
                <a:ea typeface="Courier New" pitchFamily="34" charset="-122"/>
                <a:cs typeface="Courier New"/>
              </a:rPr>
              <a:t>, "  TTL:", </a:t>
            </a:r>
            <a:r>
              <a:rPr lang="en-US" sz="1200" dirty="0" err="1">
                <a:solidFill>
                  <a:srgbClr val="E5E7EB"/>
                </a:solidFill>
                <a:latin typeface="Courier New"/>
                <a:ea typeface="Courier New" pitchFamily="34" charset="-122"/>
                <a:cs typeface="Courier New"/>
              </a:rPr>
              <a:t>ttl</a:t>
            </a:r>
            <a:r>
              <a:rPr lang="en-US" sz="1200" dirty="0">
                <a:solidFill>
                  <a:srgbClr val="E5E7EB"/>
                </a:solidFill>
                <a:latin typeface="Courier New"/>
                <a:ea typeface="Courier New" pitchFamily="34" charset="-122"/>
                <a:cs typeface="Courier New"/>
              </a:rPr>
              <a:t>)</a:t>
            </a:r>
            <a:endParaRPr lang="en-US" sz="1200" dirty="0">
              <a:latin typeface="Courier New"/>
              <a:cs typeface="Courier New"/>
            </a:endParaRPr>
          </a:p>
          <a:p>
            <a:pPr marL="0" indent="0">
              <a:buNone/>
            </a:pPr>
            <a:endParaRPr lang="en-US" sz="1200" dirty="0"/>
          </a:p>
          <a:p>
            <a:pPr marL="0" indent="0">
              <a:buNone/>
            </a:pPr>
            <a:r>
              <a:rPr lang="en-US" sz="1200" dirty="0" err="1">
                <a:solidFill>
                  <a:srgbClr val="E5E7EB"/>
                </a:solidFill>
                <a:latin typeface="Courier New"/>
                <a:ea typeface="Courier New" pitchFamily="34" charset="-122"/>
                <a:cs typeface="Courier New"/>
              </a:rPr>
              <a:t>inizio</a:t>
            </a:r>
            <a:r>
              <a:rPr lang="en-US" sz="1200" dirty="0">
                <a:solidFill>
                  <a:srgbClr val="E5E7EB"/>
                </a:solidFill>
                <a:latin typeface="Courier New"/>
                <a:ea typeface="Courier New" pitchFamily="34" charset="-122"/>
                <a:cs typeface="Courier New"/>
              </a:rPr>
              <a:t> = 14 + </a:t>
            </a:r>
            <a:r>
              <a:rPr lang="en-US" sz="1200" dirty="0" err="1">
                <a:solidFill>
                  <a:srgbClr val="E5E7EB"/>
                </a:solidFill>
                <a:latin typeface="Courier New"/>
                <a:ea typeface="Courier New" pitchFamily="34" charset="-122"/>
                <a:cs typeface="Courier New"/>
              </a:rPr>
              <a:t>lunghezza_header</a:t>
            </a:r>
            <a:endParaRPr lang="en-US" sz="1200" dirty="0" err="1">
              <a:latin typeface="Courier New"/>
              <a:cs typeface="Courier New"/>
            </a:endParaRPr>
          </a:p>
        </p:txBody>
      </p:sp>
      <p:sp>
        <p:nvSpPr>
          <p:cNvPr id="6" name="body-text"/>
          <p:cNvSpPr txBox="1"/>
          <p:nvPr/>
        </p:nvSpPr>
        <p:spPr>
          <a:xfrm>
            <a:off x="6309360" y="1371600"/>
            <a:ext cx="5330952" cy="4663440"/>
          </a:xfrm>
          <a:prstGeom prst="rect">
            <a:avLst/>
          </a:prstGeom>
          <a:noFill/>
          <a:ln/>
        </p:spPr>
        <p:txBody>
          <a:bodyPr wrap="square" lIns="0" tIns="0" rIns="0" bIns="0" rtlCol="0" anchor="t"/>
          <a:lstStyle/>
          <a:p>
            <a:pPr marL="342900" indent="-342900">
              <a:spcAft>
                <a:spcPts val="500"/>
              </a:spcAft>
              <a:buSzPct val="100000"/>
              <a:buChar char="▪"/>
            </a:pPr>
            <a:endParaRPr lang="en-US" sz="1400" b="1" dirty="0">
              <a:ea typeface="Calibri"/>
              <a:cs typeface="Calibri"/>
            </a:endParaRPr>
          </a:p>
          <a:p>
            <a:pPr marL="342900" indent="-342900">
              <a:spcAft>
                <a:spcPts val="500"/>
              </a:spcAft>
              <a:buSzPct val="100000"/>
              <a:buChar char="▪"/>
            </a:pPr>
            <a:endParaRPr lang="en-US" sz="1400" b="1" dirty="0"/>
          </a:p>
          <a:p>
            <a:pPr marL="342900" indent="-342900">
              <a:spcAft>
                <a:spcPts val="500"/>
              </a:spcAft>
              <a:buSzPct val="100000"/>
              <a:buChar char="▪"/>
            </a:pPr>
            <a:endParaRPr lang="en-US" sz="1400" b="1" dirty="0"/>
          </a:p>
          <a:p>
            <a:pPr marL="342900" indent="-342900">
              <a:spcAft>
                <a:spcPts val="500"/>
              </a:spcAft>
              <a:buSzPct val="100000"/>
              <a:buChar char="▪"/>
            </a:pPr>
            <a:r>
              <a:rPr lang="en-US" sz="1400" b="1" err="1"/>
              <a:t>lunghezza_header</a:t>
            </a:r>
            <a:r>
              <a:rPr lang="en-US" sz="1400" b="1"/>
              <a:t>: </a:t>
            </a:r>
            <a:r>
              <a:rPr lang="en-US" sz="1400" dirty="0">
                <a:solidFill>
                  <a:schemeClr val="tx2"/>
                </a:solidFill>
              </a:rPr>
              <a:t>con &amp; 15 </a:t>
            </a:r>
            <a:r>
              <a:rPr lang="en-US" sz="1400" err="1">
                <a:solidFill>
                  <a:schemeClr val="tx2"/>
                </a:solidFill>
              </a:rPr>
              <a:t>si</a:t>
            </a:r>
            <a:r>
              <a:rPr lang="en-US" sz="1400" dirty="0">
                <a:solidFill>
                  <a:schemeClr val="tx2"/>
                </a:solidFill>
              </a:rPr>
              <a:t> </a:t>
            </a:r>
            <a:r>
              <a:rPr lang="en-US" sz="1400" err="1">
                <a:solidFill>
                  <a:schemeClr val="tx2"/>
                </a:solidFill>
              </a:rPr>
              <a:t>tengono</a:t>
            </a:r>
            <a:r>
              <a:rPr lang="en-US" sz="1400" dirty="0">
                <a:solidFill>
                  <a:schemeClr val="tx2"/>
                </a:solidFill>
              </a:rPr>
              <a:t> </a:t>
            </a:r>
            <a:r>
              <a:rPr lang="en-US" sz="1400" err="1">
                <a:solidFill>
                  <a:schemeClr val="tx2"/>
                </a:solidFill>
              </a:rPr>
              <a:t>i</a:t>
            </a:r>
            <a:r>
              <a:rPr lang="en-US" sz="1400" dirty="0">
                <a:solidFill>
                  <a:schemeClr val="tx2"/>
                </a:solidFill>
              </a:rPr>
              <a:t> </a:t>
            </a:r>
            <a:r>
              <a:rPr lang="en-US" sz="1400" err="1">
                <a:solidFill>
                  <a:schemeClr val="tx2"/>
                </a:solidFill>
              </a:rPr>
              <a:t>4 bit</a:t>
            </a:r>
            <a:r>
              <a:rPr lang="en-US" sz="1400" dirty="0">
                <a:solidFill>
                  <a:schemeClr val="tx2"/>
                </a:solidFill>
              </a:rPr>
              <a:t> </a:t>
            </a:r>
            <a:r>
              <a:rPr lang="en-US" sz="1400" err="1">
                <a:solidFill>
                  <a:schemeClr val="tx2"/>
                </a:solidFill>
              </a:rPr>
              <a:t>meno</a:t>
            </a:r>
            <a:r>
              <a:rPr lang="en-US" sz="1400" dirty="0">
                <a:solidFill>
                  <a:schemeClr val="tx2"/>
                </a:solidFill>
              </a:rPr>
              <a:t> </a:t>
            </a:r>
            <a:r>
              <a:rPr lang="en-US" sz="1400" err="1">
                <a:solidFill>
                  <a:schemeClr val="tx2"/>
                </a:solidFill>
              </a:rPr>
              <a:t>significativi</a:t>
            </a:r>
            <a:r>
              <a:rPr lang="en-US" sz="1400" dirty="0">
                <a:solidFill>
                  <a:schemeClr val="tx2"/>
                </a:solidFill>
              </a:rPr>
              <a:t> del primo byte, </a:t>
            </a:r>
            <a:r>
              <a:rPr lang="en-US" sz="1400" err="1">
                <a:solidFill>
                  <a:schemeClr val="tx2"/>
                </a:solidFill>
              </a:rPr>
              <a:t>moltiplicati</a:t>
            </a:r>
            <a:r>
              <a:rPr lang="en-US" sz="1400" dirty="0">
                <a:solidFill>
                  <a:schemeClr val="tx2"/>
                </a:solidFill>
              </a:rPr>
              <a:t> per 4 per </a:t>
            </a:r>
            <a:r>
              <a:rPr lang="en-US" sz="1400" err="1">
                <a:solidFill>
                  <a:schemeClr val="tx2"/>
                </a:solidFill>
              </a:rPr>
              <a:t>avere</a:t>
            </a:r>
            <a:r>
              <a:rPr lang="en-US" sz="1400" dirty="0">
                <a:solidFill>
                  <a:schemeClr val="tx2"/>
                </a:solidFill>
              </a:rPr>
              <a:t> la </a:t>
            </a:r>
            <a:r>
              <a:rPr lang="en-US" sz="1400" err="1">
                <a:solidFill>
                  <a:schemeClr val="tx2"/>
                </a:solidFill>
              </a:rPr>
              <a:t>lunghezza</a:t>
            </a:r>
            <a:r>
              <a:rPr lang="en-US" sz="1400" dirty="0">
                <a:solidFill>
                  <a:schemeClr val="tx2"/>
                </a:solidFill>
              </a:rPr>
              <a:t> in byte (</a:t>
            </a:r>
            <a:r>
              <a:rPr lang="en-US" sz="1400" err="1">
                <a:solidFill>
                  <a:schemeClr val="tx2"/>
                </a:solidFill>
              </a:rPr>
              <a:t>l’header</a:t>
            </a:r>
            <a:r>
              <a:rPr lang="en-US" sz="1400" dirty="0">
                <a:solidFill>
                  <a:schemeClr val="tx2"/>
                </a:solidFill>
              </a:rPr>
              <a:t> IP </a:t>
            </a:r>
            <a:r>
              <a:rPr lang="en-US" sz="1400" err="1">
                <a:solidFill>
                  <a:schemeClr val="tx2"/>
                </a:solidFill>
              </a:rPr>
              <a:t>può</a:t>
            </a:r>
            <a:r>
              <a:rPr lang="en-US" sz="1400" dirty="0">
                <a:solidFill>
                  <a:schemeClr val="tx2"/>
                </a:solidFill>
              </a:rPr>
              <a:t> </a:t>
            </a:r>
            <a:r>
              <a:rPr lang="en-US" sz="1400" err="1">
                <a:solidFill>
                  <a:schemeClr val="tx2"/>
                </a:solidFill>
              </a:rPr>
              <a:t>avere</a:t>
            </a:r>
            <a:r>
              <a:rPr lang="en-US" sz="1400" dirty="0">
                <a:solidFill>
                  <a:schemeClr val="tx2"/>
                </a:solidFill>
              </a:rPr>
              <a:t> </a:t>
            </a:r>
            <a:r>
              <a:rPr lang="en-US" sz="1400" err="1">
                <a:solidFill>
                  <a:schemeClr val="tx2"/>
                </a:solidFill>
              </a:rPr>
              <a:t>lunghezza</a:t>
            </a:r>
            <a:r>
              <a:rPr lang="en-US" sz="1400" dirty="0">
                <a:solidFill>
                  <a:schemeClr val="tx2"/>
                </a:solidFill>
              </a:rPr>
              <a:t> </a:t>
            </a:r>
            <a:r>
              <a:rPr lang="en-US" sz="1400" err="1">
                <a:solidFill>
                  <a:schemeClr val="tx2"/>
                </a:solidFill>
              </a:rPr>
              <a:t>variabile</a:t>
            </a:r>
            <a:r>
              <a:rPr lang="en-US" sz="1400" dirty="0">
                <a:solidFill>
                  <a:schemeClr val="tx2"/>
                </a:solidFill>
              </a:rPr>
              <a:t>).</a:t>
            </a:r>
            <a:endParaRPr lang="en-US" sz="1400">
              <a:solidFill>
                <a:schemeClr val="tx2"/>
              </a:solidFill>
              <a:ea typeface="Calibri"/>
              <a:cs typeface="Calibri"/>
            </a:endParaRPr>
          </a:p>
          <a:p>
            <a:pPr marL="342900" indent="-342900">
              <a:spcAft>
                <a:spcPts val="500"/>
              </a:spcAft>
              <a:buSzPct val="100000"/>
              <a:buChar char="▪"/>
            </a:pPr>
            <a:r>
              <a:rPr lang="en-US" sz="1400" b="1" dirty="0" err="1"/>
              <a:t>ttl</a:t>
            </a:r>
            <a:r>
              <a:rPr lang="en-US" sz="1400" b="1" dirty="0"/>
              <a:t>: </a:t>
            </a:r>
            <a:r>
              <a:rPr lang="en-US" sz="1400" dirty="0">
                <a:solidFill>
                  <a:schemeClr val="tx2"/>
                </a:solidFill>
              </a:rPr>
              <a:t>Time To Live, </a:t>
            </a:r>
            <a:r>
              <a:rPr lang="en-US" sz="1400" dirty="0" err="1">
                <a:solidFill>
                  <a:schemeClr val="tx2"/>
                </a:solidFill>
              </a:rPr>
              <a:t>numero</a:t>
            </a:r>
            <a:r>
              <a:rPr lang="en-US" sz="1400" dirty="0">
                <a:solidFill>
                  <a:schemeClr val="tx2"/>
                </a:solidFill>
              </a:rPr>
              <a:t> di router </a:t>
            </a:r>
            <a:r>
              <a:rPr lang="en-US" sz="1400" dirty="0" err="1">
                <a:solidFill>
                  <a:schemeClr val="tx2"/>
                </a:solidFill>
              </a:rPr>
              <a:t>che</a:t>
            </a:r>
            <a:r>
              <a:rPr lang="en-US" sz="1400" dirty="0">
                <a:solidFill>
                  <a:schemeClr val="tx2"/>
                </a:solidFill>
              </a:rPr>
              <a:t> il </a:t>
            </a:r>
            <a:r>
              <a:rPr lang="en-US" sz="1400" dirty="0" err="1">
                <a:solidFill>
                  <a:schemeClr val="tx2"/>
                </a:solidFill>
              </a:rPr>
              <a:t>pacchetto</a:t>
            </a:r>
            <a:r>
              <a:rPr lang="en-US" sz="1400" dirty="0">
                <a:solidFill>
                  <a:schemeClr val="tx2"/>
                </a:solidFill>
              </a:rPr>
              <a:t> </a:t>
            </a:r>
            <a:r>
              <a:rPr lang="en-US" sz="1400" dirty="0" err="1">
                <a:solidFill>
                  <a:schemeClr val="tx2"/>
                </a:solidFill>
              </a:rPr>
              <a:t>può</a:t>
            </a:r>
            <a:r>
              <a:rPr lang="en-US" sz="1400" dirty="0">
                <a:solidFill>
                  <a:schemeClr val="tx2"/>
                </a:solidFill>
              </a:rPr>
              <a:t> </a:t>
            </a:r>
            <a:r>
              <a:rPr lang="en-US" sz="1400" dirty="0" err="1">
                <a:solidFill>
                  <a:schemeClr val="tx2"/>
                </a:solidFill>
              </a:rPr>
              <a:t>ancora</a:t>
            </a:r>
            <a:r>
              <a:rPr lang="en-US" sz="1400" dirty="0">
                <a:solidFill>
                  <a:schemeClr val="tx2"/>
                </a:solidFill>
              </a:rPr>
              <a:t> </a:t>
            </a:r>
            <a:r>
              <a:rPr lang="en-US" sz="1400" dirty="0" err="1">
                <a:solidFill>
                  <a:schemeClr val="tx2"/>
                </a:solidFill>
              </a:rPr>
              <a:t>attraversare</a:t>
            </a:r>
            <a:r>
              <a:rPr lang="en-US" sz="1400" dirty="0">
                <a:solidFill>
                  <a:schemeClr val="tx2"/>
                </a:solidFill>
              </a:rPr>
              <a:t>.</a:t>
            </a:r>
          </a:p>
          <a:p>
            <a:pPr marL="342900" indent="-342900">
              <a:spcAft>
                <a:spcPts val="500"/>
              </a:spcAft>
              <a:buSzPct val="100000"/>
              <a:buChar char="▪"/>
            </a:pPr>
            <a:r>
              <a:rPr lang="en-US" sz="1400" b="1" dirty="0" err="1"/>
              <a:t>protocollo</a:t>
            </a:r>
            <a:r>
              <a:rPr lang="en-US" sz="1400" b="1" dirty="0"/>
              <a:t>: </a:t>
            </a:r>
            <a:r>
              <a:rPr lang="en-US" sz="1400" dirty="0">
                <a:solidFill>
                  <a:schemeClr val="tx2"/>
                </a:solidFill>
              </a:rPr>
              <a:t>6 = TCP, 17 = UDP, 1 = ICMP.</a:t>
            </a:r>
          </a:p>
          <a:p>
            <a:pPr marL="342900" indent="-342900">
              <a:spcAft>
                <a:spcPts val="500"/>
              </a:spcAft>
              <a:buSzPct val="100000"/>
              <a:buChar char="▪"/>
            </a:pPr>
            <a:r>
              <a:rPr lang="en-US" sz="1400" b="1" dirty="0" err="1"/>
              <a:t>ip_sorg</a:t>
            </a:r>
            <a:r>
              <a:rPr lang="en-US" sz="1400" b="1" dirty="0"/>
              <a:t> / </a:t>
            </a:r>
            <a:r>
              <a:rPr lang="en-US" sz="1400" b="1" dirty="0" err="1"/>
              <a:t>ip_dest</a:t>
            </a:r>
            <a:r>
              <a:rPr lang="en-US" sz="1400" b="1" dirty="0"/>
              <a:t>: </a:t>
            </a:r>
            <a:r>
              <a:rPr lang="en-US" sz="1400" dirty="0" err="1">
                <a:solidFill>
                  <a:schemeClr val="tx2"/>
                </a:solidFill>
              </a:rPr>
              <a:t>indirizzi</a:t>
            </a:r>
            <a:r>
              <a:rPr lang="en-US" sz="1400" dirty="0">
                <a:solidFill>
                  <a:schemeClr val="tx2"/>
                </a:solidFill>
              </a:rPr>
              <a:t> </a:t>
            </a:r>
            <a:r>
              <a:rPr lang="en-US" sz="1400" dirty="0" err="1">
                <a:solidFill>
                  <a:schemeClr val="tx2"/>
                </a:solidFill>
              </a:rPr>
              <a:t>resi</a:t>
            </a:r>
            <a:r>
              <a:rPr lang="en-US" sz="1400" dirty="0">
                <a:solidFill>
                  <a:schemeClr val="tx2"/>
                </a:solidFill>
              </a:rPr>
              <a:t> </a:t>
            </a:r>
            <a:r>
              <a:rPr lang="en-US" sz="1400" dirty="0" err="1">
                <a:solidFill>
                  <a:schemeClr val="tx2"/>
                </a:solidFill>
              </a:rPr>
              <a:t>leggibili</a:t>
            </a:r>
            <a:r>
              <a:rPr lang="en-US" sz="1400" dirty="0">
                <a:solidFill>
                  <a:schemeClr val="tx2"/>
                </a:solidFill>
              </a:rPr>
              <a:t> con </a:t>
            </a:r>
            <a:r>
              <a:rPr lang="en-US" sz="1400" dirty="0" err="1">
                <a:solidFill>
                  <a:schemeClr val="tx2"/>
                </a:solidFill>
              </a:rPr>
              <a:t>ip_address</a:t>
            </a:r>
            <a:r>
              <a:rPr lang="en-US" sz="1400" dirty="0">
                <a:solidFill>
                  <a:schemeClr val="tx2"/>
                </a:solidFill>
              </a:rPr>
              <a:t>.</a:t>
            </a:r>
          </a:p>
          <a:p>
            <a:pPr marL="342900" indent="-342900">
              <a:spcAft>
                <a:spcPts val="500"/>
              </a:spcAft>
              <a:buSzPct val="100000"/>
              <a:buChar char="▪"/>
            </a:pPr>
            <a:r>
              <a:rPr lang="en-US" sz="1400" b="1" dirty="0" err="1"/>
              <a:t>inizio</a:t>
            </a:r>
            <a:r>
              <a:rPr lang="en-US" sz="1400" b="1" dirty="0"/>
              <a:t>: </a:t>
            </a:r>
            <a:r>
              <a:rPr lang="en-US" sz="1400" dirty="0" err="1">
                <a:solidFill>
                  <a:schemeClr val="tx2"/>
                </a:solidFill>
              </a:rPr>
              <a:t>posizione</a:t>
            </a:r>
            <a:r>
              <a:rPr lang="en-US" sz="1400" dirty="0">
                <a:solidFill>
                  <a:schemeClr val="tx2"/>
                </a:solidFill>
              </a:rPr>
              <a:t> in cui </a:t>
            </a:r>
            <a:r>
              <a:rPr lang="en-US" sz="1400" dirty="0" err="1">
                <a:solidFill>
                  <a:schemeClr val="tx2"/>
                </a:solidFill>
              </a:rPr>
              <a:t>inizia</a:t>
            </a:r>
            <a:r>
              <a:rPr lang="en-US" sz="1400" dirty="0">
                <a:solidFill>
                  <a:schemeClr val="tx2"/>
                </a:solidFill>
              </a:rPr>
              <a:t> il </a:t>
            </a:r>
            <a:r>
              <a:rPr lang="en-US" sz="1400" dirty="0" err="1">
                <a:solidFill>
                  <a:schemeClr val="tx2"/>
                </a:solidFill>
              </a:rPr>
              <a:t>livello</a:t>
            </a:r>
            <a:r>
              <a:rPr lang="en-US" sz="1400" dirty="0">
                <a:solidFill>
                  <a:schemeClr val="tx2"/>
                </a:solidFill>
              </a:rPr>
              <a:t> di </a:t>
            </a:r>
            <a:r>
              <a:rPr lang="en-US" sz="1400" dirty="0" err="1">
                <a:solidFill>
                  <a:schemeClr val="tx2"/>
                </a:solidFill>
              </a:rPr>
              <a:t>trasporto</a:t>
            </a:r>
            <a:r>
              <a:rPr lang="en-US" sz="1400" dirty="0">
                <a:solidFill>
                  <a:schemeClr val="tx2"/>
                </a:solidFill>
              </a:rPr>
              <a:t>, </a:t>
            </a:r>
            <a:r>
              <a:rPr lang="en-US" sz="1400" dirty="0" err="1">
                <a:solidFill>
                  <a:schemeClr val="tx2"/>
                </a:solidFill>
              </a:rPr>
              <a:t>calcolata</a:t>
            </a:r>
            <a:r>
              <a:rPr lang="en-US" sz="1400" dirty="0">
                <a:solidFill>
                  <a:schemeClr val="tx2"/>
                </a:solidFill>
              </a:rPr>
              <a:t> </a:t>
            </a:r>
            <a:r>
              <a:rPr lang="en-US" sz="1400" dirty="0" err="1">
                <a:solidFill>
                  <a:schemeClr val="tx2"/>
                </a:solidFill>
              </a:rPr>
              <a:t>sulla</a:t>
            </a:r>
            <a:r>
              <a:rPr lang="en-US" sz="1400" dirty="0">
                <a:solidFill>
                  <a:schemeClr val="tx2"/>
                </a:solidFill>
              </a:rPr>
              <a:t> </a:t>
            </a:r>
            <a:r>
              <a:rPr lang="en-US" sz="1400" dirty="0" err="1">
                <a:solidFill>
                  <a:schemeClr val="tx2"/>
                </a:solidFill>
              </a:rPr>
              <a:t>lunghezza</a:t>
            </a:r>
            <a:r>
              <a:rPr lang="en-US" sz="1400" dirty="0">
                <a:solidFill>
                  <a:schemeClr val="tx2"/>
                </a:solidFill>
              </a:rPr>
              <a:t> </a:t>
            </a:r>
            <a:r>
              <a:rPr lang="en-US" sz="1400" dirty="0" err="1">
                <a:solidFill>
                  <a:schemeClr val="tx2"/>
                </a:solidFill>
              </a:rPr>
              <a:t>reale</a:t>
            </a:r>
            <a:r>
              <a:rPr lang="en-US" sz="1400" dirty="0">
                <a:solidFill>
                  <a:schemeClr val="tx2"/>
                </a:solidFill>
              </a:rPr>
              <a:t> </a:t>
            </a:r>
            <a:r>
              <a:rPr lang="en-US" sz="1400" dirty="0" err="1">
                <a:solidFill>
                  <a:schemeClr val="tx2"/>
                </a:solidFill>
              </a:rPr>
              <a:t>dell’header</a:t>
            </a:r>
            <a:r>
              <a:rPr lang="en-US" sz="1400" dirty="0">
                <a:solidFill>
                  <a:schemeClr val="tx2"/>
                </a:solidFill>
              </a:rPr>
              <a:t> IP e non </a:t>
            </a:r>
            <a:r>
              <a:rPr lang="en-US" sz="1400" dirty="0" err="1">
                <a:solidFill>
                  <a:schemeClr val="tx2"/>
                </a:solidFill>
              </a:rPr>
              <a:t>su</a:t>
            </a:r>
            <a:r>
              <a:rPr lang="en-US" sz="1400" dirty="0">
                <a:solidFill>
                  <a:schemeClr val="tx2"/>
                </a:solidFill>
              </a:rPr>
              <a:t> un </a:t>
            </a:r>
            <a:r>
              <a:rPr lang="en-US" sz="1400" dirty="0" err="1">
                <a:solidFill>
                  <a:schemeClr val="tx2"/>
                </a:solidFill>
              </a:rPr>
              <a:t>valore</a:t>
            </a:r>
            <a:r>
              <a:rPr lang="en-US" sz="1400" dirty="0">
                <a:solidFill>
                  <a:schemeClr val="tx2"/>
                </a:solidFill>
              </a:rPr>
              <a:t> </a:t>
            </a:r>
            <a:r>
              <a:rPr lang="en-US" sz="1400" dirty="0" err="1">
                <a:solidFill>
                  <a:schemeClr val="tx2"/>
                </a:solidFill>
              </a:rPr>
              <a:t>fisso</a:t>
            </a:r>
            <a:r>
              <a:rPr lang="en-US" sz="1400" dirty="0">
                <a:solidFill>
                  <a:schemeClr val="tx2"/>
                </a:solidFill>
              </a:rPr>
              <a:t>.</a:t>
            </a:r>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5 · STRUMENTO DI CATTURA DEI SOCKET DI RETE (SNIFFER)</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5.7 Decodifica di TCP, UDP e ICMP</a:t>
            </a:r>
            <a:endParaRPr lang="en-US" sz="3000" dirty="0"/>
          </a:p>
        </p:txBody>
      </p:sp>
      <p:sp>
        <p:nvSpPr>
          <p:cNvPr id="4" name="code-bg"/>
          <p:cNvSpPr/>
          <p:nvPr/>
        </p:nvSpPr>
        <p:spPr>
          <a:xfrm>
            <a:off x="548640" y="1371600"/>
            <a:ext cx="6035040" cy="4709160"/>
          </a:xfrm>
          <a:prstGeom prst="roundRect">
            <a:avLst>
              <a:gd name="adj" fmla="val 1553"/>
            </a:avLst>
          </a:prstGeom>
          <a:solidFill>
            <a:srgbClr val="0F1117"/>
          </a:solidFill>
          <a:ln w="12700">
            <a:solidFill>
              <a:srgbClr val="0F1117"/>
            </a:solidFill>
            <a:prstDash val="solid"/>
          </a:ln>
        </p:spPr>
      </p:sp>
      <p:sp>
        <p:nvSpPr>
          <p:cNvPr id="5" name="code"/>
          <p:cNvSpPr txBox="1"/>
          <p:nvPr/>
        </p:nvSpPr>
        <p:spPr>
          <a:xfrm>
            <a:off x="777240" y="1536192"/>
            <a:ext cx="5577840" cy="4434840"/>
          </a:xfrm>
          <a:prstGeom prst="rect">
            <a:avLst/>
          </a:prstGeom>
          <a:noFill/>
          <a:ln/>
        </p:spPr>
        <p:txBody>
          <a:bodyPr wrap="square" lIns="0" tIns="0" rIns="0" bIns="0" rtlCol="0" anchor="t"/>
          <a:lstStyle/>
          <a:p>
            <a:pPr marL="0" indent="0">
              <a:buNone/>
            </a:pPr>
            <a:r>
              <a:rPr lang="en-US" sz="1100" dirty="0">
                <a:solidFill>
                  <a:srgbClr val="E5E7EB"/>
                </a:solidFill>
                <a:latin typeface="Courier New" pitchFamily="34" charset="0"/>
                <a:ea typeface="Courier New" pitchFamily="34" charset="-122"/>
                <a:cs typeface="Courier New" pitchFamily="34" charset="-120"/>
              </a:rPr>
              <a:t># protocollo 6 = TCP</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if protocollo == 6:</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tcp = struct.unpack('!HHLL', pacchetto[inizio:inizio + 12])</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print("  TCP porta", tcp[0], "-&gt;", tcp[1])</a:t>
            </a:r>
            <a:endParaRPr lang="en-US" sz="1100" dirty="0"/>
          </a:p>
          <a:p>
            <a:pPr marL="0" indent="0">
              <a:buNone/>
            </a:pP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protocollo 17 = UDP</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elif protocollo == 17:</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udp = struct.unpack('!HHHH', pacchetto[inizio:inizio + 8])</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print("  UDP porta", udp[0], "-&gt;", udp[1])</a:t>
            </a:r>
            <a:endParaRPr lang="en-US" sz="1100" dirty="0"/>
          </a:p>
          <a:p>
            <a:pPr marL="0" indent="0">
              <a:buNone/>
            </a:pP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protocollo 1 = ICMP</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elif protocollo == 1:</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icmp = struct.unpack('!BBH', pacchetto[inizio:inizio + 4])</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print("  ICMP tipo", icmp[0], "codice", icmp[1])</a:t>
            </a:r>
            <a:endParaRPr lang="en-US" sz="1100" dirty="0"/>
          </a:p>
          <a:p>
            <a:pPr marL="0" indent="0">
              <a:buNone/>
            </a:pP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else:</a:t>
            </a: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    print("  Altro protocollo:", protocollo)</a:t>
            </a:r>
            <a:endParaRPr lang="en-US" sz="1100" dirty="0"/>
          </a:p>
          <a:p>
            <a:pPr marL="0" indent="0">
              <a:buNone/>
            </a:pPr>
            <a:endParaRPr lang="en-US" sz="1100" dirty="0"/>
          </a:p>
          <a:p>
            <a:pPr marL="0" indent="0">
              <a:buNone/>
            </a:pPr>
            <a:r>
              <a:rPr lang="en-US" sz="1100" dirty="0">
                <a:solidFill>
                  <a:srgbClr val="E5E7EB"/>
                </a:solidFill>
                <a:latin typeface="Courier New" pitchFamily="34" charset="0"/>
                <a:ea typeface="Courier New" pitchFamily="34" charset="-122"/>
                <a:cs typeface="Courier New" pitchFamily="34" charset="-120"/>
              </a:rPr>
              <a:t>print()</a:t>
            </a:r>
            <a:endParaRPr lang="en-US" sz="1100" dirty="0"/>
          </a:p>
        </p:txBody>
      </p:sp>
      <p:sp>
        <p:nvSpPr>
          <p:cNvPr id="6" name="body-text"/>
          <p:cNvSpPr txBox="1"/>
          <p:nvPr/>
        </p:nvSpPr>
        <p:spPr>
          <a:xfrm>
            <a:off x="6858000" y="1371600"/>
            <a:ext cx="4782312" cy="4709160"/>
          </a:xfrm>
          <a:prstGeom prst="rect">
            <a:avLst/>
          </a:prstGeom>
          <a:noFill/>
          <a:ln/>
        </p:spPr>
        <p:txBody>
          <a:bodyPr wrap="square" lIns="0" tIns="0" rIns="0" bIns="0" rtlCol="0" anchor="t"/>
          <a:lstStyle/>
          <a:p>
            <a:pPr marL="0" indent="0">
              <a:spcAft>
                <a:spcPts val="500"/>
              </a:spcAft>
              <a:buNone/>
            </a:pPr>
            <a:r>
              <a:rPr lang="en-US" sz="1400" dirty="0">
                <a:solidFill>
                  <a:schemeClr val="tx2"/>
                </a:solidFill>
              </a:rPr>
              <a:t>Terzo livello, il trasporto. Si usa if / elif / else perché un pacchetto contiene uno solo di tali protocolli; la lettura parte sempre da inizio.</a:t>
            </a:r>
            <a:endParaRPr lang="en-US" sz="1400" dirty="0"/>
          </a:p>
          <a:p>
            <a:pPr marL="342900" indent="-342900">
              <a:spcAft>
                <a:spcPts val="500"/>
              </a:spcAft>
              <a:buSzPct val="100000"/>
              <a:buChar char="▪"/>
            </a:pPr>
            <a:r>
              <a:rPr lang="en-US" sz="1400" b="1" dirty="0">
                <a:solidFill>
                  <a:schemeClr val="tx1"/>
                </a:solidFill>
              </a:rPr>
              <a:t>TCP (6): </a:t>
            </a:r>
            <a:r>
              <a:rPr lang="en-US" sz="1400" dirty="0">
                <a:solidFill>
                  <a:schemeClr val="tx2"/>
                </a:solidFill>
              </a:rPr>
              <a:t>12 byte con !HHLL (due campi da 2 byte e due da 4); i primi due sono porta sorgente (tcp[0]) e destinazione (tcp[1]).</a:t>
            </a:r>
            <a:endParaRPr lang="en-US" sz="1400" dirty="0"/>
          </a:p>
          <a:p>
            <a:pPr marL="342900" indent="-342900">
              <a:spcAft>
                <a:spcPts val="500"/>
              </a:spcAft>
              <a:buSzPct val="100000"/>
              <a:buChar char="▪"/>
            </a:pPr>
            <a:r>
              <a:rPr lang="en-US" sz="1400" b="1" dirty="0">
                <a:solidFill>
                  <a:schemeClr val="tx1"/>
                </a:solidFill>
              </a:rPr>
              <a:t>UDP (17): </a:t>
            </a:r>
            <a:r>
              <a:rPr lang="en-US" sz="1400" dirty="0">
                <a:solidFill>
                  <a:schemeClr val="tx2"/>
                </a:solidFill>
              </a:rPr>
              <a:t>8 byte con !HHHH; anche qui i primi due campi sono le porte. Header più semplice e corto di TCP.</a:t>
            </a:r>
            <a:endParaRPr lang="en-US" sz="1400" dirty="0"/>
          </a:p>
          <a:p>
            <a:pPr marL="342900" indent="-342900">
              <a:spcAft>
                <a:spcPts val="500"/>
              </a:spcAft>
              <a:buSzPct val="100000"/>
              <a:buChar char="▪"/>
            </a:pPr>
            <a:r>
              <a:rPr lang="en-US" sz="1400" b="1" dirty="0">
                <a:solidFill>
                  <a:schemeClr val="tx1"/>
                </a:solidFill>
              </a:rPr>
              <a:t>ICMP (1): </a:t>
            </a:r>
            <a:r>
              <a:rPr lang="en-US" sz="1400" dirty="0">
                <a:solidFill>
                  <a:schemeClr val="tx2"/>
                </a:solidFill>
              </a:rPr>
              <a:t>il protocollo del ping. 4 byte con !BBH: tipo e codice (ad esempio richiesta o risposta echo).</a:t>
            </a:r>
            <a:endParaRPr lang="en-US" sz="1400" dirty="0"/>
          </a:p>
          <a:p>
            <a:pPr marL="342900" indent="-342900">
              <a:spcAft>
                <a:spcPts val="500"/>
              </a:spcAft>
              <a:buSzPct val="100000"/>
              <a:buChar char="▪"/>
            </a:pPr>
            <a:r>
              <a:rPr lang="en-US" sz="1400" b="1" dirty="0">
                <a:solidFill>
                  <a:schemeClr val="tx1"/>
                </a:solidFill>
              </a:rPr>
              <a:t>else: </a:t>
            </a:r>
            <a:r>
              <a:rPr lang="en-US" sz="1400" dirty="0">
                <a:solidFill>
                  <a:schemeClr val="tx2"/>
                </a:solidFill>
              </a:rPr>
              <a:t>stampa soltanto il numero del protocollo.</a:t>
            </a:r>
            <a:endParaRPr lang="en-US" sz="1400" dirty="0"/>
          </a:p>
          <a:p>
            <a:pPr marL="0" indent="0">
              <a:spcAft>
                <a:spcPts val="500"/>
              </a:spcAft>
              <a:buNone/>
            </a:pPr>
            <a:r>
              <a:rPr lang="en-US" sz="1400" dirty="0">
                <a:solidFill>
                  <a:schemeClr val="tx2"/>
                </a:solidFill>
              </a:rPr>
              <a:t>Infine print() stampa una riga vuota per separare i pacchetti.</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5 · STRUMENTO DI CATTURA DEI SOCKET DI RETE (SNIFFER)</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5.8 Esecuzione e note d’uso</a:t>
            </a:r>
            <a:endParaRPr lang="en-US" sz="3000" dirty="0"/>
          </a:p>
        </p:txBody>
      </p:sp>
      <p:sp>
        <p:nvSpPr>
          <p:cNvPr id="4" name="code-bg"/>
          <p:cNvSpPr/>
          <p:nvPr/>
        </p:nvSpPr>
        <p:spPr>
          <a:xfrm>
            <a:off x="548640" y="1371600"/>
            <a:ext cx="5760720" cy="1280160"/>
          </a:xfrm>
          <a:prstGeom prst="roundRect">
            <a:avLst>
              <a:gd name="adj" fmla="val 5714"/>
            </a:avLst>
          </a:prstGeom>
          <a:solidFill>
            <a:srgbClr val="0F1117"/>
          </a:solidFill>
          <a:ln w="12700">
            <a:solidFill>
              <a:srgbClr val="0F1117"/>
            </a:solidFill>
            <a:prstDash val="solid"/>
          </a:ln>
        </p:spPr>
      </p:sp>
      <p:sp>
        <p:nvSpPr>
          <p:cNvPr id="5" name="code-label"/>
          <p:cNvSpPr txBox="1"/>
          <p:nvPr/>
        </p:nvSpPr>
        <p:spPr>
          <a:xfrm>
            <a:off x="777240" y="1481328"/>
            <a:ext cx="5303520" cy="256032"/>
          </a:xfrm>
          <a:prstGeom prst="rect">
            <a:avLst/>
          </a:prstGeom>
          <a:noFill/>
          <a:ln/>
        </p:spPr>
        <p:txBody>
          <a:bodyPr wrap="square" lIns="0" tIns="0" rIns="0" bIns="0" rtlCol="0" anchor="ctr"/>
          <a:lstStyle/>
          <a:p>
            <a:pPr marL="0" indent="0">
              <a:buNone/>
            </a:pPr>
            <a:r>
              <a:rPr lang="en-US" sz="1000" b="1" dirty="0">
                <a:solidFill>
                  <a:srgbClr val="F87171"/>
                </a:solidFill>
              </a:rPr>
              <a:t>USCITA DAL CICLO</a:t>
            </a:r>
            <a:endParaRPr lang="en-US" sz="1000" dirty="0"/>
          </a:p>
        </p:txBody>
      </p:sp>
      <p:sp>
        <p:nvSpPr>
          <p:cNvPr id="6" name="code"/>
          <p:cNvSpPr txBox="1"/>
          <p:nvPr/>
        </p:nvSpPr>
        <p:spPr>
          <a:xfrm>
            <a:off x="777240" y="1755648"/>
            <a:ext cx="5303520" cy="786384"/>
          </a:xfrm>
          <a:prstGeom prst="rect">
            <a:avLst/>
          </a:prstGeom>
          <a:noFill/>
          <a:ln/>
        </p:spPr>
        <p:txBody>
          <a:bodyPr wrap="square" lIns="0" tIns="0" rIns="0" bIns="0" rtlCol="0" anchor="t"/>
          <a:lstStyle/>
          <a:p>
            <a:pPr marL="0" indent="0">
              <a:buNone/>
            </a:pPr>
            <a:r>
              <a:rPr lang="en-US" sz="1200" dirty="0">
                <a:solidFill>
                  <a:srgbClr val="E5E7EB"/>
                </a:solidFill>
                <a:latin typeface="Courier New" pitchFamily="34" charset="0"/>
                <a:ea typeface="Courier New" pitchFamily="34" charset="-122"/>
                <a:cs typeface="Courier New" pitchFamily="34" charset="-120"/>
              </a:rPr>
              <a:t>except KeyboardInterrupt:</a:t>
            </a: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    print("\nSniffer fermato. Pacchetti catturati:", numero)</a:t>
            </a: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    s.close()</a:t>
            </a:r>
            <a:endParaRPr lang="en-US" sz="1200" dirty="0"/>
          </a:p>
        </p:txBody>
      </p:sp>
      <p:sp>
        <p:nvSpPr>
          <p:cNvPr id="7" name="body-text"/>
          <p:cNvSpPr txBox="1"/>
          <p:nvPr/>
        </p:nvSpPr>
        <p:spPr>
          <a:xfrm>
            <a:off x="548640" y="2788920"/>
            <a:ext cx="5760720" cy="914400"/>
          </a:xfrm>
          <a:prstGeom prst="rect">
            <a:avLst/>
          </a:prstGeom>
          <a:noFill/>
          <a:ln/>
        </p:spPr>
        <p:txBody>
          <a:bodyPr wrap="square" lIns="0" tIns="0" rIns="0" bIns="0" rtlCol="0" anchor="ctr"/>
          <a:lstStyle/>
          <a:p>
            <a:pPr marL="0" indent="0">
              <a:buNone/>
            </a:pPr>
            <a:r>
              <a:rPr lang="en-US" sz="1400" dirty="0">
                <a:solidFill>
                  <a:schemeClr val="tx2"/>
                </a:solidFill>
              </a:rPr>
              <a:t>Con Ctrl+C Python solleva KeyboardInterrupt: il blocco except la intercetta, stampa il totale dei pacchetti catturati e chiude il socket con s.close(), liberando la risorsa.</a:t>
            </a:r>
            <a:endParaRPr lang="en-US" sz="1400" dirty="0"/>
          </a:p>
        </p:txBody>
      </p:sp>
      <p:sp>
        <p:nvSpPr>
          <p:cNvPr id="8" name="code-bg"/>
          <p:cNvSpPr/>
          <p:nvPr/>
        </p:nvSpPr>
        <p:spPr>
          <a:xfrm>
            <a:off x="548640" y="3886200"/>
            <a:ext cx="5760720" cy="868680"/>
          </a:xfrm>
          <a:prstGeom prst="roundRect">
            <a:avLst>
              <a:gd name="adj" fmla="val 8421"/>
            </a:avLst>
          </a:prstGeom>
          <a:solidFill>
            <a:srgbClr val="0F1117"/>
          </a:solidFill>
          <a:ln w="12700">
            <a:solidFill>
              <a:srgbClr val="0F1117"/>
            </a:solidFill>
            <a:prstDash val="solid"/>
          </a:ln>
        </p:spPr>
      </p:sp>
      <p:sp>
        <p:nvSpPr>
          <p:cNvPr id="9" name="code-label"/>
          <p:cNvSpPr txBox="1"/>
          <p:nvPr/>
        </p:nvSpPr>
        <p:spPr>
          <a:xfrm>
            <a:off x="777240" y="3995928"/>
            <a:ext cx="5303520" cy="256032"/>
          </a:xfrm>
          <a:prstGeom prst="rect">
            <a:avLst/>
          </a:prstGeom>
          <a:noFill/>
          <a:ln/>
        </p:spPr>
        <p:txBody>
          <a:bodyPr wrap="square" lIns="0" tIns="0" rIns="0" bIns="0" rtlCol="0" anchor="ctr"/>
          <a:lstStyle/>
          <a:p>
            <a:pPr marL="0" indent="0">
              <a:buNone/>
            </a:pPr>
            <a:r>
              <a:rPr lang="en-US" sz="1000" b="1" dirty="0">
                <a:solidFill>
                  <a:srgbClr val="F87171"/>
                </a:solidFill>
              </a:rPr>
              <a:t>ESECUZIONE</a:t>
            </a:r>
            <a:endParaRPr lang="en-US" sz="1000" dirty="0"/>
          </a:p>
        </p:txBody>
      </p:sp>
      <p:sp>
        <p:nvSpPr>
          <p:cNvPr id="10" name="code"/>
          <p:cNvSpPr txBox="1"/>
          <p:nvPr/>
        </p:nvSpPr>
        <p:spPr>
          <a:xfrm>
            <a:off x="777240" y="4270248"/>
            <a:ext cx="5303520" cy="374904"/>
          </a:xfrm>
          <a:prstGeom prst="rect">
            <a:avLst/>
          </a:prstGeom>
          <a:noFill/>
          <a:ln/>
        </p:spPr>
        <p:txBody>
          <a:bodyPr wrap="square" lIns="0" tIns="0" rIns="0" bIns="0" rtlCol="0" anchor="t"/>
          <a:lstStyle/>
          <a:p>
            <a:pPr marL="0" indent="0">
              <a:buNone/>
            </a:pPr>
            <a:r>
              <a:rPr lang="en-US" sz="1400" dirty="0">
                <a:solidFill>
                  <a:srgbClr val="E5E7EB"/>
                </a:solidFill>
                <a:latin typeface="Courier New" pitchFamily="34" charset="0"/>
                <a:ea typeface="Courier New" pitchFamily="34" charset="-122"/>
                <a:cs typeface="Courier New" pitchFamily="34" charset="-120"/>
              </a:rPr>
              <a:t>sudo python3 sniffer.py</a:t>
            </a:r>
            <a:endParaRPr lang="en-US" sz="1400" dirty="0"/>
          </a:p>
        </p:txBody>
      </p:sp>
      <p:sp>
        <p:nvSpPr>
          <p:cNvPr id="11" name="body-text"/>
          <p:cNvSpPr txBox="1"/>
          <p:nvPr/>
        </p:nvSpPr>
        <p:spPr>
          <a:xfrm>
            <a:off x="548640" y="4892040"/>
            <a:ext cx="5760720" cy="731520"/>
          </a:xfrm>
          <a:prstGeom prst="rect">
            <a:avLst/>
          </a:prstGeom>
          <a:noFill/>
          <a:ln/>
        </p:spPr>
        <p:txBody>
          <a:bodyPr wrap="square" lIns="0" tIns="0" rIns="0" bIns="0" rtlCol="0" anchor="ctr"/>
          <a:lstStyle/>
          <a:p>
            <a:pPr marL="0" indent="0">
              <a:buNone/>
            </a:pPr>
            <a:r>
              <a:rPr lang="en-US" sz="1400" dirty="0">
                <a:solidFill>
                  <a:schemeClr val="tx2"/>
                </a:solidFill>
              </a:rPr>
              <a:t>Per visualizzare i pacchetti ICMP basta aprire un secondo terminale ed eseguire un ping, ad esempio ping 8.8.8.8.</a:t>
            </a:r>
            <a:endParaRPr lang="en-US" sz="1400" dirty="0"/>
          </a:p>
        </p:txBody>
      </p:sp>
      <p:sp>
        <p:nvSpPr>
          <p:cNvPr id="12" name="card"/>
          <p:cNvSpPr/>
          <p:nvPr/>
        </p:nvSpPr>
        <p:spPr>
          <a:xfrm>
            <a:off x="6583680" y="1371600"/>
            <a:ext cx="5056632" cy="2194560"/>
          </a:xfrm>
          <a:prstGeom prst="roundRect">
            <a:avLst>
              <a:gd name="adj" fmla="val 4167"/>
            </a:avLst>
          </a:prstGeom>
          <a:solidFill>
            <a:schemeClr val="bg2"/>
          </a:solidFill>
          <a:ln w="12700">
            <a:solidFill>
              <a:schemeClr val="bg2"/>
            </a:solidFill>
            <a:prstDash val="solid"/>
          </a:ln>
        </p:spPr>
      </p:sp>
      <p:sp>
        <p:nvSpPr>
          <p:cNvPr id="13" name="badge"/>
          <p:cNvSpPr/>
          <p:nvPr/>
        </p:nvSpPr>
        <p:spPr>
          <a:xfrm>
            <a:off x="6812280" y="1600200"/>
            <a:ext cx="457200" cy="457200"/>
          </a:xfrm>
          <a:prstGeom prst="ellipse">
            <a:avLst/>
          </a:prstGeom>
          <a:solidFill>
            <a:schemeClr val="accent1"/>
          </a:solidFill>
          <a:ln w="12700">
            <a:solidFill>
              <a:schemeClr val="accent1"/>
            </a:solidFill>
            <a:prstDash val="solid"/>
          </a:ln>
        </p:spPr>
      </p:sp>
      <p:sp>
        <p:nvSpPr>
          <p:cNvPr id="14" name="badge-num"/>
          <p:cNvSpPr txBox="1"/>
          <p:nvPr/>
        </p:nvSpPr>
        <p:spPr>
          <a:xfrm>
            <a:off x="6812280" y="160020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a:t>
            </a:r>
            <a:endParaRPr lang="en-US" sz="1500" dirty="0"/>
          </a:p>
        </p:txBody>
      </p:sp>
      <p:sp>
        <p:nvSpPr>
          <p:cNvPr id="15" name="card-head"/>
          <p:cNvSpPr txBox="1"/>
          <p:nvPr/>
        </p:nvSpPr>
        <p:spPr>
          <a:xfrm>
            <a:off x="7452360" y="1572768"/>
            <a:ext cx="4005072"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Perché sudo</a:t>
            </a:r>
            <a:endParaRPr lang="en-US" sz="1600" dirty="0"/>
          </a:p>
        </p:txBody>
      </p:sp>
      <p:sp>
        <p:nvSpPr>
          <p:cNvPr id="16" name="card-body"/>
          <p:cNvSpPr txBox="1"/>
          <p:nvPr/>
        </p:nvSpPr>
        <p:spPr>
          <a:xfrm>
            <a:off x="6812280" y="2194560"/>
            <a:ext cx="4599432" cy="1234440"/>
          </a:xfrm>
          <a:prstGeom prst="rect">
            <a:avLst/>
          </a:prstGeom>
          <a:noFill/>
          <a:ln/>
        </p:spPr>
        <p:txBody>
          <a:bodyPr wrap="square" lIns="0" tIns="0" rIns="0" bIns="0" rtlCol="0" anchor="t"/>
          <a:lstStyle/>
          <a:p>
            <a:pPr marL="0" indent="0">
              <a:buNone/>
            </a:pPr>
            <a:r>
              <a:rPr lang="en-US" sz="1400" dirty="0">
                <a:solidFill>
                  <a:schemeClr val="tx2"/>
                </a:solidFill>
              </a:rPr>
              <a:t>I raw socket consentono di leggere tutto il traffico della scheda di rete: è un’operazione privilegiata che Linux concede soltanto a root. Senza sudo viene restituito un errore di permessi.</a:t>
            </a:r>
            <a:endParaRPr lang="en-US" sz="1400" dirty="0"/>
          </a:p>
        </p:txBody>
      </p:sp>
      <p:sp>
        <p:nvSpPr>
          <p:cNvPr id="17" name="card"/>
          <p:cNvSpPr/>
          <p:nvPr/>
        </p:nvSpPr>
        <p:spPr>
          <a:xfrm>
            <a:off x="6583680" y="3749040"/>
            <a:ext cx="5056632" cy="2194560"/>
          </a:xfrm>
          <a:prstGeom prst="roundRect">
            <a:avLst>
              <a:gd name="adj" fmla="val 4167"/>
            </a:avLst>
          </a:prstGeom>
          <a:solidFill>
            <a:srgbClr val="FEF2F2"/>
          </a:solidFill>
          <a:ln w="12700">
            <a:solidFill>
              <a:srgbClr val="FEF2F2"/>
            </a:solidFill>
            <a:prstDash val="solid"/>
          </a:ln>
        </p:spPr>
      </p:sp>
      <p:sp>
        <p:nvSpPr>
          <p:cNvPr id="18" name="badge"/>
          <p:cNvSpPr/>
          <p:nvPr/>
        </p:nvSpPr>
        <p:spPr>
          <a:xfrm>
            <a:off x="6812280" y="3977640"/>
            <a:ext cx="457200" cy="457200"/>
          </a:xfrm>
          <a:prstGeom prst="ellipse">
            <a:avLst/>
          </a:prstGeom>
          <a:solidFill>
            <a:schemeClr val="accent1"/>
          </a:solidFill>
          <a:ln w="12700">
            <a:solidFill>
              <a:schemeClr val="accent1"/>
            </a:solidFill>
            <a:prstDash val="solid"/>
          </a:ln>
        </p:spPr>
      </p:sp>
      <p:sp>
        <p:nvSpPr>
          <p:cNvPr id="19" name="badge-num"/>
          <p:cNvSpPr txBox="1"/>
          <p:nvPr/>
        </p:nvSpPr>
        <p:spPr>
          <a:xfrm>
            <a:off x="6812280" y="3977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a:t>
            </a:r>
            <a:endParaRPr lang="en-US" sz="1500" dirty="0"/>
          </a:p>
        </p:txBody>
      </p:sp>
      <p:sp>
        <p:nvSpPr>
          <p:cNvPr id="20" name="card-head"/>
          <p:cNvSpPr txBox="1"/>
          <p:nvPr/>
        </p:nvSpPr>
        <p:spPr>
          <a:xfrm>
            <a:off x="7452360" y="3950208"/>
            <a:ext cx="4005072"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Nota sull’uso lecito</a:t>
            </a:r>
            <a:endParaRPr lang="en-US" sz="1600" dirty="0"/>
          </a:p>
        </p:txBody>
      </p:sp>
      <p:sp>
        <p:nvSpPr>
          <p:cNvPr id="21" name="card-body"/>
          <p:cNvSpPr txBox="1"/>
          <p:nvPr/>
        </p:nvSpPr>
        <p:spPr>
          <a:xfrm>
            <a:off x="6812280" y="4572000"/>
            <a:ext cx="4599432" cy="1234440"/>
          </a:xfrm>
          <a:prstGeom prst="rect">
            <a:avLst/>
          </a:prstGeom>
          <a:noFill/>
          <a:ln/>
        </p:spPr>
        <p:txBody>
          <a:bodyPr wrap="square" lIns="0" tIns="0" rIns="0" bIns="0" rtlCol="0" anchor="t"/>
          <a:lstStyle/>
          <a:p>
            <a:pPr marL="0" indent="0">
              <a:buNone/>
            </a:pPr>
            <a:r>
              <a:rPr lang="en-US" sz="1400" dirty="0">
                <a:solidFill>
                  <a:schemeClr val="tx2"/>
                </a:solidFill>
              </a:rPr>
              <a:t>Lo sniffer deve essere utilizzato esclusivamente sulla propria rete, in un ambiente di laboratorio o con un’autorizzazione esplicita. L’intercettazione del traffico di reti o dispositivi altrui senza autorizzazione non è consentita.</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5 · STRUMENTO DI CATTURA DEI SOCKET DI RETE (SNIFFER)</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Test dello sniffer</a:t>
            </a:r>
            <a:endParaRPr lang="en-US" sz="3000" dirty="0"/>
          </a:p>
        </p:txBody>
      </p:sp>
      <p:pic>
        <p:nvPicPr>
          <p:cNvPr id="4" name="img-f8" descr="Ping verso 8.8.8.8"/>
          <p:cNvPicPr>
            <a:picLocks noChangeAspect="1"/>
          </p:cNvPicPr>
          <p:nvPr/>
        </p:nvPicPr>
        <p:blipFill>
          <a:blip r:embed="rId3"/>
          <a:stretch>
            <a:fillRect/>
          </a:stretch>
        </p:blipFill>
        <p:spPr>
          <a:xfrm>
            <a:off x="548640" y="1615274"/>
            <a:ext cx="3931920" cy="1524331"/>
          </a:xfrm>
          <a:prstGeom prst="rect">
            <a:avLst/>
          </a:prstGeom>
        </p:spPr>
      </p:pic>
      <p:sp>
        <p:nvSpPr>
          <p:cNvPr id="5" name="caption"/>
          <p:cNvSpPr txBox="1"/>
          <p:nvPr/>
        </p:nvSpPr>
        <p:spPr>
          <a:xfrm>
            <a:off x="548640" y="3383280"/>
            <a:ext cx="3931920"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8 – </a:t>
            </a:r>
            <a:r>
              <a:rPr lang="en-US" sz="1100" i="1" dirty="0">
                <a:solidFill>
                  <a:schemeClr val="accent4"/>
                </a:solidFill>
              </a:rPr>
              <a:t>Esecuzione del comando ping verso 8.8.8.8 da un secondo terminale.</a:t>
            </a:r>
            <a:endParaRPr lang="en-US" sz="1100" dirty="0"/>
          </a:p>
        </p:txBody>
      </p:sp>
      <p:sp>
        <p:nvSpPr>
          <p:cNvPr id="6" name="body-text"/>
          <p:cNvSpPr txBox="1"/>
          <p:nvPr/>
        </p:nvSpPr>
        <p:spPr>
          <a:xfrm>
            <a:off x="548640" y="4023360"/>
            <a:ext cx="3931920" cy="1645920"/>
          </a:xfrm>
          <a:prstGeom prst="rect">
            <a:avLst/>
          </a:prstGeom>
          <a:noFill/>
          <a:ln/>
        </p:spPr>
        <p:txBody>
          <a:bodyPr wrap="square" lIns="0" tIns="0" rIns="0" bIns="0" rtlCol="0" anchor="ctr"/>
          <a:lstStyle/>
          <a:p>
            <a:pPr marL="0" indent="0">
              <a:buNone/>
            </a:pPr>
            <a:r>
              <a:rPr lang="en-US" sz="1500" dirty="0">
                <a:solidFill>
                  <a:schemeClr val="tx2"/>
                </a:solidFill>
              </a:rPr>
              <a:t>Mentre lo sniffer è in esecuzione, il ping da un secondo terminale genera traffico ICMP; nell’output compaiono frame non IPv4, datagrammi UDP e messaggi ICMP.</a:t>
            </a:r>
            <a:endParaRPr lang="en-US" sz="1500" dirty="0"/>
          </a:p>
        </p:txBody>
      </p:sp>
      <p:pic>
        <p:nvPicPr>
          <p:cNvPr id="7" name="img-f9a" descr="Output dello sniffer, parte 1"/>
          <p:cNvPicPr>
            <a:picLocks noChangeAspect="1"/>
          </p:cNvPicPr>
          <p:nvPr/>
        </p:nvPicPr>
        <p:blipFill>
          <a:blip r:embed="rId4"/>
          <a:stretch>
            <a:fillRect/>
          </a:stretch>
        </p:blipFill>
        <p:spPr>
          <a:xfrm>
            <a:off x="4754880" y="1935253"/>
            <a:ext cx="3383280" cy="3307535"/>
          </a:xfrm>
          <a:prstGeom prst="rect">
            <a:avLst/>
          </a:prstGeom>
        </p:spPr>
      </p:pic>
      <p:pic>
        <p:nvPicPr>
          <p:cNvPr id="8" name="img-f9b" descr="Output dello sniffer, parte 2"/>
          <p:cNvPicPr>
            <a:picLocks noChangeAspect="1"/>
          </p:cNvPicPr>
          <p:nvPr/>
        </p:nvPicPr>
        <p:blipFill>
          <a:blip r:embed="rId5"/>
          <a:stretch>
            <a:fillRect/>
          </a:stretch>
        </p:blipFill>
        <p:spPr>
          <a:xfrm>
            <a:off x="8257032" y="1844100"/>
            <a:ext cx="3383280" cy="3489840"/>
          </a:xfrm>
          <a:prstGeom prst="rect">
            <a:avLst/>
          </a:prstGeom>
        </p:spPr>
      </p:pic>
      <p:sp>
        <p:nvSpPr>
          <p:cNvPr id="9" name="caption"/>
          <p:cNvSpPr txBox="1"/>
          <p:nvPr/>
        </p:nvSpPr>
        <p:spPr>
          <a:xfrm>
            <a:off x="4754880" y="5897880"/>
            <a:ext cx="6885432"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9 – </a:t>
            </a:r>
            <a:r>
              <a:rPr lang="en-US" sz="1100" i="1" dirty="0">
                <a:solidFill>
                  <a:schemeClr val="accent4"/>
                </a:solidFill>
              </a:rPr>
              <a:t>Output dello sniffer: frame non IPv4, datagrammi UDP e messaggi ICMP.</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463040"/>
          </a:xfrm>
          <a:prstGeom prst="rect">
            <a:avLst/>
          </a:prstGeom>
          <a:noFill/>
          <a:ln/>
        </p:spPr>
        <p:txBody>
          <a:bodyPr wrap="square" lIns="0" tIns="0" rIns="0" bIns="0" rtlCol="0"/>
          <a:lstStyle/>
          <a:p>
            <a:pPr marL="0" indent="0" algn="l">
              <a:buNone/>
            </a:pPr>
            <a:r>
              <a:rPr lang="en-US" sz="9600" b="1" dirty="0">
                <a:solidFill>
                  <a:schemeClr val="accent3"/>
                </a:solidFill>
                <a:latin typeface="Arial" pitchFamily="34" charset="0"/>
                <a:ea typeface="Arial" pitchFamily="34" charset="-122"/>
                <a:cs typeface="Arial" pitchFamily="34" charset="-120"/>
              </a:rPr>
              <a:t>06</a:t>
            </a:r>
            <a:endParaRPr lang="en-US" sz="9600" dirty="0"/>
          </a:p>
        </p:txBody>
      </p:sp>
      <p:sp>
        <p:nvSpPr>
          <p:cNvPr id="3" name="Text 0"/>
          <p:cNvSpPr>
            <a:spLocks noGrp="1"/>
          </p:cNvSpPr>
          <p:nvPr>
            <p:ph type="title" idx="101" hasCustomPrompt="1"/>
          </p:nvPr>
        </p:nvSpPr>
        <p:spPr>
          <a:xfrm>
            <a:off x="548640" y="2651760"/>
            <a:ext cx="6583680" cy="1097280"/>
          </a:xfrm>
          <a:prstGeom prst="rect">
            <a:avLst/>
          </a:prstGeom>
          <a:noFill/>
          <a:ln/>
        </p:spPr>
        <p:txBody>
          <a:bodyPr wrap="square" lIns="0" tIns="0" rIns="0" bIns="0" rtlCol="0" anchor="t"/>
          <a:lstStyle/>
          <a:p>
            <a:pPr marL="0" indent="0" algn="l">
              <a:buNone/>
            </a:pPr>
            <a:r>
              <a:rPr lang="en-US" sz="4000" b="1" dirty="0">
                <a:solidFill>
                  <a:schemeClr val="bg1"/>
                </a:solidFill>
                <a:latin typeface="Arial" pitchFamily="34" charset="0"/>
                <a:ea typeface="Arial" pitchFamily="34" charset="-122"/>
                <a:cs typeface="Arial" pitchFamily="34" charset="-120"/>
              </a:rPr>
              <a:t>Preventivo di spesa</a:t>
            </a:r>
            <a:endParaRPr lang="en-US" sz="4000" dirty="0"/>
          </a:p>
        </p:txBody>
      </p:sp>
      <p:sp>
        <p:nvSpPr>
          <p:cNvPr id="4" name="Text 0"/>
          <p:cNvSpPr>
            <a:spLocks noGrp="1"/>
          </p:cNvSpPr>
          <p:nvPr>
            <p:ph type="body" idx="102" hasCustomPrompt="1"/>
          </p:nvPr>
        </p:nvSpPr>
        <p:spPr>
          <a:xfrm>
            <a:off x="7589520" y="1280160"/>
            <a:ext cx="4023360" cy="4389120"/>
          </a:xfrm>
          <a:prstGeom prst="rect">
            <a:avLst/>
          </a:prstGeom>
          <a:noFill/>
          <a:ln/>
        </p:spPr>
        <p:txBody>
          <a:bodyPr wrap="square" lIns="0" tIns="0" rIns="0" bIns="0" rtlCol="0" anchor="ctr"/>
          <a:lstStyle/>
          <a:p>
            <a:pPr marL="0" indent="0" algn="l">
              <a:spcAft>
                <a:spcPts val="800"/>
              </a:spcAft>
              <a:buNone/>
            </a:pPr>
            <a:r>
              <a:rPr lang="en-US" sz="1500" dirty="0">
                <a:solidFill>
                  <a:schemeClr val="accent5"/>
                </a:solidFill>
              </a:rPr>
              <a:t>Preventivo n. 00001 – Edificio A (Sede 1)</a:t>
            </a:r>
            <a:endParaRPr lang="en-US" sz="1500" dirty="0"/>
          </a:p>
          <a:p>
            <a:pPr marL="0" indent="0" algn="l">
              <a:spcAft>
                <a:spcPts val="800"/>
              </a:spcAft>
              <a:buNone/>
            </a:pPr>
            <a:r>
              <a:rPr lang="en-US" sz="1500" dirty="0">
                <a:solidFill>
                  <a:schemeClr val="accent5"/>
                </a:solidFill>
              </a:rPr>
              <a:t>Preventivo n. 00002 – Edificio B (Sede 2)</a:t>
            </a:r>
            <a:endParaRPr lang="en-US" sz="1500" dirty="0"/>
          </a:p>
          <a:p>
            <a:pPr marL="0" indent="0" algn="l">
              <a:spcAft>
                <a:spcPts val="800"/>
              </a:spcAft>
              <a:buNone/>
            </a:pPr>
            <a:r>
              <a:rPr lang="en-US" sz="1500" dirty="0">
                <a:solidFill>
                  <a:schemeClr val="accent5"/>
                </a:solidFill>
              </a:rPr>
              <a:t>Preventivo n. 00003 – Giunzione A/B (collegamento tra le sedi)</a:t>
            </a:r>
            <a:endParaRPr lang="en-US" sz="1500" dirty="0"/>
          </a:p>
          <a:p>
            <a:pPr marL="0" indent="0" algn="l">
              <a:spcAft>
                <a:spcPts val="800"/>
              </a:spcAft>
              <a:buNone/>
            </a:pPr>
            <a:r>
              <a:rPr lang="en-US" sz="1500" dirty="0">
                <a:solidFill>
                  <a:schemeClr val="accent5"/>
                </a:solidFill>
              </a:rPr>
              <a:t>Riepilogo complessivo e condizioni</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6 · PREVENTIVO DI SPESA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Edificio A – Sede 1, sei piani, 120 postazioni (prev. n. 00001)</a:t>
            </a:r>
            <a:endParaRPr lang="en-US" sz="3000" dirty="0"/>
          </a:p>
        </p:txBody>
      </p:sp>
      <p:graphicFrame>
        <p:nvGraphicFramePr>
          <p:cNvPr id="5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4846320"/>
        </p:xfrm>
        <a:graphic>
          <a:graphicData uri="http://schemas.openxmlformats.org/drawingml/2006/table">
            <a:tbl>
              <a:tblPr/>
              <a:tblGrid>
                <a:gridCol w="46634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493215">
                  <a:extLst>
                    <a:ext uri="{9D8B030D-6E8A-4147-A177-3AD203B41FA5}">
                      <a16:colId xmlns:a16="http://schemas.microsoft.com/office/drawing/2014/main" val="20005"/>
                    </a:ext>
                  </a:extLst>
                </a:gridCol>
              </a:tblGrid>
              <a:tr h="365760">
                <a:tc>
                  <a:txBody>
                    <a:bodyPr/>
                    <a:lstStyle/>
                    <a:p>
                      <a:pPr marL="0" indent="0">
                        <a:buNone/>
                      </a:pPr>
                      <a:r>
                        <a:rPr lang="en-US" sz="1200" b="1" dirty="0">
                          <a:solidFill>
                            <a:schemeClr val="bg1"/>
                          </a:solidFill>
                        </a:rPr>
                        <a:t>Descrizione</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Prezzo</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Quantità</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Imponibile</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IVA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IVA</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chemeClr val="tx2"/>
                          </a:solidFill>
                        </a:rPr>
                        <a:t>Switch di accesso 24 porte, uno per piano (Cisco WS-C2960X-24TS-LL)</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459,50 €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6</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2.757,00 €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22%</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606,54 €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indent="0">
                        <a:buNone/>
                      </a:pPr>
                      <a:r>
                        <a:rPr lang="en-US" sz="1200" dirty="0">
                          <a:solidFill>
                            <a:schemeClr val="tx2"/>
                          </a:solidFill>
                        </a:rPr>
                        <a:t>Web server (DVWA) in DMZ (Lenovo ThinkSystem ST45 V3)</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3.684,00 €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3.684,00 €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22%</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810,48 €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65760">
                <a:tc>
                  <a:txBody>
                    <a:bodyPr/>
                    <a:lstStyle/>
                    <a:p>
                      <a:pPr marL="0" indent="0">
                        <a:buNone/>
                      </a:pPr>
                      <a:r>
                        <a:rPr lang="en-US" sz="1200" dirty="0">
                          <a:solidFill>
                            <a:schemeClr val="tx2"/>
                          </a:solidFill>
                        </a:rPr>
                        <a:t>Firewall perimetrale (Cisco Secure Firewall 220)</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981,00 €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981,00 €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22%</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215,82 €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indent="0">
                        <a:buNone/>
                      </a:pPr>
                      <a:r>
                        <a:rPr lang="en-US" sz="1200" dirty="0">
                          <a:solidFill>
                            <a:schemeClr val="tx2"/>
                          </a:solidFill>
                        </a:rPr>
                        <a:t>NAS (Cisco NSS326D00-K9)</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952,00 €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952,00 €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22%</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209,44 €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65760">
                <a:tc>
                  <a:txBody>
                    <a:bodyPr/>
                    <a:lstStyle/>
                    <a:p>
                      <a:pPr marL="0" indent="0">
                        <a:buNone/>
                      </a:pPr>
                      <a:r>
                        <a:rPr lang="en-US" sz="1200" dirty="0">
                          <a:solidFill>
                            <a:schemeClr val="tx2"/>
                          </a:solidFill>
                        </a:rPr>
                        <a:t>IPS dedicato tra firewall e DVWA (Cisco 1802/K9-RF)</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780,00 €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780,00 €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22%</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171,60 €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65760">
                <a:tc>
                  <a:txBody>
                    <a:bodyPr/>
                    <a:lstStyle/>
                    <a:p>
                      <a:pPr marL="0" indent="0">
                        <a:buNone/>
                      </a:pPr>
                      <a:r>
                        <a:rPr lang="en-US" sz="1200" dirty="0">
                          <a:solidFill>
                            <a:schemeClr val="tx2"/>
                          </a:solidFill>
                        </a:rPr>
                        <a:t>Router edge con funzione IPS integrata (Cisco ISR4331/K9)</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297,00 €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297,00 €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22%</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65,34 €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65760">
                <a:tc>
                  <a:txBody>
                    <a:bodyPr/>
                    <a:lstStyle/>
                    <a:p>
                      <a:pPr marL="0" indent="0">
                        <a:buNone/>
                      </a:pPr>
                      <a:r>
                        <a:rPr lang="en-US" sz="1200" dirty="0">
                          <a:solidFill>
                            <a:schemeClr val="tx2"/>
                          </a:solidFill>
                        </a:rPr>
                        <a:t>Switch Multilayer 24 porte PoE con 4 porte SFP (Cisco WS-C3560G-24PS-S)</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1.305,00 €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2.610,00 €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22%</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574,20 €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65760">
                <a:tc>
                  <a:txBody>
                    <a:bodyPr/>
                    <a:lstStyle/>
                    <a:p>
                      <a:pPr marL="0" indent="0">
                        <a:buNone/>
                      </a:pPr>
                      <a:r>
                        <a:rPr lang="en-US" sz="1200" dirty="0">
                          <a:solidFill>
                            <a:schemeClr val="tx2"/>
                          </a:solidFill>
                        </a:rPr>
                        <a:t>Modulo ottico SFP+ multimodale 10GBASE-SR 850 nm, LC duplex</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35,00 €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70,00 €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22%</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15,40 €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65760">
                <a:tc>
                  <a:txBody>
                    <a:bodyPr/>
                    <a:lstStyle/>
                    <a:p>
                      <a:pPr marL="0" indent="0">
                        <a:buNone/>
                      </a:pPr>
                      <a:r>
                        <a:rPr lang="en-US" sz="1200" dirty="0">
                          <a:solidFill>
                            <a:schemeClr val="tx2"/>
                          </a:solidFill>
                        </a:rPr>
                        <a:t>Cablaggio strutturato</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8,00 €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5000 m</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40.000,00 €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22%</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8.800,00 €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65760">
                <a:tc>
                  <a:txBody>
                    <a:bodyPr/>
                    <a:lstStyle/>
                    <a:p>
                      <a:pPr marL="0" indent="0">
                        <a:buNone/>
                      </a:pPr>
                      <a:r>
                        <a:rPr lang="en-US" sz="1200" dirty="0">
                          <a:solidFill>
                            <a:schemeClr val="tx2"/>
                          </a:solidFill>
                        </a:rPr>
                        <a:t>Manodopera: installazione, configurazione e messa in servizio</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a corpo</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8.000,00 €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22%</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1.760,00 €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10"/>
                  </a:ext>
                </a:extLst>
              </a:tr>
              <a:tr h="365760">
                <a:tc>
                  <a:txBody>
                    <a:bodyPr/>
                    <a:lstStyle/>
                    <a:p>
                      <a:pPr marL="0" indent="0">
                        <a:buNone/>
                      </a:pPr>
                      <a:r>
                        <a:rPr lang="en-US" sz="1200" b="1" dirty="0">
                          <a:solidFill>
                            <a:schemeClr val="tx2"/>
                          </a:solidFill>
                        </a:rPr>
                        <a:t>Totale Edificio A</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b="1" dirty="0">
                          <a:solidFill>
                            <a:schemeClr val="tx2"/>
                          </a:solidFill>
                        </a:rPr>
                        <a:t>60.131,00 €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b="1" dirty="0">
                          <a:solidFill>
                            <a:schemeClr val="tx2"/>
                          </a:solidFill>
                        </a:rPr>
                        <a:t>13.228,82 €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365760">
                <a:tc>
                  <a:txBody>
                    <a:bodyPr/>
                    <a:lstStyle/>
                    <a:p>
                      <a:pPr marL="0" indent="0">
                        <a:buNone/>
                      </a:pPr>
                      <a:r>
                        <a:rPr lang="en-US" sz="1200" b="1" dirty="0">
                          <a:solidFill>
                            <a:schemeClr val="bg1"/>
                          </a:solidFill>
                        </a:rPr>
                        <a:t>Totale Edificio A IVA inclusa</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lgn="r">
                        <a:buNone/>
                      </a:pPr>
                      <a:r>
                        <a:rPr lang="en-US" sz="1200" b="1" dirty="0">
                          <a:solidFill>
                            <a:schemeClr val="bg1"/>
                          </a:solidFill>
                        </a:rPr>
                        <a:t>73.359,82 €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extLst>
                  <a:ext uri="{0D108BD9-81ED-4DB2-BD59-A6C34878D82A}">
                    <a16:rowId xmlns:a16="http://schemas.microsoft.com/office/drawing/2014/main" val="10012"/>
                  </a:ext>
                </a:extLst>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6 · PREVENTIVO DI SPESA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Edificio B – Sede 2, tre piani, 90 postazioni (prev. n. 00002)</a:t>
            </a:r>
            <a:endParaRPr lang="en-US" sz="3000" dirty="0"/>
          </a:p>
        </p:txBody>
      </p:sp>
      <p:graphicFrame>
        <p:nvGraphicFramePr>
          <p:cNvPr id="59"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4023360"/>
        </p:xfrm>
        <a:graphic>
          <a:graphicData uri="http://schemas.openxmlformats.org/drawingml/2006/table">
            <a:tbl>
              <a:tblPr/>
              <a:tblGrid>
                <a:gridCol w="46634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493215">
                  <a:extLst>
                    <a:ext uri="{9D8B030D-6E8A-4147-A177-3AD203B41FA5}">
                      <a16:colId xmlns:a16="http://schemas.microsoft.com/office/drawing/2014/main" val="20005"/>
                    </a:ext>
                  </a:extLst>
                </a:gridCol>
              </a:tblGrid>
              <a:tr h="502920">
                <a:tc>
                  <a:txBody>
                    <a:bodyPr/>
                    <a:lstStyle/>
                    <a:p>
                      <a:pPr marL="0" indent="0">
                        <a:buNone/>
                      </a:pPr>
                      <a:r>
                        <a:rPr lang="en-US" sz="1300" b="1" dirty="0">
                          <a:solidFill>
                            <a:schemeClr val="bg1"/>
                          </a:solidFill>
                        </a:rPr>
                        <a:t>Descrizione</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Prezzo</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Quantità</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Imponibile</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IVA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IVA</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300" dirty="0">
                          <a:solidFill>
                            <a:schemeClr val="tx2"/>
                          </a:solidFill>
                        </a:rPr>
                        <a:t>Switch di accesso 48 porte con uplink SFP+, uno per piano (S3900-48T5S-R)</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535,00 €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3</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1.605,00 €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22%</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353,10 €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2920">
                <a:tc>
                  <a:txBody>
                    <a:bodyPr/>
                    <a:lstStyle/>
                    <a:p>
                      <a:pPr marL="0" indent="0">
                        <a:buNone/>
                      </a:pPr>
                      <a:r>
                        <a:rPr lang="en-US" sz="1300" dirty="0">
                          <a:solidFill>
                            <a:schemeClr val="tx2"/>
                          </a:solidFill>
                        </a:rPr>
                        <a:t>Switch Multilayer 24 porte PoE con 4 porte SFP (Cisco WS-C3560G-24PS-S)</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2"/>
                          </a:solidFill>
                        </a:rPr>
                        <a:t>1.305,00 €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2"/>
                          </a:solidFill>
                        </a:rPr>
                        <a:t>2</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2"/>
                          </a:solidFill>
                        </a:rPr>
                        <a:t>2.610,00 €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2"/>
                          </a:solidFill>
                        </a:rPr>
                        <a:t>22%</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2"/>
                          </a:solidFill>
                        </a:rPr>
                        <a:t>574,20 €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buNone/>
                      </a:pPr>
                      <a:r>
                        <a:rPr lang="en-US" sz="1300" dirty="0">
                          <a:solidFill>
                            <a:schemeClr val="tx2"/>
                          </a:solidFill>
                        </a:rPr>
                        <a:t>Modulo ottico SFP+ multimodale 10GBASE-SR 850 nm, LC duplex</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35,00 €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2</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70,00 €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22%</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15,40 €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buNone/>
                      </a:pPr>
                      <a:r>
                        <a:rPr lang="en-US" sz="1300" dirty="0">
                          <a:solidFill>
                            <a:schemeClr val="tx2"/>
                          </a:solidFill>
                        </a:rPr>
                        <a:t>Cablaggio strutturato</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2"/>
                          </a:solidFill>
                        </a:rPr>
                        <a:t>8,00 €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2"/>
                          </a:solidFill>
                        </a:rPr>
                        <a:t>2500 m</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2"/>
                          </a:solidFill>
                        </a:rPr>
                        <a:t>20.000,00 €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2"/>
                          </a:solidFill>
                        </a:rPr>
                        <a:t>22%</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2"/>
                          </a:solidFill>
                        </a:rPr>
                        <a:t>4.400,00 €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02920">
                <a:tc>
                  <a:txBody>
                    <a:bodyPr/>
                    <a:lstStyle/>
                    <a:p>
                      <a:pPr marL="0" indent="0">
                        <a:buNone/>
                      </a:pPr>
                      <a:r>
                        <a:rPr lang="en-US" sz="1300" dirty="0">
                          <a:solidFill>
                            <a:schemeClr val="tx2"/>
                          </a:solidFill>
                        </a:rPr>
                        <a:t>Manodopera: installazione, configurazione e messa in servizio</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a corpo</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1</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4.000,00 €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22%</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2"/>
                          </a:solidFill>
                        </a:rPr>
                        <a:t>880,00 €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02920">
                <a:tc>
                  <a:txBody>
                    <a:bodyPr/>
                    <a:lstStyle/>
                    <a:p>
                      <a:pPr marL="0" indent="0">
                        <a:buNone/>
                      </a:pPr>
                      <a:r>
                        <a:rPr lang="en-US" sz="1300" b="1" dirty="0">
                          <a:solidFill>
                            <a:schemeClr val="tx2"/>
                          </a:solidFill>
                        </a:rPr>
                        <a:t>Totale Edificio B</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300" b="1" dirty="0">
                          <a:solidFill>
                            <a:schemeClr val="tx2"/>
                          </a:solidFill>
                        </a:rPr>
                        <a:t>28.285,00 €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300" b="1" dirty="0">
                          <a:solidFill>
                            <a:schemeClr val="tx2"/>
                          </a:solidFill>
                        </a:rPr>
                        <a:t>6.222,70 €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502920">
                <a:tc>
                  <a:txBody>
                    <a:bodyPr/>
                    <a:lstStyle/>
                    <a:p>
                      <a:pPr marL="0" indent="0">
                        <a:buNone/>
                      </a:pPr>
                      <a:r>
                        <a:rPr lang="en-US" sz="1300" b="1" dirty="0">
                          <a:solidFill>
                            <a:schemeClr val="bg1"/>
                          </a:solidFill>
                        </a:rPr>
                        <a:t>Totale Edificio B IVA inclusa</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buNone/>
                      </a:pP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buNone/>
                      </a:pP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buNone/>
                      </a:pP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buNone/>
                      </a:pP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lgn="r">
                        <a:buNone/>
                      </a:pPr>
                      <a:r>
                        <a:rPr lang="en-US" sz="1300" b="1" dirty="0">
                          <a:solidFill>
                            <a:schemeClr val="bg1"/>
                          </a:solidFill>
                        </a:rPr>
                        <a:t>34.507,70 €</a:t>
                      </a:r>
                      <a:endParaRPr lang="en-US" sz="13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6 · PREVENTIVO DI SPESA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Giunzione A/B – fibra tra le sedi, ~250 m (prev. n. 00003)</a:t>
            </a:r>
            <a:endParaRPr lang="en-US" sz="3000" dirty="0"/>
          </a:p>
        </p:txBody>
      </p:sp>
      <p:graphicFrame>
        <p:nvGraphicFramePr>
          <p:cNvPr id="6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4754880"/>
        </p:xfrm>
        <a:graphic>
          <a:graphicData uri="http://schemas.openxmlformats.org/drawingml/2006/table">
            <a:tbl>
              <a:tblPr/>
              <a:tblGrid>
                <a:gridCol w="46634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493215">
                  <a:extLst>
                    <a:ext uri="{9D8B030D-6E8A-4147-A177-3AD203B41FA5}">
                      <a16:colId xmlns:a16="http://schemas.microsoft.com/office/drawing/2014/main" val="20005"/>
                    </a:ext>
                  </a:extLst>
                </a:gridCol>
              </a:tblGrid>
              <a:tr h="365760">
                <a:tc>
                  <a:txBody>
                    <a:bodyPr/>
                    <a:lstStyle/>
                    <a:p>
                      <a:pPr marL="0" indent="0">
                        <a:buNone/>
                      </a:pPr>
                      <a:r>
                        <a:rPr lang="en-US" sz="1200" b="1" dirty="0">
                          <a:solidFill>
                            <a:schemeClr val="bg1"/>
                          </a:solidFill>
                        </a:rPr>
                        <a:t>Descrizione</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Prezzo</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Quantità</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Imponibile</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IVA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IVA</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chemeClr val="tx2"/>
                          </a:solidFill>
                        </a:rPr>
                        <a:t>Pratica e progettazione</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a corpo</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1.800,00 €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22%</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396,00 €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indent="0">
                        <a:buNone/>
                      </a:pPr>
                      <a:r>
                        <a:rPr lang="en-US" sz="1200" dirty="0">
                          <a:solidFill>
                            <a:schemeClr val="tx2"/>
                          </a:solidFill>
                        </a:rPr>
                        <a:t>Indagine preventiva dei sottoservizi</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2,50 €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250 m</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625,00 €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10%</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62,50 €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65760">
                <a:tc>
                  <a:txBody>
                    <a:bodyPr/>
                    <a:lstStyle/>
                    <a:p>
                      <a:pPr marL="0" indent="0">
                        <a:buNone/>
                      </a:pPr>
                      <a:r>
                        <a:rPr lang="en-US" sz="1200" dirty="0">
                          <a:solidFill>
                            <a:schemeClr val="tx2"/>
                          </a:solidFill>
                        </a:rPr>
                        <a:t>Scavo in minitrincea</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35,00 €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250 m</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8.750,00 €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10%</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875,00 €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indent="0">
                        <a:buNone/>
                      </a:pPr>
                      <a:r>
                        <a:rPr lang="en-US" sz="1200" dirty="0">
                          <a:solidFill>
                            <a:schemeClr val="tx2"/>
                          </a:solidFill>
                        </a:rPr>
                        <a:t>Fornitura e posa del tritubo</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12,00 €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250 m</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3.000,00 €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10%</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300,00 €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65760">
                <a:tc>
                  <a:txBody>
                    <a:bodyPr/>
                    <a:lstStyle/>
                    <a:p>
                      <a:pPr marL="0" indent="0">
                        <a:buNone/>
                      </a:pPr>
                      <a:r>
                        <a:rPr lang="en-US" sz="1200" dirty="0">
                          <a:solidFill>
                            <a:schemeClr val="tx2"/>
                          </a:solidFill>
                        </a:rPr>
                        <a:t>Pozzetti d’ispezione</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700,00 €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3</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2.100,00 €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10%</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210,00 €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65760">
                <a:tc>
                  <a:txBody>
                    <a:bodyPr/>
                    <a:lstStyle/>
                    <a:p>
                      <a:pPr marL="0" indent="0">
                        <a:buNone/>
                      </a:pPr>
                      <a:r>
                        <a:rPr lang="en-US" sz="1200" dirty="0">
                          <a:solidFill>
                            <a:schemeClr val="tx2"/>
                          </a:solidFill>
                        </a:rPr>
                        <a:t>Riempimento con malta</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18,00 €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250 m</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4.500,00 €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10%</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450,00 €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65760">
                <a:tc>
                  <a:txBody>
                    <a:bodyPr/>
                    <a:lstStyle/>
                    <a:p>
                      <a:pPr marL="0" indent="0">
                        <a:buNone/>
                      </a:pPr>
                      <a:r>
                        <a:rPr lang="en-US" sz="1200" dirty="0">
                          <a:solidFill>
                            <a:schemeClr val="tx2"/>
                          </a:solidFill>
                        </a:rPr>
                        <a:t>Fibra ottica multimodale</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5,00 €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250 m</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1.250,00 €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10%</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125,00 €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65760">
                <a:tc>
                  <a:txBody>
                    <a:bodyPr/>
                    <a:lstStyle/>
                    <a:p>
                      <a:pPr marL="0" indent="0">
                        <a:buNone/>
                      </a:pPr>
                      <a:r>
                        <a:rPr lang="en-US" sz="1200" dirty="0">
                          <a:solidFill>
                            <a:schemeClr val="tx2"/>
                          </a:solidFill>
                        </a:rPr>
                        <a:t>Ripristino del manto stradale</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25,00 €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250 m</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6.250,00 €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10%</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625,00 €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65760">
                <a:tc>
                  <a:txBody>
                    <a:bodyPr/>
                    <a:lstStyle/>
                    <a:p>
                      <a:pPr marL="0" indent="0">
                        <a:buNone/>
                      </a:pPr>
                      <a:r>
                        <a:rPr lang="en-US" sz="1200" dirty="0">
                          <a:solidFill>
                            <a:schemeClr val="tx2"/>
                          </a:solidFill>
                        </a:rPr>
                        <a:t>Collaudo e certificazione del collegamento</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a corpo</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1.500,00 €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10%</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2"/>
                          </a:solidFill>
                        </a:rPr>
                        <a:t>150,00 €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65760">
                <a:tc>
                  <a:txBody>
                    <a:bodyPr/>
                    <a:lstStyle/>
                    <a:p>
                      <a:pPr marL="0" indent="0">
                        <a:buNone/>
                      </a:pPr>
                      <a:r>
                        <a:rPr lang="en-US" sz="1200" dirty="0">
                          <a:solidFill>
                            <a:schemeClr val="tx2"/>
                          </a:solidFill>
                        </a:rPr>
                        <a:t>Sicurezza del cantiere</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a corpo</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1.500,00 €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10%</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lgn="r">
                        <a:buNone/>
                      </a:pPr>
                      <a:r>
                        <a:rPr lang="en-US" sz="1200" dirty="0">
                          <a:solidFill>
                            <a:schemeClr val="tx2"/>
                          </a:solidFill>
                        </a:rPr>
                        <a:t>150,00 €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10"/>
                  </a:ext>
                </a:extLst>
              </a:tr>
              <a:tr h="365760">
                <a:tc>
                  <a:txBody>
                    <a:bodyPr/>
                    <a:lstStyle/>
                    <a:p>
                      <a:pPr marL="0" indent="0">
                        <a:buNone/>
                      </a:pPr>
                      <a:r>
                        <a:rPr lang="en-US" sz="1200" b="1" dirty="0">
                          <a:solidFill>
                            <a:schemeClr val="tx2"/>
                          </a:solidFill>
                        </a:rPr>
                        <a:t>Totale Giunzione A/B</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b="1" dirty="0">
                          <a:solidFill>
                            <a:schemeClr val="tx2"/>
                          </a:solidFill>
                        </a:rPr>
                        <a:t>31.275,00 €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lgn="r">
                        <a:buNone/>
                      </a:pPr>
                      <a:r>
                        <a:rPr lang="en-US" sz="1200" b="1" dirty="0">
                          <a:solidFill>
                            <a:schemeClr val="tx2"/>
                          </a:solidFill>
                        </a:rPr>
                        <a:t>3.343,50 €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365760">
                <a:tc>
                  <a:txBody>
                    <a:bodyPr/>
                    <a:lstStyle/>
                    <a:p>
                      <a:pPr marL="0" indent="0">
                        <a:buNone/>
                      </a:pPr>
                      <a:r>
                        <a:rPr lang="en-US" sz="1200" b="1" dirty="0">
                          <a:solidFill>
                            <a:schemeClr val="bg1"/>
                          </a:solidFill>
                        </a:rPr>
                        <a:t>Totale Giunzione A/B IVA inclusa</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buNone/>
                      </a:pP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tc>
                  <a:txBody>
                    <a:bodyPr/>
                    <a:lstStyle/>
                    <a:p>
                      <a:pPr marL="0" indent="0" algn="r">
                        <a:buNone/>
                      </a:pPr>
                      <a:r>
                        <a:rPr lang="en-US" sz="1200" b="1" dirty="0">
                          <a:solidFill>
                            <a:schemeClr val="bg1"/>
                          </a:solidFill>
                        </a:rPr>
                        <a:t>34.618,50 €</a:t>
                      </a:r>
                      <a:endParaRPr lang="en-US" sz="12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accent1"/>
                    </a:solidFill>
                  </a:tcPr>
                </a:tc>
                <a:extLst>
                  <a:ext uri="{0D108BD9-81ED-4DB2-BD59-A6C34878D82A}">
                    <a16:rowId xmlns:a16="http://schemas.microsoft.com/office/drawing/2014/main" val="10012"/>
                  </a:ext>
                </a:extLst>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6 · PREVENTIVO DI SPESA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Riepilogo complessivo</a:t>
            </a:r>
            <a:endParaRPr lang="en-US" sz="3000" dirty="0"/>
          </a:p>
        </p:txBody>
      </p:sp>
      <p:sp>
        <p:nvSpPr>
          <p:cNvPr id="4" name="intro"/>
          <p:cNvSpPr txBox="1"/>
          <p:nvPr/>
        </p:nvSpPr>
        <p:spPr>
          <a:xfrm>
            <a:off x="548640" y="1325880"/>
            <a:ext cx="11094415" cy="640080"/>
          </a:xfrm>
          <a:prstGeom prst="rect">
            <a:avLst/>
          </a:prstGeom>
          <a:noFill/>
          <a:ln/>
        </p:spPr>
        <p:txBody>
          <a:bodyPr wrap="square" lIns="0" tIns="0" rIns="0" bIns="0" rtlCol="0" anchor="ctr"/>
          <a:lstStyle/>
          <a:p>
            <a:pPr marL="0" indent="0">
              <a:buNone/>
            </a:pPr>
            <a:r>
              <a:rPr lang="en-US" sz="1400" dirty="0">
                <a:solidFill>
                  <a:schemeClr val="tx2"/>
                </a:solidFill>
              </a:rPr>
              <a:t>Il prospetto riunisce i preventivi n. 00001 (Edificio A – Sede 1), n. 00002 (Edificio B – Sede 2) e n. 00003 (Giunzione A/B – collegamento tra le sedi). Importi in euro; IVA al 22%, oppure al 10% per le opere di realizzazione del collegamento tra le sedi.</a:t>
            </a:r>
            <a:endParaRPr lang="en-US" sz="1400" dirty="0"/>
          </a:p>
        </p:txBody>
      </p:sp>
      <p:graphicFrame>
        <p:nvGraphicFramePr>
          <p:cNvPr id="5" name="Chart 0"/>
          <p:cNvGraphicFramePr/>
          <p:nvPr/>
        </p:nvGraphicFramePr>
        <p:xfrm>
          <a:off x="548640" y="2103120"/>
          <a:ext cx="58521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stat-bg"/>
          <p:cNvSpPr/>
          <p:nvPr/>
        </p:nvSpPr>
        <p:spPr>
          <a:xfrm>
            <a:off x="6766560" y="2148840"/>
            <a:ext cx="4873752" cy="1143000"/>
          </a:xfrm>
          <a:prstGeom prst="roundRect">
            <a:avLst>
              <a:gd name="adj" fmla="val 8000"/>
            </a:avLst>
          </a:prstGeom>
          <a:solidFill>
            <a:schemeClr val="bg2"/>
          </a:solidFill>
          <a:ln w="12700">
            <a:solidFill>
              <a:schemeClr val="bg2"/>
            </a:solidFill>
            <a:prstDash val="solid"/>
          </a:ln>
        </p:spPr>
      </p:sp>
      <p:sp>
        <p:nvSpPr>
          <p:cNvPr id="7" name="stat"/>
          <p:cNvSpPr txBox="1"/>
          <p:nvPr/>
        </p:nvSpPr>
        <p:spPr>
          <a:xfrm>
            <a:off x="7040880" y="2221992"/>
            <a:ext cx="4389120" cy="640080"/>
          </a:xfrm>
          <a:prstGeom prst="rect">
            <a:avLst/>
          </a:prstGeom>
          <a:noFill/>
          <a:ln/>
        </p:spPr>
        <p:txBody>
          <a:bodyPr wrap="square" lIns="0" tIns="0" rIns="0" bIns="0" rtlCol="0" anchor="ctr"/>
          <a:lstStyle/>
          <a:p>
            <a:pPr marL="0" indent="0">
              <a:buNone/>
            </a:pPr>
            <a:r>
              <a:rPr lang="en-US" sz="3000" b="1" dirty="0">
                <a:solidFill>
                  <a:schemeClr val="accent1"/>
                </a:solidFill>
                <a:latin typeface="Arial" pitchFamily="34" charset="0"/>
                <a:ea typeface="Arial" pitchFamily="34" charset="-122"/>
                <a:cs typeface="Arial" pitchFamily="34" charset="-120"/>
              </a:rPr>
              <a:t>119.691,00 €</a:t>
            </a:r>
            <a:endParaRPr lang="en-US" sz="3000" dirty="0"/>
          </a:p>
        </p:txBody>
      </p:sp>
      <p:sp>
        <p:nvSpPr>
          <p:cNvPr id="8" name="stat-label"/>
          <p:cNvSpPr txBox="1"/>
          <p:nvPr/>
        </p:nvSpPr>
        <p:spPr>
          <a:xfrm>
            <a:off x="7040880" y="2862072"/>
            <a:ext cx="4389120" cy="320040"/>
          </a:xfrm>
          <a:prstGeom prst="rect">
            <a:avLst/>
          </a:prstGeom>
          <a:noFill/>
          <a:ln/>
        </p:spPr>
        <p:txBody>
          <a:bodyPr wrap="square" lIns="0" tIns="0" rIns="0" bIns="0" rtlCol="0" anchor="ctr"/>
          <a:lstStyle/>
          <a:p>
            <a:pPr marL="0" indent="0">
              <a:buNone/>
            </a:pPr>
            <a:r>
              <a:rPr lang="en-US" sz="1300" dirty="0">
                <a:solidFill>
                  <a:schemeClr val="accent4"/>
                </a:solidFill>
              </a:rPr>
              <a:t>Totale imponibile</a:t>
            </a:r>
            <a:endParaRPr lang="en-US" sz="1300" dirty="0"/>
          </a:p>
        </p:txBody>
      </p:sp>
      <p:sp>
        <p:nvSpPr>
          <p:cNvPr id="9" name="stat-bg"/>
          <p:cNvSpPr/>
          <p:nvPr/>
        </p:nvSpPr>
        <p:spPr>
          <a:xfrm>
            <a:off x="6766560" y="3474720"/>
            <a:ext cx="4873752" cy="1143000"/>
          </a:xfrm>
          <a:prstGeom prst="roundRect">
            <a:avLst>
              <a:gd name="adj" fmla="val 8000"/>
            </a:avLst>
          </a:prstGeom>
          <a:solidFill>
            <a:schemeClr val="bg2"/>
          </a:solidFill>
          <a:ln w="12700">
            <a:solidFill>
              <a:schemeClr val="bg2"/>
            </a:solidFill>
            <a:prstDash val="solid"/>
          </a:ln>
        </p:spPr>
      </p:sp>
      <p:sp>
        <p:nvSpPr>
          <p:cNvPr id="10" name="stat"/>
          <p:cNvSpPr txBox="1"/>
          <p:nvPr/>
        </p:nvSpPr>
        <p:spPr>
          <a:xfrm>
            <a:off x="7040880" y="3547872"/>
            <a:ext cx="4389120" cy="640080"/>
          </a:xfrm>
          <a:prstGeom prst="rect">
            <a:avLst/>
          </a:prstGeom>
          <a:noFill/>
          <a:ln/>
        </p:spPr>
        <p:txBody>
          <a:bodyPr wrap="square" lIns="0" tIns="0" rIns="0" bIns="0" rtlCol="0" anchor="ctr"/>
          <a:lstStyle/>
          <a:p>
            <a:pPr marL="0" indent="0">
              <a:buNone/>
            </a:pPr>
            <a:r>
              <a:rPr lang="en-US" sz="3000" b="1" dirty="0">
                <a:solidFill>
                  <a:schemeClr val="accent1"/>
                </a:solidFill>
                <a:latin typeface="Arial" pitchFamily="34" charset="0"/>
                <a:ea typeface="Arial" pitchFamily="34" charset="-122"/>
                <a:cs typeface="Arial" pitchFamily="34" charset="-120"/>
              </a:rPr>
              <a:t>22.795,02 €</a:t>
            </a:r>
            <a:endParaRPr lang="en-US" sz="3000" dirty="0"/>
          </a:p>
        </p:txBody>
      </p:sp>
      <p:sp>
        <p:nvSpPr>
          <p:cNvPr id="11" name="stat-label"/>
          <p:cNvSpPr txBox="1"/>
          <p:nvPr/>
        </p:nvSpPr>
        <p:spPr>
          <a:xfrm>
            <a:off x="7040880" y="4187952"/>
            <a:ext cx="4389120" cy="320040"/>
          </a:xfrm>
          <a:prstGeom prst="rect">
            <a:avLst/>
          </a:prstGeom>
          <a:noFill/>
          <a:ln/>
        </p:spPr>
        <p:txBody>
          <a:bodyPr wrap="square" lIns="0" tIns="0" rIns="0" bIns="0" rtlCol="0" anchor="ctr"/>
          <a:lstStyle/>
          <a:p>
            <a:pPr marL="0" indent="0">
              <a:buNone/>
            </a:pPr>
            <a:r>
              <a:rPr lang="en-US" sz="1300" dirty="0">
                <a:solidFill>
                  <a:schemeClr val="accent4"/>
                </a:solidFill>
              </a:rPr>
              <a:t>Totale IVA</a:t>
            </a:r>
            <a:endParaRPr lang="en-US" sz="1300" dirty="0"/>
          </a:p>
        </p:txBody>
      </p:sp>
      <p:sp>
        <p:nvSpPr>
          <p:cNvPr id="12" name="stat-bg"/>
          <p:cNvSpPr/>
          <p:nvPr/>
        </p:nvSpPr>
        <p:spPr>
          <a:xfrm>
            <a:off x="6766560" y="4800600"/>
            <a:ext cx="4873752" cy="1143000"/>
          </a:xfrm>
          <a:prstGeom prst="roundRect">
            <a:avLst>
              <a:gd name="adj" fmla="val 8000"/>
            </a:avLst>
          </a:prstGeom>
          <a:solidFill>
            <a:schemeClr val="tx1"/>
          </a:solidFill>
          <a:ln w="12700">
            <a:solidFill>
              <a:schemeClr val="tx1"/>
            </a:solidFill>
            <a:prstDash val="solid"/>
          </a:ln>
        </p:spPr>
      </p:sp>
      <p:sp>
        <p:nvSpPr>
          <p:cNvPr id="13" name="stat"/>
          <p:cNvSpPr txBox="1"/>
          <p:nvPr/>
        </p:nvSpPr>
        <p:spPr>
          <a:xfrm>
            <a:off x="7040880" y="4873752"/>
            <a:ext cx="4389120" cy="640080"/>
          </a:xfrm>
          <a:prstGeom prst="rect">
            <a:avLst/>
          </a:prstGeom>
          <a:noFill/>
          <a:ln/>
        </p:spPr>
        <p:txBody>
          <a:bodyPr wrap="square" lIns="0" tIns="0" rIns="0" bIns="0" rtlCol="0" anchor="ctr"/>
          <a:lstStyle/>
          <a:p>
            <a:pPr marL="0" indent="0">
              <a:buNone/>
            </a:pPr>
            <a:r>
              <a:rPr lang="en-US" sz="3400" b="1" dirty="0">
                <a:solidFill>
                  <a:schemeClr val="bg1"/>
                </a:solidFill>
                <a:latin typeface="Arial" pitchFamily="34" charset="0"/>
                <a:ea typeface="Arial" pitchFamily="34" charset="-122"/>
                <a:cs typeface="Arial" pitchFamily="34" charset="-120"/>
              </a:rPr>
              <a:t>142.486,02 €</a:t>
            </a:r>
            <a:endParaRPr lang="en-US" sz="3400" dirty="0"/>
          </a:p>
        </p:txBody>
      </p:sp>
      <p:sp>
        <p:nvSpPr>
          <p:cNvPr id="14" name="stat-label"/>
          <p:cNvSpPr txBox="1"/>
          <p:nvPr/>
        </p:nvSpPr>
        <p:spPr>
          <a:xfrm>
            <a:off x="7040880" y="5513832"/>
            <a:ext cx="4389120" cy="320040"/>
          </a:xfrm>
          <a:prstGeom prst="rect">
            <a:avLst/>
          </a:prstGeom>
          <a:noFill/>
          <a:ln/>
        </p:spPr>
        <p:txBody>
          <a:bodyPr wrap="square" lIns="0" tIns="0" rIns="0" bIns="0" rtlCol="0" anchor="ctr"/>
          <a:lstStyle/>
          <a:p>
            <a:pPr marL="0" indent="0">
              <a:buNone/>
            </a:pPr>
            <a:r>
              <a:rPr lang="en-US" sz="1300" dirty="0">
                <a:solidFill>
                  <a:schemeClr val="accent5"/>
                </a:solidFill>
              </a:rPr>
              <a:t>Totale complessivo (IVA inclusa)</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6 · PREVENTIVO DI SPESA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Condizioni del preventivo</a:t>
            </a:r>
            <a:endParaRPr lang="en-US" sz="3000" dirty="0"/>
          </a:p>
        </p:txBody>
      </p:sp>
      <p:sp>
        <p:nvSpPr>
          <p:cNvPr id="4" name="card"/>
          <p:cNvSpPr/>
          <p:nvPr/>
        </p:nvSpPr>
        <p:spPr>
          <a:xfrm>
            <a:off x="548640" y="1463040"/>
            <a:ext cx="3515258" cy="4434840"/>
          </a:xfrm>
          <a:prstGeom prst="roundRect">
            <a:avLst>
              <a:gd name="adj" fmla="val 2601"/>
            </a:avLst>
          </a:prstGeom>
          <a:solidFill>
            <a:schemeClr val="bg2"/>
          </a:solidFill>
          <a:ln w="12700">
            <a:solidFill>
              <a:schemeClr val="bg2"/>
            </a:solidFill>
            <a:prstDash val="solid"/>
          </a:ln>
        </p:spPr>
      </p:sp>
      <p:sp>
        <p:nvSpPr>
          <p:cNvPr id="5" name="badge"/>
          <p:cNvSpPr/>
          <p:nvPr/>
        </p:nvSpPr>
        <p:spPr>
          <a:xfrm>
            <a:off x="777240" y="1691640"/>
            <a:ext cx="457200" cy="457200"/>
          </a:xfrm>
          <a:prstGeom prst="ellipse">
            <a:avLst/>
          </a:prstGeom>
          <a:solidFill>
            <a:schemeClr val="accent1"/>
          </a:solidFill>
          <a:ln w="12700">
            <a:solidFill>
              <a:schemeClr val="accent1"/>
            </a:solidFill>
            <a:prstDash val="solid"/>
          </a:ln>
        </p:spPr>
      </p:sp>
      <p:sp>
        <p:nvSpPr>
          <p:cNvPr id="6" name="badge-num"/>
          <p:cNvSpPr txBox="1"/>
          <p:nvPr/>
        </p:nvSpPr>
        <p:spPr>
          <a:xfrm>
            <a:off x="77724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card-head"/>
          <p:cNvSpPr txBox="1"/>
          <p:nvPr/>
        </p:nvSpPr>
        <p:spPr>
          <a:xfrm>
            <a:off x="1417320" y="166420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Variazioni di spesa</a:t>
            </a:r>
            <a:endParaRPr lang="en-US" sz="1600" dirty="0"/>
          </a:p>
        </p:txBody>
      </p:sp>
      <p:sp>
        <p:nvSpPr>
          <p:cNvPr id="8" name="card-body"/>
          <p:cNvSpPr txBox="1"/>
          <p:nvPr/>
        </p:nvSpPr>
        <p:spPr>
          <a:xfrm>
            <a:off x="777240" y="2286000"/>
            <a:ext cx="3058058" cy="3474720"/>
          </a:xfrm>
          <a:prstGeom prst="rect">
            <a:avLst/>
          </a:prstGeom>
          <a:noFill/>
          <a:ln/>
        </p:spPr>
        <p:txBody>
          <a:bodyPr wrap="square" lIns="0" tIns="0" rIns="0" bIns="0" rtlCol="0" anchor="t"/>
          <a:lstStyle/>
          <a:p>
            <a:pPr marL="0" indent="0">
              <a:buNone/>
            </a:pPr>
            <a:r>
              <a:rPr lang="en-US" sz="1500" dirty="0">
                <a:solidFill>
                  <a:schemeClr val="tx2"/>
                </a:solidFill>
              </a:rPr>
              <a:t>La spesa può variare qualora emergano problematiche non prevedibili (ad esempio difformità o inaccessibilità di locali e cavidotti, prescrizioni degli enti, ritardi non imputabili all’Appaltatore); i maggiori oneri sono a carico del Cliente, previa approvazione scritta.</a:t>
            </a:r>
            <a:endParaRPr lang="en-US" sz="1500" dirty="0"/>
          </a:p>
        </p:txBody>
      </p:sp>
      <p:sp>
        <p:nvSpPr>
          <p:cNvPr id="9" name="card"/>
          <p:cNvSpPr/>
          <p:nvPr/>
        </p:nvSpPr>
        <p:spPr>
          <a:xfrm>
            <a:off x="4338218" y="1463040"/>
            <a:ext cx="3515258" cy="4434840"/>
          </a:xfrm>
          <a:prstGeom prst="roundRect">
            <a:avLst>
              <a:gd name="adj" fmla="val 2601"/>
            </a:avLst>
          </a:prstGeom>
          <a:solidFill>
            <a:schemeClr val="bg2"/>
          </a:solidFill>
          <a:ln w="12700">
            <a:solidFill>
              <a:schemeClr val="bg2"/>
            </a:solidFill>
            <a:prstDash val="solid"/>
          </a:ln>
        </p:spPr>
      </p:sp>
      <p:sp>
        <p:nvSpPr>
          <p:cNvPr id="10" name="badge"/>
          <p:cNvSpPr/>
          <p:nvPr/>
        </p:nvSpPr>
        <p:spPr>
          <a:xfrm>
            <a:off x="4566818" y="1691640"/>
            <a:ext cx="457200" cy="457200"/>
          </a:xfrm>
          <a:prstGeom prst="ellipse">
            <a:avLst/>
          </a:prstGeom>
          <a:solidFill>
            <a:schemeClr val="accent1"/>
          </a:solidFill>
          <a:ln w="12700">
            <a:solidFill>
              <a:schemeClr val="accent1"/>
            </a:solidFill>
            <a:prstDash val="solid"/>
          </a:ln>
        </p:spPr>
      </p:sp>
      <p:sp>
        <p:nvSpPr>
          <p:cNvPr id="11" name="badge-num"/>
          <p:cNvSpPr txBox="1"/>
          <p:nvPr/>
        </p:nvSpPr>
        <p:spPr>
          <a:xfrm>
            <a:off x="4566818"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2" name="card-head"/>
          <p:cNvSpPr txBox="1"/>
          <p:nvPr/>
        </p:nvSpPr>
        <p:spPr>
          <a:xfrm>
            <a:off x="5206898" y="166420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Esclusioni</a:t>
            </a:r>
            <a:endParaRPr lang="en-US" sz="1600" dirty="0"/>
          </a:p>
        </p:txBody>
      </p:sp>
      <p:sp>
        <p:nvSpPr>
          <p:cNvPr id="13" name="card-body"/>
          <p:cNvSpPr txBox="1"/>
          <p:nvPr/>
        </p:nvSpPr>
        <p:spPr>
          <a:xfrm>
            <a:off x="4566818" y="2286000"/>
            <a:ext cx="3058058" cy="3474720"/>
          </a:xfrm>
          <a:prstGeom prst="rect">
            <a:avLst/>
          </a:prstGeom>
          <a:noFill/>
          <a:ln/>
        </p:spPr>
        <p:txBody>
          <a:bodyPr wrap="square" lIns="0" tIns="0" rIns="0" bIns="0" rtlCol="0" anchor="t"/>
          <a:lstStyle/>
          <a:p>
            <a:pPr marL="0" indent="0">
              <a:buNone/>
            </a:pPr>
            <a:r>
              <a:rPr lang="en-US" sz="1500" dirty="0">
                <a:solidFill>
                  <a:schemeClr val="tx2"/>
                </a:solidFill>
              </a:rPr>
              <a:t>Opere civili e murarie non indicate in tabella, oneri comunali per i permessi (diritti di segreteria, cauzioni, fideiussioni) e spese non indicate, a carico del Cliente.</a:t>
            </a:r>
            <a:endParaRPr lang="en-US" sz="1500" dirty="0"/>
          </a:p>
        </p:txBody>
      </p:sp>
      <p:sp>
        <p:nvSpPr>
          <p:cNvPr id="14" name="card"/>
          <p:cNvSpPr/>
          <p:nvPr/>
        </p:nvSpPr>
        <p:spPr>
          <a:xfrm>
            <a:off x="8127797" y="1463040"/>
            <a:ext cx="3515258" cy="4434840"/>
          </a:xfrm>
          <a:prstGeom prst="roundRect">
            <a:avLst>
              <a:gd name="adj" fmla="val 2601"/>
            </a:avLst>
          </a:prstGeom>
          <a:solidFill>
            <a:schemeClr val="bg2"/>
          </a:solidFill>
          <a:ln w="12700">
            <a:solidFill>
              <a:schemeClr val="bg2"/>
            </a:solidFill>
            <a:prstDash val="solid"/>
          </a:ln>
        </p:spPr>
      </p:sp>
      <p:sp>
        <p:nvSpPr>
          <p:cNvPr id="15" name="badge"/>
          <p:cNvSpPr/>
          <p:nvPr/>
        </p:nvSpPr>
        <p:spPr>
          <a:xfrm>
            <a:off x="8356397" y="1691640"/>
            <a:ext cx="457200" cy="457200"/>
          </a:xfrm>
          <a:prstGeom prst="ellipse">
            <a:avLst/>
          </a:prstGeom>
          <a:solidFill>
            <a:schemeClr val="accent1"/>
          </a:solidFill>
          <a:ln w="12700">
            <a:solidFill>
              <a:schemeClr val="accent1"/>
            </a:solidFill>
            <a:prstDash val="solid"/>
          </a:ln>
        </p:spPr>
      </p:sp>
      <p:sp>
        <p:nvSpPr>
          <p:cNvPr id="16" name="badge-num"/>
          <p:cNvSpPr txBox="1"/>
          <p:nvPr/>
        </p:nvSpPr>
        <p:spPr>
          <a:xfrm>
            <a:off x="8356397"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7" name="card-head"/>
          <p:cNvSpPr txBox="1"/>
          <p:nvPr/>
        </p:nvSpPr>
        <p:spPr>
          <a:xfrm>
            <a:off x="8996477" y="166420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Pagamento e validità</a:t>
            </a:r>
            <a:endParaRPr lang="en-US" sz="1600" dirty="0"/>
          </a:p>
        </p:txBody>
      </p:sp>
      <p:sp>
        <p:nvSpPr>
          <p:cNvPr id="18" name="card-body"/>
          <p:cNvSpPr txBox="1"/>
          <p:nvPr/>
        </p:nvSpPr>
        <p:spPr>
          <a:xfrm>
            <a:off x="8356397" y="2286000"/>
            <a:ext cx="3058058" cy="3474720"/>
          </a:xfrm>
          <a:prstGeom prst="rect">
            <a:avLst/>
          </a:prstGeom>
          <a:noFill/>
          <a:ln/>
        </p:spPr>
        <p:txBody>
          <a:bodyPr wrap="square" lIns="0" tIns="0" rIns="0" bIns="0" rtlCol="0" anchor="t"/>
          <a:lstStyle/>
          <a:p>
            <a:pPr marL="0" indent="0">
              <a:buNone/>
            </a:pPr>
            <a:r>
              <a:rPr lang="en-US" sz="1500" dirty="0">
                <a:solidFill>
                  <a:schemeClr val="tx2"/>
                </a:solidFill>
              </a:rPr>
              <a:t>Pagamento entro 30 giorni dall’accettazione (acconto 30%, saldo entro 15 giorni); validità 30 giorni dall’emissione; tempi di consegna definiti alla conferma dell’incarico.</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2743200" cy="1463040"/>
          </a:xfrm>
          <a:prstGeom prst="rect">
            <a:avLst/>
          </a:prstGeom>
          <a:noFill/>
          <a:ln/>
        </p:spPr>
        <p:txBody>
          <a:bodyPr wrap="square" lIns="0" tIns="0" rIns="0" bIns="0" rtlCol="0"/>
          <a:lstStyle/>
          <a:p>
            <a:pPr marL="0" indent="0" algn="l">
              <a:buNone/>
            </a:pPr>
            <a:r>
              <a:rPr lang="en-US" sz="9600" b="1" dirty="0">
                <a:solidFill>
                  <a:schemeClr val="accent3"/>
                </a:solidFill>
                <a:latin typeface="Arial" pitchFamily="34" charset="0"/>
                <a:ea typeface="Arial" pitchFamily="34" charset="-122"/>
                <a:cs typeface="Arial" pitchFamily="34" charset="-120"/>
              </a:rPr>
              <a:t>07</a:t>
            </a:r>
            <a:endParaRPr lang="en-US" sz="9600" dirty="0"/>
          </a:p>
        </p:txBody>
      </p:sp>
      <p:sp>
        <p:nvSpPr>
          <p:cNvPr id="3" name="Text 0"/>
          <p:cNvSpPr>
            <a:spLocks noGrp="1"/>
          </p:cNvSpPr>
          <p:nvPr>
            <p:ph type="title" idx="101" hasCustomPrompt="1"/>
          </p:nvPr>
        </p:nvSpPr>
        <p:spPr>
          <a:xfrm>
            <a:off x="548640" y="2651760"/>
            <a:ext cx="6583680" cy="1097280"/>
          </a:xfrm>
          <a:prstGeom prst="rect">
            <a:avLst/>
          </a:prstGeom>
          <a:noFill/>
          <a:ln/>
        </p:spPr>
        <p:txBody>
          <a:bodyPr wrap="square" lIns="0" tIns="0" rIns="0" bIns="0" rtlCol="0" anchor="t"/>
          <a:lstStyle/>
          <a:p>
            <a:pPr marL="0" indent="0" algn="l">
              <a:buNone/>
            </a:pPr>
            <a:r>
              <a:rPr lang="en-US" sz="4000" b="1" dirty="0">
                <a:solidFill>
                  <a:schemeClr val="bg1"/>
                </a:solidFill>
                <a:latin typeface="Arial" pitchFamily="34" charset="0"/>
                <a:ea typeface="Arial" pitchFamily="34" charset="-122"/>
                <a:cs typeface="Arial" pitchFamily="34" charset="-120"/>
              </a:rPr>
              <a:t>Enigma</a:t>
            </a:r>
            <a:endParaRPr lang="en-US" sz="4000" dirty="0"/>
          </a:p>
        </p:txBody>
      </p:sp>
      <p:sp>
        <p:nvSpPr>
          <p:cNvPr id="4" name="Text 0"/>
          <p:cNvSpPr>
            <a:spLocks noGrp="1"/>
          </p:cNvSpPr>
          <p:nvPr>
            <p:ph type="body" idx="102" hasCustomPrompt="1"/>
          </p:nvPr>
        </p:nvSpPr>
        <p:spPr>
          <a:xfrm>
            <a:off x="7589520" y="1280160"/>
            <a:ext cx="4023360" cy="4389120"/>
          </a:xfrm>
          <a:prstGeom prst="rect">
            <a:avLst/>
          </a:prstGeom>
          <a:noFill/>
          <a:ln/>
        </p:spPr>
        <p:txBody>
          <a:bodyPr wrap="square" lIns="0" tIns="0" rIns="0" bIns="0" rtlCol="0" anchor="ctr"/>
          <a:lstStyle/>
          <a:p>
            <a:pPr marL="0" indent="0" algn="l">
              <a:spcAft>
                <a:spcPts val="800"/>
              </a:spcAft>
              <a:buNone/>
            </a:pPr>
            <a:r>
              <a:rPr lang="en-US" sz="1500" dirty="0">
                <a:solidFill>
                  <a:schemeClr val="accent5"/>
                </a:solidFill>
              </a:rPr>
              <a:t>Risoluzione dell’enigma proposto dal Cliente: analisi della cartella di file ricevuta</a:t>
            </a:r>
            <a:endParaRPr lang="en-US" sz="1500" dirty="0"/>
          </a:p>
          <a:p>
            <a:pPr marL="0" indent="0" algn="l">
              <a:spcAft>
                <a:spcPts val="800"/>
              </a:spcAft>
              <a:buNone/>
            </a:pPr>
            <a:r>
              <a:rPr lang="en-US" sz="1500" dirty="0">
                <a:solidFill>
                  <a:schemeClr val="accent5"/>
                </a:solidFill>
              </a:rPr>
              <a:t>7.1.1 Indizi in chiaro</a:t>
            </a:r>
            <a:endParaRPr lang="en-US" sz="1500" dirty="0"/>
          </a:p>
          <a:p>
            <a:pPr marL="0" indent="0" algn="l">
              <a:spcAft>
                <a:spcPts val="800"/>
              </a:spcAft>
              <a:buNone/>
            </a:pPr>
            <a:r>
              <a:rPr lang="en-US" sz="1500" dirty="0">
                <a:solidFill>
                  <a:schemeClr val="accent5"/>
                </a:solidFill>
              </a:rPr>
              <a:t>7.1.2 La catena di sblocco</a:t>
            </a:r>
            <a:endParaRPr lang="en-US" sz="1500" dirty="0"/>
          </a:p>
          <a:p>
            <a:pPr marL="0" indent="0" algn="l">
              <a:spcAft>
                <a:spcPts val="800"/>
              </a:spcAft>
              <a:buNone/>
            </a:pPr>
            <a:r>
              <a:rPr lang="en-US" sz="1500" dirty="0">
                <a:solidFill>
                  <a:schemeClr val="accent5"/>
                </a:solidFill>
              </a:rPr>
              <a:t>7.1.3 Linguaggi non convenzionali</a:t>
            </a:r>
            <a:endParaRPr lang="en-US" sz="1500" dirty="0"/>
          </a:p>
          <a:p>
            <a:pPr marL="0" indent="0" algn="l">
              <a:spcAft>
                <a:spcPts val="800"/>
              </a:spcAft>
              <a:buNone/>
            </a:pPr>
            <a:r>
              <a:rPr lang="en-US" sz="1500" dirty="0">
                <a:solidFill>
                  <a:schemeClr val="accent5"/>
                </a:solidFill>
              </a:rPr>
              <a:t>7.1.4 Ricomposizione e flag finale</a:t>
            </a:r>
            <a:endParaRPr lang="en-US" sz="1500" dirty="0"/>
          </a:p>
          <a:p>
            <a:pPr marL="0" indent="0" algn="l">
              <a:spcAft>
                <a:spcPts val="800"/>
              </a:spcAft>
              <a:buNone/>
            </a:pPr>
            <a:r>
              <a:rPr lang="en-US" sz="1500" dirty="0">
                <a:solidFill>
                  <a:schemeClr val="accent5"/>
                </a:solidFill>
              </a:rPr>
              <a:t>7.1.5 Password dell’ultima immagine</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7 · ENIGMA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7.1 Analisi della cartella file della Compagnia Theta</a:t>
            </a:r>
            <a:endParaRPr lang="en-US" sz="3000" dirty="0"/>
          </a:p>
        </p:txBody>
      </p:sp>
      <p:sp>
        <p:nvSpPr>
          <p:cNvPr id="4" name="body-text"/>
          <p:cNvSpPr txBox="1"/>
          <p:nvPr/>
        </p:nvSpPr>
        <p:spPr>
          <a:xfrm>
            <a:off x="548640" y="1463040"/>
            <a:ext cx="6400800" cy="4480560"/>
          </a:xfrm>
          <a:prstGeom prst="rect">
            <a:avLst/>
          </a:prstGeom>
          <a:noFill/>
          <a:ln/>
        </p:spPr>
        <p:txBody>
          <a:bodyPr wrap="square" lIns="0" tIns="0" rIns="0" bIns="0" rtlCol="0" anchor="t"/>
          <a:lstStyle/>
          <a:p>
            <a:pPr marL="0" indent="0">
              <a:spcAft>
                <a:spcPts val="800"/>
              </a:spcAft>
              <a:buNone/>
            </a:pPr>
            <a:r>
              <a:rPr lang="en-US" sz="1600" dirty="0">
                <a:solidFill>
                  <a:schemeClr val="tx2"/>
                </a:solidFill>
              </a:rPr>
              <a:t>La presente sezione riporta la risoluzione dell’enigma proposto dal Cliente, consistente nell’analisi della cartella di file ricevuta.</a:t>
            </a:r>
            <a:endParaRPr lang="en-US" sz="1600" dirty="0"/>
          </a:p>
          <a:p>
            <a:pPr marL="0" indent="0">
              <a:spcAft>
                <a:spcPts val="800"/>
              </a:spcAft>
              <a:buNone/>
            </a:pPr>
            <a:r>
              <a:rPr lang="en-US" sz="1600" dirty="0">
                <a:solidFill>
                  <a:schemeClr val="tx2"/>
                </a:solidFill>
              </a:rPr>
              <a:t>L’analisi ha riguardato una sfida di steganografia a catena, nascosta in una copia modificata del template “Multiverse” di HTML5 UP: dodici immagini JPEG con payload cifrati, ciascuna delle quali rende disponibile la password per l’immagine successiva.</a:t>
            </a:r>
            <a:endParaRPr lang="en-US" sz="1600" dirty="0"/>
          </a:p>
          <a:p>
            <a:pPr marL="0" indent="0">
              <a:spcAft>
                <a:spcPts val="800"/>
              </a:spcAft>
              <a:buNone/>
            </a:pPr>
            <a:r>
              <a:rPr lang="en-US" sz="1600" dirty="0">
                <a:solidFill>
                  <a:schemeClr val="tx2"/>
                </a:solidFill>
              </a:rPr>
              <a:t>La flag finale è un’immagine ricomposta a partire da frammenti codificati in base64, suddivisi con il comando split e distribuiti tra più fotografie.</a:t>
            </a:r>
            <a:endParaRPr lang="en-US" sz="1600" dirty="0"/>
          </a:p>
        </p:txBody>
      </p:sp>
      <p:sp>
        <p:nvSpPr>
          <p:cNvPr id="5" name="flag-bg"/>
          <p:cNvSpPr/>
          <p:nvPr/>
        </p:nvSpPr>
        <p:spPr>
          <a:xfrm>
            <a:off x="7406640" y="1645920"/>
            <a:ext cx="4233672" cy="3657600"/>
          </a:xfrm>
          <a:prstGeom prst="roundRect">
            <a:avLst>
              <a:gd name="adj" fmla="val 2500"/>
            </a:avLst>
          </a:prstGeom>
          <a:solidFill>
            <a:schemeClr val="tx1"/>
          </a:solidFill>
          <a:ln w="12700">
            <a:solidFill>
              <a:schemeClr val="tx1"/>
            </a:solidFill>
            <a:prstDash val="solid"/>
          </a:ln>
        </p:spPr>
      </p:sp>
      <p:sp>
        <p:nvSpPr>
          <p:cNvPr id="6" name="flag-k"/>
          <p:cNvSpPr txBox="1"/>
          <p:nvPr/>
        </p:nvSpPr>
        <p:spPr>
          <a:xfrm>
            <a:off x="7406640" y="2103120"/>
            <a:ext cx="4233672" cy="365760"/>
          </a:xfrm>
          <a:prstGeom prst="rect">
            <a:avLst/>
          </a:prstGeom>
          <a:noFill/>
          <a:ln/>
        </p:spPr>
        <p:txBody>
          <a:bodyPr wrap="square" lIns="0" tIns="0" rIns="0" bIns="0" rtlCol="0" anchor="ctr"/>
          <a:lstStyle/>
          <a:p>
            <a:pPr marL="0" indent="0" algn="ctr">
              <a:buNone/>
            </a:pPr>
            <a:r>
              <a:rPr lang="en-US" sz="1300" b="1" kern="0" spc="400" dirty="0">
                <a:solidFill>
                  <a:schemeClr val="accent6"/>
                </a:solidFill>
              </a:rPr>
              <a:t>FLAG FINALE</a:t>
            </a:r>
            <a:endParaRPr lang="en-US" sz="1300" dirty="0"/>
          </a:p>
        </p:txBody>
      </p:sp>
      <p:sp>
        <p:nvSpPr>
          <p:cNvPr id="7" name="flag"/>
          <p:cNvSpPr txBox="1"/>
          <p:nvPr/>
        </p:nvSpPr>
        <p:spPr>
          <a:xfrm>
            <a:off x="7406640" y="2560320"/>
            <a:ext cx="4233672" cy="1097280"/>
          </a:xfrm>
          <a:prstGeom prst="rect">
            <a:avLst/>
          </a:prstGeom>
          <a:noFill/>
          <a:ln/>
        </p:spPr>
        <p:txBody>
          <a:bodyPr wrap="square" lIns="0" tIns="0" rIns="0" bIns="0" rtlCol="0" anchor="ctr"/>
          <a:lstStyle/>
          <a:p>
            <a:pPr marL="0" indent="0" algn="ctr">
              <a:buNone/>
            </a:pPr>
            <a:r>
              <a:rPr lang="en-US" sz="4400" b="1" dirty="0">
                <a:solidFill>
                  <a:schemeClr val="bg1"/>
                </a:solidFill>
                <a:latin typeface="Courier New" pitchFamily="34" charset="0"/>
                <a:ea typeface="Courier New" pitchFamily="34" charset="-122"/>
                <a:cs typeface="Courier New" pitchFamily="34" charset="-120"/>
              </a:rPr>
              <a:t>DRAGON34</a:t>
            </a:r>
            <a:endParaRPr lang="en-US" sz="4400" dirty="0"/>
          </a:p>
        </p:txBody>
      </p:sp>
      <p:sp>
        <p:nvSpPr>
          <p:cNvPr id="8" name="flag-sub"/>
          <p:cNvSpPr txBox="1"/>
          <p:nvPr/>
        </p:nvSpPr>
        <p:spPr>
          <a:xfrm>
            <a:off x="7680960" y="3931920"/>
            <a:ext cx="3685032" cy="914400"/>
          </a:xfrm>
          <a:prstGeom prst="rect">
            <a:avLst/>
          </a:prstGeom>
          <a:noFill/>
          <a:ln/>
        </p:spPr>
        <p:txBody>
          <a:bodyPr wrap="square" lIns="0" tIns="0" rIns="0" bIns="0" rtlCol="0" anchor="ctr"/>
          <a:lstStyle/>
          <a:p>
            <a:pPr marL="0" indent="0" algn="ctr">
              <a:buNone/>
            </a:pPr>
            <a:r>
              <a:rPr lang="en-US" sz="1400" dirty="0">
                <a:solidFill>
                  <a:schemeClr val="accent5"/>
                </a:solidFill>
              </a:rPr>
              <a:t>12 immagini JPEG · catena di password · frammenti base64</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7 · ENIGMA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7.1.1 Analisi degli indizi in chiaro</a:t>
            </a:r>
            <a:endParaRPr lang="en-US" sz="3000" dirty="0"/>
          </a:p>
        </p:txBody>
      </p:sp>
      <p:sp>
        <p:nvSpPr>
          <p:cNvPr id="4" name="card"/>
          <p:cNvSpPr/>
          <p:nvPr/>
        </p:nvSpPr>
        <p:spPr>
          <a:xfrm>
            <a:off x="548640" y="1463040"/>
            <a:ext cx="3515258" cy="3657600"/>
          </a:xfrm>
          <a:prstGeom prst="roundRect">
            <a:avLst>
              <a:gd name="adj" fmla="val 2601"/>
            </a:avLst>
          </a:prstGeom>
          <a:solidFill>
            <a:schemeClr val="bg2"/>
          </a:solidFill>
          <a:ln w="12700">
            <a:solidFill>
              <a:schemeClr val="bg2"/>
            </a:solidFill>
            <a:prstDash val="solid"/>
          </a:ln>
        </p:spPr>
      </p:sp>
      <p:sp>
        <p:nvSpPr>
          <p:cNvPr id="5" name="badge"/>
          <p:cNvSpPr/>
          <p:nvPr/>
        </p:nvSpPr>
        <p:spPr>
          <a:xfrm>
            <a:off x="777240" y="1691640"/>
            <a:ext cx="457200" cy="457200"/>
          </a:xfrm>
          <a:prstGeom prst="ellipse">
            <a:avLst/>
          </a:prstGeom>
          <a:solidFill>
            <a:schemeClr val="accent1"/>
          </a:solidFill>
          <a:ln w="12700">
            <a:solidFill>
              <a:schemeClr val="accent1"/>
            </a:solidFill>
            <a:prstDash val="solid"/>
          </a:ln>
        </p:spPr>
      </p:sp>
      <p:sp>
        <p:nvSpPr>
          <p:cNvPr id="6" name="badge-num"/>
          <p:cNvSpPr txBox="1"/>
          <p:nvPr/>
        </p:nvSpPr>
        <p:spPr>
          <a:xfrm>
            <a:off x="77724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H</a:t>
            </a:r>
            <a:endParaRPr lang="en-US" sz="1500" dirty="0"/>
          </a:p>
        </p:txBody>
      </p:sp>
      <p:sp>
        <p:nvSpPr>
          <p:cNvPr id="7" name="card-head"/>
          <p:cNvSpPr txBox="1"/>
          <p:nvPr/>
        </p:nvSpPr>
        <p:spPr>
          <a:xfrm>
            <a:off x="1417320" y="166420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HTML</a:t>
            </a:r>
            <a:endParaRPr lang="en-US" sz="1600" dirty="0"/>
          </a:p>
        </p:txBody>
      </p:sp>
      <p:sp>
        <p:nvSpPr>
          <p:cNvPr id="8" name="card-body"/>
          <p:cNvSpPr txBox="1"/>
          <p:nvPr/>
        </p:nvSpPr>
        <p:spPr>
          <a:xfrm>
            <a:off x="777240" y="2286000"/>
            <a:ext cx="3058058" cy="2697480"/>
          </a:xfrm>
          <a:prstGeom prst="rect">
            <a:avLst/>
          </a:prstGeom>
          <a:noFill/>
          <a:ln/>
        </p:spPr>
        <p:txBody>
          <a:bodyPr wrap="square" lIns="0" tIns="0" rIns="0" bIns="0" rtlCol="0" anchor="t"/>
          <a:lstStyle/>
          <a:p>
            <a:pPr marL="0" indent="0">
              <a:spcAft>
                <a:spcPts val="400"/>
              </a:spcAft>
              <a:buNone/>
            </a:pPr>
            <a:r>
              <a:rPr lang="en-US" sz="1300" dirty="0">
                <a:solidFill>
                  <a:schemeClr val="tx2"/>
                </a:solidFill>
              </a:rPr>
              <a:t>Tra le descrizioni fittizie delle fotografie, due articoli (09 “Prima” e 10 “Seconda”) contenevano indovinelli in rima:</a:t>
            </a:r>
            <a:endParaRPr lang="en-US" sz="1300" dirty="0"/>
          </a:p>
          <a:p>
            <a:pPr marL="342900" indent="-342900">
              <a:spcAft>
                <a:spcPts val="400"/>
              </a:spcAft>
              <a:buSzPct val="100000"/>
              <a:buChar char="▪"/>
            </a:pPr>
            <a:r>
              <a:rPr lang="en-US" sz="1300" dirty="0">
                <a:solidFill>
                  <a:schemeClr val="tx2"/>
                </a:solidFill>
              </a:rPr>
              <a:t>“Nascosto nella notte e avvolto nel silenzio… un protagonista ardente… Chi sono io?” → mistero (il giallo, il detective);</a:t>
            </a:r>
            <a:endParaRPr lang="en-US" sz="1300" dirty="0"/>
          </a:p>
          <a:p>
            <a:pPr marL="342900" indent="-342900">
              <a:spcAft>
                <a:spcPts val="400"/>
              </a:spcAft>
              <a:buSzPct val="100000"/>
              <a:buChar char="▪"/>
            </a:pPr>
            <a:r>
              <a:rPr lang="en-US" sz="1300" dirty="0">
                <a:solidFill>
                  <a:schemeClr val="tx2"/>
                </a:solidFill>
              </a:rPr>
              <a:t>“…porto la chiarezza da un labirinto… arrivo al termine di un lungo viaggio di mente” → risolto (la soluzione).</a:t>
            </a:r>
            <a:endParaRPr lang="en-US" sz="1300" dirty="0"/>
          </a:p>
        </p:txBody>
      </p:sp>
      <p:sp>
        <p:nvSpPr>
          <p:cNvPr id="9" name="card"/>
          <p:cNvSpPr/>
          <p:nvPr/>
        </p:nvSpPr>
        <p:spPr>
          <a:xfrm>
            <a:off x="4338218" y="1463040"/>
            <a:ext cx="3515258" cy="3657600"/>
          </a:xfrm>
          <a:prstGeom prst="roundRect">
            <a:avLst>
              <a:gd name="adj" fmla="val 2601"/>
            </a:avLst>
          </a:prstGeom>
          <a:solidFill>
            <a:schemeClr val="bg2"/>
          </a:solidFill>
          <a:ln w="12700">
            <a:solidFill>
              <a:schemeClr val="bg2"/>
            </a:solidFill>
            <a:prstDash val="solid"/>
          </a:ln>
        </p:spPr>
      </p:sp>
      <p:sp>
        <p:nvSpPr>
          <p:cNvPr id="10" name="badge"/>
          <p:cNvSpPr/>
          <p:nvPr/>
        </p:nvSpPr>
        <p:spPr>
          <a:xfrm>
            <a:off x="4566818" y="1691640"/>
            <a:ext cx="457200" cy="457200"/>
          </a:xfrm>
          <a:prstGeom prst="ellipse">
            <a:avLst/>
          </a:prstGeom>
          <a:solidFill>
            <a:schemeClr val="accent1"/>
          </a:solidFill>
          <a:ln w="12700">
            <a:solidFill>
              <a:schemeClr val="accent1"/>
            </a:solidFill>
            <a:prstDash val="solid"/>
          </a:ln>
        </p:spPr>
      </p:sp>
      <p:sp>
        <p:nvSpPr>
          <p:cNvPr id="11" name="badge-num"/>
          <p:cNvSpPr txBox="1"/>
          <p:nvPr/>
        </p:nvSpPr>
        <p:spPr>
          <a:xfrm>
            <a:off x="4566818"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J</a:t>
            </a:r>
            <a:endParaRPr lang="en-US" sz="1500" dirty="0"/>
          </a:p>
        </p:txBody>
      </p:sp>
      <p:sp>
        <p:nvSpPr>
          <p:cNvPr id="12" name="card-head"/>
          <p:cNvSpPr txBox="1"/>
          <p:nvPr/>
        </p:nvSpPr>
        <p:spPr>
          <a:xfrm>
            <a:off x="5206898" y="166420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JavaScript</a:t>
            </a:r>
            <a:endParaRPr lang="en-US" sz="1600" dirty="0"/>
          </a:p>
        </p:txBody>
      </p:sp>
      <p:sp>
        <p:nvSpPr>
          <p:cNvPr id="13" name="card-body"/>
          <p:cNvSpPr txBox="1"/>
          <p:nvPr/>
        </p:nvSpPr>
        <p:spPr>
          <a:xfrm>
            <a:off x="4566818" y="2286000"/>
            <a:ext cx="3058058" cy="2697480"/>
          </a:xfrm>
          <a:prstGeom prst="rect">
            <a:avLst/>
          </a:prstGeom>
          <a:noFill/>
          <a:ln/>
        </p:spPr>
        <p:txBody>
          <a:bodyPr wrap="square" lIns="0" tIns="0" rIns="0" bIns="0" rtlCol="0" anchor="t"/>
          <a:lstStyle/>
          <a:p>
            <a:pPr marL="0" indent="0">
              <a:buNone/>
            </a:pPr>
            <a:r>
              <a:rPr lang="en-US" sz="1400" dirty="0">
                <a:solidFill>
                  <a:schemeClr val="tx2"/>
                </a:solidFill>
              </a:rPr>
              <a:t>Nel commento di testa del file è comparsa una riga aggiunta: “? mistero risolto ?”, a conferma della prima password.</a:t>
            </a:r>
            <a:endParaRPr lang="en-US" sz="1400" dirty="0"/>
          </a:p>
        </p:txBody>
      </p:sp>
      <p:sp>
        <p:nvSpPr>
          <p:cNvPr id="14" name="card"/>
          <p:cNvSpPr/>
          <p:nvPr/>
        </p:nvSpPr>
        <p:spPr>
          <a:xfrm>
            <a:off x="8127797" y="1463040"/>
            <a:ext cx="3515258" cy="3657600"/>
          </a:xfrm>
          <a:prstGeom prst="roundRect">
            <a:avLst>
              <a:gd name="adj" fmla="val 2601"/>
            </a:avLst>
          </a:prstGeom>
          <a:solidFill>
            <a:schemeClr val="bg2"/>
          </a:solidFill>
          <a:ln w="12700">
            <a:solidFill>
              <a:schemeClr val="bg2"/>
            </a:solidFill>
            <a:prstDash val="solid"/>
          </a:ln>
        </p:spPr>
      </p:sp>
      <p:sp>
        <p:nvSpPr>
          <p:cNvPr id="15" name="badge"/>
          <p:cNvSpPr/>
          <p:nvPr/>
        </p:nvSpPr>
        <p:spPr>
          <a:xfrm>
            <a:off x="8356397" y="1691640"/>
            <a:ext cx="457200" cy="457200"/>
          </a:xfrm>
          <a:prstGeom prst="ellipse">
            <a:avLst/>
          </a:prstGeom>
          <a:solidFill>
            <a:schemeClr val="accent1"/>
          </a:solidFill>
          <a:ln w="12700">
            <a:solidFill>
              <a:schemeClr val="accent1"/>
            </a:solidFill>
            <a:prstDash val="solid"/>
          </a:ln>
        </p:spPr>
      </p:sp>
      <p:sp>
        <p:nvSpPr>
          <p:cNvPr id="16" name="badge-num"/>
          <p:cNvSpPr txBox="1"/>
          <p:nvPr/>
        </p:nvSpPr>
        <p:spPr>
          <a:xfrm>
            <a:off x="8356397"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C</a:t>
            </a:r>
            <a:endParaRPr lang="en-US" sz="1500" dirty="0"/>
          </a:p>
        </p:txBody>
      </p:sp>
      <p:sp>
        <p:nvSpPr>
          <p:cNvPr id="17" name="card-head"/>
          <p:cNvSpPr txBox="1"/>
          <p:nvPr/>
        </p:nvSpPr>
        <p:spPr>
          <a:xfrm>
            <a:off x="8996477" y="1664208"/>
            <a:ext cx="2463698" cy="512064"/>
          </a:xfrm>
          <a:prstGeom prst="rect">
            <a:avLst/>
          </a:prstGeom>
          <a:noFill/>
          <a:ln/>
        </p:spPr>
        <p:txBody>
          <a:bodyPr wrap="square" lIns="0" tIns="0" rIns="0" bIns="0" rtlCol="0" anchor="ctr"/>
          <a:lstStyle/>
          <a:p>
            <a:pPr marL="0" indent="0">
              <a:buNone/>
            </a:pPr>
            <a:r>
              <a:rPr lang="en-US" sz="1600" b="1" dirty="0">
                <a:solidFill>
                  <a:schemeClr val="tx1"/>
                </a:solidFill>
                <a:latin typeface="Arial" pitchFamily="34" charset="0"/>
                <a:ea typeface="Arial" pitchFamily="34" charset="-122"/>
                <a:cs typeface="Arial" pitchFamily="34" charset="-120"/>
              </a:rPr>
              <a:t>CSS</a:t>
            </a:r>
            <a:endParaRPr lang="en-US" sz="1600" dirty="0"/>
          </a:p>
        </p:txBody>
      </p:sp>
      <p:sp>
        <p:nvSpPr>
          <p:cNvPr id="18" name="card-body"/>
          <p:cNvSpPr txBox="1"/>
          <p:nvPr/>
        </p:nvSpPr>
        <p:spPr>
          <a:xfrm>
            <a:off x="8356397" y="2286000"/>
            <a:ext cx="3058058" cy="2697480"/>
          </a:xfrm>
          <a:prstGeom prst="rect">
            <a:avLst/>
          </a:prstGeom>
          <a:noFill/>
          <a:ln/>
        </p:spPr>
        <p:txBody>
          <a:bodyPr wrap="square" lIns="0" tIns="0" rIns="0" bIns="0" rtlCol="0" anchor="t"/>
          <a:lstStyle/>
          <a:p>
            <a:pPr marL="0" indent="0">
              <a:spcAft>
                <a:spcPts val="400"/>
              </a:spcAft>
              <a:buNone/>
            </a:pPr>
            <a:r>
              <a:rPr lang="en-US" sz="1300" dirty="0">
                <a:solidFill>
                  <a:schemeClr val="tx2"/>
                </a:solidFill>
              </a:rPr>
              <a:t>Nel file main.css un commento nascosto:</a:t>
            </a:r>
            <a:endParaRPr lang="en-US" sz="1300" dirty="0"/>
          </a:p>
          <a:p>
            <a:pPr marL="0" indent="0">
              <a:spcAft>
                <a:spcPts val="400"/>
              </a:spcAft>
              <a:buNone/>
            </a:pPr>
            <a:r>
              <a:rPr lang="en-US" sz="1300" dirty="0">
                <a:solidFill>
                  <a:schemeClr val="tx2"/>
                </a:solidFill>
              </a:rPr>
              <a:t>/* Sei sicuro di aver finito? Pensa a meno elicotteri e meno 64 */</a:t>
            </a:r>
            <a:endParaRPr lang="en-US" sz="1300" dirty="0"/>
          </a:p>
          <a:p>
            <a:pPr marL="0" indent="0">
              <a:spcAft>
                <a:spcPts val="400"/>
              </a:spcAft>
              <a:buNone/>
            </a:pPr>
            <a:r>
              <a:rPr lang="en-US" sz="1300" dirty="0">
                <a:solidFill>
                  <a:schemeClr val="tx2"/>
                </a:solidFill>
              </a:rPr>
              <a:t>Indizio per gli stadi successivi: “elicottero” rimanda alla foto 09, “64” alla codifica base64.</a:t>
            </a:r>
            <a:endParaRPr lang="en-US" sz="1300" dirty="0"/>
          </a:p>
        </p:txBody>
      </p:sp>
      <p:sp>
        <p:nvSpPr>
          <p:cNvPr id="19" name="takeaway"/>
          <p:cNvSpPr txBox="1"/>
          <p:nvPr/>
        </p:nvSpPr>
        <p:spPr>
          <a:xfrm>
            <a:off x="548640" y="5349240"/>
            <a:ext cx="11094415" cy="640080"/>
          </a:xfrm>
          <a:prstGeom prst="rect">
            <a:avLst/>
          </a:prstGeom>
          <a:noFill/>
          <a:ln/>
        </p:spPr>
        <p:txBody>
          <a:bodyPr wrap="square" lIns="0" tIns="0" rIns="0" bIns="0" rtlCol="0" anchor="ctr"/>
          <a:lstStyle/>
          <a:p>
            <a:pPr marL="0" indent="0">
              <a:buNone/>
            </a:pPr>
            <a:r>
              <a:rPr lang="en-US" sz="1500" b="1" dirty="0">
                <a:solidFill>
                  <a:schemeClr val="tx1"/>
                </a:solidFill>
              </a:rPr>
              <a:t>Parole chiave: </a:t>
            </a:r>
            <a:r>
              <a:rPr lang="en-US" sz="1500" b="1" dirty="0">
                <a:solidFill>
                  <a:schemeClr val="accent1"/>
                </a:solidFill>
              </a:rPr>
              <a:t>mistero + risolto.  </a:t>
            </a:r>
            <a:r>
              <a:rPr lang="en-US" sz="1500" dirty="0">
                <a:solidFill>
                  <a:schemeClr val="tx2"/>
                </a:solidFill>
              </a:rPr>
              <a:t>Si è ipotizzato che le JPEG contenessero dati cifrati protetti da password; per l’estrazione è stato utilizzato steghide.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7 · ENIGMA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7.1.2 La catena di sblocco</a:t>
            </a:r>
            <a:endParaRPr lang="en-US" sz="3000" dirty="0"/>
          </a:p>
        </p:txBody>
      </p:sp>
      <p:sp>
        <p:nvSpPr>
          <p:cNvPr id="4" name="intro"/>
          <p:cNvSpPr txBox="1"/>
          <p:nvPr/>
        </p:nvSpPr>
        <p:spPr>
          <a:xfrm>
            <a:off x="548640" y="1325880"/>
            <a:ext cx="6309360" cy="640080"/>
          </a:xfrm>
          <a:prstGeom prst="rect">
            <a:avLst/>
          </a:prstGeom>
          <a:noFill/>
          <a:ln/>
        </p:spPr>
        <p:txBody>
          <a:bodyPr wrap="square" lIns="0" tIns="0" rIns="0" bIns="0" rtlCol="0" anchor="ctr"/>
          <a:lstStyle/>
          <a:p>
            <a:pPr marL="0" indent="0">
              <a:buNone/>
            </a:pPr>
            <a:r>
              <a:rPr lang="en-US" sz="1500" dirty="0">
                <a:solidFill>
                  <a:schemeClr val="tx2"/>
                </a:solidFill>
              </a:rPr>
              <a:t>Ogni immagine contiene la password della successiva: si tratta di una catena e non di immagini indipendenti. L’estrazione avviene con il comando:</a:t>
            </a:r>
            <a:endParaRPr lang="en-US" sz="1500" dirty="0"/>
          </a:p>
        </p:txBody>
      </p:sp>
      <p:sp>
        <p:nvSpPr>
          <p:cNvPr id="5" name="code-bg"/>
          <p:cNvSpPr/>
          <p:nvPr/>
        </p:nvSpPr>
        <p:spPr>
          <a:xfrm>
            <a:off x="7223760" y="1325880"/>
            <a:ext cx="4416552" cy="640080"/>
          </a:xfrm>
          <a:prstGeom prst="roundRect">
            <a:avLst>
              <a:gd name="adj" fmla="val 11429"/>
            </a:avLst>
          </a:prstGeom>
          <a:solidFill>
            <a:srgbClr val="0F1117"/>
          </a:solidFill>
          <a:ln w="12700">
            <a:solidFill>
              <a:srgbClr val="0F1117"/>
            </a:solidFill>
            <a:prstDash val="solid"/>
          </a:ln>
        </p:spPr>
      </p:sp>
      <p:sp>
        <p:nvSpPr>
          <p:cNvPr id="6" name="code"/>
          <p:cNvSpPr txBox="1"/>
          <p:nvPr/>
        </p:nvSpPr>
        <p:spPr>
          <a:xfrm>
            <a:off x="7452360" y="1490472"/>
            <a:ext cx="3959352" cy="365760"/>
          </a:xfrm>
          <a:prstGeom prst="rect">
            <a:avLst/>
          </a:prstGeom>
          <a:noFill/>
          <a:ln/>
        </p:spPr>
        <p:txBody>
          <a:bodyPr wrap="square" lIns="0" tIns="0" rIns="0" bIns="0" rtlCol="0" anchor="t"/>
          <a:lstStyle/>
          <a:p>
            <a:pPr marL="0" indent="0">
              <a:buNone/>
            </a:pPr>
            <a:r>
              <a:rPr lang="en-US" sz="1200" dirty="0">
                <a:solidFill>
                  <a:srgbClr val="E5E7EB"/>
                </a:solidFill>
                <a:latin typeface="Courier New" pitchFamily="34" charset="0"/>
                <a:ea typeface="Courier New" pitchFamily="34" charset="-122"/>
                <a:cs typeface="Courier New" pitchFamily="34" charset="-120"/>
              </a:rPr>
              <a:t>steghide extract -sf &lt;img&gt; -p &lt;password&gt;</a:t>
            </a:r>
            <a:endParaRPr lang="en-US" sz="1200" dirty="0"/>
          </a:p>
        </p:txBody>
      </p:sp>
      <p:graphicFrame>
        <p:nvGraphicFramePr>
          <p:cNvPr id="66" name="table"/>
          <p:cNvGraphicFramePr>
            <a:graphicFrameLocks noGrp="1"/>
          </p:cNvGraphicFramePr>
          <p:nvPr>
            <p:extLst>
              <p:ext uri="{D42A27DB-BD31-4B8C-83A1-F6EECF244321}">
                <p14:modId xmlns:p14="http://schemas.microsoft.com/office/powerpoint/2010/main" val="1579011935"/>
              </p:ext>
            </p:extLst>
          </p:nvPr>
        </p:nvGraphicFramePr>
        <p:xfrm>
          <a:off x="548640" y="2148840"/>
          <a:ext cx="11094415" cy="2852928"/>
        </p:xfrm>
        <a:graphic>
          <a:graphicData uri="http://schemas.openxmlformats.org/drawingml/2006/table">
            <a:tbl>
              <a:tblPr/>
              <a:tblGrid>
                <a:gridCol w="10058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4967935">
                  <a:extLst>
                    <a:ext uri="{9D8B030D-6E8A-4147-A177-3AD203B41FA5}">
                      <a16:colId xmlns:a16="http://schemas.microsoft.com/office/drawing/2014/main" val="20003"/>
                    </a:ext>
                  </a:extLst>
                </a:gridCol>
              </a:tblGrid>
              <a:tr h="475488">
                <a:tc>
                  <a:txBody>
                    <a:bodyPr/>
                    <a:lstStyle/>
                    <a:p>
                      <a:pPr marL="0" indent="0">
                        <a:buNone/>
                      </a:pPr>
                      <a:r>
                        <a:rPr lang="en-US" sz="1400" b="1" dirty="0">
                          <a:solidFill>
                            <a:schemeClr val="bg1"/>
                          </a:solidFill>
                        </a:rPr>
                        <a:t>Ordine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Immagine</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Password</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Contenuto estratto</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75488">
                <a:tc>
                  <a:txBody>
                    <a:bodyPr/>
                    <a:lstStyle/>
                    <a:p>
                      <a:pPr marL="0" indent="0" algn="ctr">
                        <a:buNone/>
                      </a:pPr>
                      <a:r>
                        <a:rPr lang="en-US" sz="1400" b="1" dirty="0">
                          <a:solidFill>
                            <a:schemeClr val="tx2"/>
                          </a:solidFill>
                        </a:rPr>
                        <a:t>1</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01.jpg</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latin typeface="Courier New" pitchFamily="34" charset="0"/>
                          <a:ea typeface="Courier New" pitchFamily="34" charset="-122"/>
                          <a:cs typeface="Courier New" pitchFamily="34" charset="-120"/>
                        </a:rPr>
                        <a:t>mistero risolto</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pass.txt – codice Brainfuck</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5488">
                <a:tc>
                  <a:txBody>
                    <a:bodyPr/>
                    <a:lstStyle/>
                    <a:p>
                      <a:pPr marL="0" indent="0" algn="ctr">
                        <a:buNone/>
                      </a:pPr>
                      <a:r>
                        <a:rPr lang="en-US" sz="1400" b="1" dirty="0">
                          <a:solidFill>
                            <a:schemeClr val="tx2"/>
                          </a:solidFill>
                        </a:rPr>
                        <a:t>2</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02.jpg</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latin typeface="Courier New" pitchFamily="34" charset="0"/>
                          <a:ea typeface="Courier New" pitchFamily="34" charset="-122"/>
                          <a:cs typeface="Courier New" pitchFamily="34" charset="-120"/>
                        </a:rPr>
                        <a:t>D5f89fgg</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help.txt – codice COW</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75488">
                <a:tc>
                  <a:txBody>
                    <a:bodyPr/>
                    <a:lstStyle/>
                    <a:p>
                      <a:pPr marL="0" indent="0" algn="ctr">
                        <a:buNone/>
                      </a:pPr>
                      <a:r>
                        <a:rPr lang="en-US" sz="1400" b="1" dirty="0">
                          <a:solidFill>
                            <a:schemeClr val="tx2"/>
                          </a:solidFill>
                        </a:rPr>
                        <a:t>3</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03.jpg</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latin typeface="Courier New" pitchFamily="34" charset="0"/>
                          <a:ea typeface="Courier New" pitchFamily="34" charset="-122"/>
                          <a:cs typeface="Courier New" pitchFamily="34" charset="-120"/>
                        </a:rPr>
                        <a:t>D5f89fgg</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PolyjuicePotion.png – falso PNG, file di credenziali</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75488">
                <a:tc>
                  <a:txBody>
                    <a:bodyPr/>
                    <a:lstStyle/>
                    <a:p>
                      <a:pPr marL="0" indent="0" algn="ctr">
                        <a:buNone/>
                      </a:pPr>
                      <a:r>
                        <a:rPr lang="en-US" sz="1400" b="1" dirty="0">
                          <a:solidFill>
                            <a:schemeClr val="tx2"/>
                          </a:solidFill>
                        </a:rPr>
                        <a:t>4</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04, 05, 06, 07, 11.jpg</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latin typeface="Courier New" pitchFamily="34" charset="0"/>
                          <a:ea typeface="Courier New" pitchFamily="34" charset="-122"/>
                          <a:cs typeface="Courier New" pitchFamily="34" charset="-120"/>
                        </a:rPr>
                        <a:t>Aswap78122</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Frammenti base64 flag-aa … flag-ad, flag-ah</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75488">
                <a:tc>
                  <a:txBody>
                    <a:bodyPr/>
                    <a:lstStyle/>
                    <a:p>
                      <a:pPr marL="0" indent="0" algn="ctr">
                        <a:buNone/>
                      </a:pPr>
                      <a:r>
                        <a:rPr lang="en-US" sz="1400" b="1" dirty="0">
                          <a:solidFill>
                            <a:schemeClr val="tx2"/>
                          </a:solidFill>
                        </a:rPr>
                        <a:t>5</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09, 10.jpg</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latin typeface="Courier New" pitchFamily="34" charset="0"/>
                          <a:ea typeface="Courier New" pitchFamily="34" charset="-122"/>
                          <a:cs typeface="Courier New" pitchFamily="34" charset="-120"/>
                        </a:rPr>
                        <a:t>Ada81QlAsKL</a:t>
                      </a:r>
                      <a:endParaRPr lang="en-US" sz="1400" dirty="0">
                        <a:latin typeface="Courier New" charset="0"/>
                        <a:ea typeface="Courier New" charset="0"/>
                        <a:cs typeface="Courier New"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Frammenti base64 flag-ae, flag-af</a:t>
                      </a:r>
                      <a:endParaRPr lang="en-US" sz="1400" dirty="0"/>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8" name="tcap"/>
          <p:cNvSpPr txBox="1"/>
          <p:nvPr/>
        </p:nvSpPr>
        <p:spPr>
          <a:xfrm>
            <a:off x="548640" y="5074920"/>
            <a:ext cx="11094415" cy="274320"/>
          </a:xfrm>
          <a:prstGeom prst="rect">
            <a:avLst/>
          </a:prstGeom>
          <a:noFill/>
          <a:ln/>
        </p:spPr>
        <p:txBody>
          <a:bodyPr wrap="square" lIns="0" tIns="0" rIns="0" bIns="0" rtlCol="0" anchor="ctr"/>
          <a:lstStyle/>
          <a:p>
            <a:pPr marL="0" indent="0" algn="ctr">
              <a:buNone/>
            </a:pPr>
            <a:r>
              <a:rPr lang="en-US" sz="1100" i="1" dirty="0">
                <a:solidFill>
                  <a:schemeClr val="accent4"/>
                </a:solidFill>
              </a:rPr>
              <a:t>Tabella 8 – Catena di sblocco delle immagini.</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7 · ENIGMA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Il file di credenziali e i frammenti “split”</a:t>
            </a:r>
            <a:endParaRPr lang="en-US" sz="3000" dirty="0"/>
          </a:p>
        </p:txBody>
      </p:sp>
      <p:pic>
        <p:nvPicPr>
          <p:cNvPr id="4" name="img-f10" descr="File di credenziali estratto da 03.jpg"/>
          <p:cNvPicPr>
            <a:picLocks noChangeAspect="1"/>
          </p:cNvPicPr>
          <p:nvPr/>
        </p:nvPicPr>
        <p:blipFill>
          <a:blip r:embed="rId3"/>
          <a:stretch>
            <a:fillRect/>
          </a:stretch>
        </p:blipFill>
        <p:spPr>
          <a:xfrm>
            <a:off x="548640" y="1546469"/>
            <a:ext cx="6949440" cy="2119142"/>
          </a:xfrm>
          <a:prstGeom prst="rect">
            <a:avLst/>
          </a:prstGeom>
        </p:spPr>
      </p:pic>
      <p:sp>
        <p:nvSpPr>
          <p:cNvPr id="5" name="caption"/>
          <p:cNvSpPr txBox="1"/>
          <p:nvPr/>
        </p:nvSpPr>
        <p:spPr>
          <a:xfrm>
            <a:off x="548640" y="3840480"/>
            <a:ext cx="6949440"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10 – </a:t>
            </a:r>
            <a:r>
              <a:rPr lang="en-US" sz="1100" i="1" dirty="0">
                <a:solidFill>
                  <a:schemeClr val="accent4"/>
                </a:solidFill>
              </a:rPr>
              <a:t>Contenuto del file di credenziali estratto dall’immagine 03.jpg.</a:t>
            </a:r>
            <a:endParaRPr lang="en-US" sz="1100" dirty="0"/>
          </a:p>
        </p:txBody>
      </p:sp>
      <p:sp>
        <p:nvSpPr>
          <p:cNvPr id="6" name="body-text"/>
          <p:cNvSpPr txBox="1"/>
          <p:nvPr/>
        </p:nvSpPr>
        <p:spPr>
          <a:xfrm>
            <a:off x="7772400" y="1463040"/>
            <a:ext cx="3867912" cy="4480560"/>
          </a:xfrm>
          <a:prstGeom prst="rect">
            <a:avLst/>
          </a:prstGeom>
          <a:noFill/>
          <a:ln/>
        </p:spPr>
        <p:txBody>
          <a:bodyPr wrap="square" lIns="0" tIns="0" rIns="0" bIns="0" rtlCol="0" anchor="t"/>
          <a:lstStyle/>
          <a:p>
            <a:pPr marL="0" indent="0">
              <a:spcAft>
                <a:spcPts val="800"/>
              </a:spcAft>
              <a:buNone/>
            </a:pPr>
            <a:r>
              <a:rPr lang="en-US" sz="1500" dirty="0">
                <a:solidFill>
                  <a:schemeClr val="tx2"/>
                </a:solidFill>
              </a:rPr>
              <a:t>Il file di credenziali del passo 3 conteneva le chiavi per le fasi successive.</a:t>
            </a:r>
            <a:endParaRPr lang="en-US" sz="1500" dirty="0"/>
          </a:p>
          <a:p>
            <a:pPr marL="342900" indent="-342900">
              <a:spcAft>
                <a:spcPts val="800"/>
              </a:spcAft>
              <a:buSzPct val="100000"/>
              <a:buChar char="▪"/>
            </a:pPr>
            <a:r>
              <a:rPr lang="en-US" sz="1500" b="1" dirty="0">
                <a:solidFill>
                  <a:schemeClr val="tx1"/>
                </a:solidFill>
              </a:rPr>
              <a:t>Dettaglio rilevante: </a:t>
            </a:r>
            <a:r>
              <a:rPr lang="en-US" sz="1500" dirty="0">
                <a:solidFill>
                  <a:schemeClr val="tx2"/>
                </a:solidFill>
              </a:rPr>
              <a:t>i frammenti sono denominati flag-aa, flag-ab, …, flag-ah, ossia esattamente l’output del comando Unix split. Un singolo file è stato suddiviso in otto parti e ciascuna parte è stata nascosta in un’immagine diversa.</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7 · ENIGMA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7.1.3 Linguaggi non convenzionali: Brainfuck e COW</a:t>
            </a:r>
            <a:endParaRPr lang="en-US" sz="3000" dirty="0"/>
          </a:p>
        </p:txBody>
      </p:sp>
      <p:sp>
        <p:nvSpPr>
          <p:cNvPr id="4" name="bf"/>
          <p:cNvSpPr txBox="1"/>
          <p:nvPr/>
        </p:nvSpPr>
        <p:spPr>
          <a:xfrm>
            <a:off x="548640" y="1371600"/>
            <a:ext cx="5410048" cy="1188720"/>
          </a:xfrm>
          <a:prstGeom prst="rect">
            <a:avLst/>
          </a:prstGeom>
          <a:noFill/>
          <a:ln/>
        </p:spPr>
        <p:txBody>
          <a:bodyPr wrap="square" lIns="0" tIns="0" rIns="0" bIns="0" rtlCol="0" anchor="t"/>
          <a:lstStyle/>
          <a:p>
            <a:pPr marL="0" indent="0">
              <a:buNone/>
            </a:pPr>
            <a:r>
              <a:rPr lang="en-US" sz="1500" b="1" dirty="0">
                <a:solidFill>
                  <a:schemeClr val="accent1"/>
                </a:solidFill>
              </a:rPr>
              <a:t>Brainfuck (01.jpg)</a:t>
            </a:r>
            <a:endParaRPr lang="en-US" sz="1500" dirty="0"/>
          </a:p>
          <a:p>
            <a:pPr marL="0" indent="0">
              <a:buNone/>
            </a:pPr>
            <a:r>
              <a:rPr lang="en-US" sz="1500" dirty="0">
                <a:solidFill>
                  <a:schemeClr val="tx2"/>
                </a:solidFill>
              </a:rPr>
              <a:t>Contenuto costituito unicamente da simboli. Eseguito con un interprete Brainfuck, produce la stringa </a:t>
            </a:r>
            <a:r>
              <a:rPr lang="en-US" sz="1500" b="1" dirty="0">
                <a:solidFill>
                  <a:schemeClr val="tx1"/>
                </a:solidFill>
              </a:rPr>
              <a:t>D5f89fgg</a:t>
            </a:r>
            <a:r>
              <a:rPr lang="en-US" sz="1500" dirty="0">
                <a:solidFill>
                  <a:schemeClr val="tx2"/>
                </a:solidFill>
              </a:rPr>
              <a:t>, la password dello stadio 2.</a:t>
            </a:r>
            <a:endParaRPr lang="en-US" sz="1500" dirty="0"/>
          </a:p>
        </p:txBody>
      </p:sp>
      <p:pic>
        <p:nvPicPr>
          <p:cNvPr id="5" name="img-f11" descr="Codice Brainfuck in pass.txt"/>
          <p:cNvPicPr>
            <a:picLocks noChangeAspect="1"/>
          </p:cNvPicPr>
          <p:nvPr/>
        </p:nvPicPr>
        <p:blipFill>
          <a:blip r:embed="rId3"/>
          <a:stretch>
            <a:fillRect/>
          </a:stretch>
        </p:blipFill>
        <p:spPr>
          <a:xfrm>
            <a:off x="548640" y="3313320"/>
            <a:ext cx="5410048" cy="1785841"/>
          </a:xfrm>
          <a:prstGeom prst="rect">
            <a:avLst/>
          </a:prstGeom>
        </p:spPr>
      </p:pic>
      <p:sp>
        <p:nvSpPr>
          <p:cNvPr id="6" name="caption"/>
          <p:cNvSpPr txBox="1"/>
          <p:nvPr/>
        </p:nvSpPr>
        <p:spPr>
          <a:xfrm>
            <a:off x="548640" y="5852160"/>
            <a:ext cx="5410048"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11 – </a:t>
            </a:r>
            <a:r>
              <a:rPr lang="en-US" sz="1100" i="1" dirty="0">
                <a:solidFill>
                  <a:schemeClr val="accent4"/>
                </a:solidFill>
              </a:rPr>
              <a:t>Codice Brainfuck contenuto nel file pass.txt.</a:t>
            </a:r>
            <a:endParaRPr lang="en-US" sz="1100" dirty="0"/>
          </a:p>
        </p:txBody>
      </p:sp>
      <p:sp>
        <p:nvSpPr>
          <p:cNvPr id="7" name="cow"/>
          <p:cNvSpPr txBox="1"/>
          <p:nvPr/>
        </p:nvSpPr>
        <p:spPr>
          <a:xfrm>
            <a:off x="6233008" y="1371600"/>
            <a:ext cx="5410048" cy="1188720"/>
          </a:xfrm>
          <a:prstGeom prst="rect">
            <a:avLst/>
          </a:prstGeom>
          <a:noFill/>
          <a:ln/>
        </p:spPr>
        <p:txBody>
          <a:bodyPr wrap="square" lIns="0" tIns="0" rIns="0" bIns="0" rtlCol="0" anchor="t"/>
          <a:lstStyle/>
          <a:p>
            <a:pPr marL="0" indent="0">
              <a:buNone/>
            </a:pPr>
            <a:r>
              <a:rPr lang="en-US" sz="1500" b="1" dirty="0">
                <a:solidFill>
                  <a:schemeClr val="accent1"/>
                </a:solidFill>
              </a:rPr>
              <a:t>COW (02.jpg)</a:t>
            </a:r>
            <a:endParaRPr lang="en-US" sz="1500" dirty="0"/>
          </a:p>
          <a:p>
            <a:pPr marL="0" indent="0">
              <a:buNone/>
            </a:pPr>
            <a:r>
              <a:rPr lang="en-US" sz="1500" dirty="0">
                <a:solidFill>
                  <a:schemeClr val="tx2"/>
                </a:solidFill>
              </a:rPr>
              <a:t>Token moo, mOo, MOO, OOO…, tipici del linguaggio COW. Eseguito con un interprete COW, produce la parola </a:t>
            </a:r>
            <a:r>
              <a:rPr lang="en-US" sz="1500" b="1" dirty="0">
                <a:solidFill>
                  <a:schemeClr val="tx1"/>
                </a:solidFill>
              </a:rPr>
              <a:t>base64</a:t>
            </a:r>
            <a:r>
              <a:rPr lang="en-US" sz="1500" dirty="0">
                <a:solidFill>
                  <a:schemeClr val="tx2"/>
                </a:solidFill>
              </a:rPr>
              <a:t>, indizio su come trattare i frammenti dello stadio finale.</a:t>
            </a:r>
            <a:endParaRPr lang="en-US" sz="1500" dirty="0"/>
          </a:p>
        </p:txBody>
      </p:sp>
      <p:pic>
        <p:nvPicPr>
          <p:cNvPr id="8" name="img-f12" descr="Codice COW in help.txt"/>
          <p:cNvPicPr>
            <a:picLocks noChangeAspect="1"/>
          </p:cNvPicPr>
          <p:nvPr/>
        </p:nvPicPr>
        <p:blipFill>
          <a:blip r:embed="rId4"/>
          <a:stretch>
            <a:fillRect/>
          </a:stretch>
        </p:blipFill>
        <p:spPr>
          <a:xfrm>
            <a:off x="6233008" y="2712922"/>
            <a:ext cx="5410048" cy="2986636"/>
          </a:xfrm>
          <a:prstGeom prst="rect">
            <a:avLst/>
          </a:prstGeom>
        </p:spPr>
      </p:pic>
      <p:sp>
        <p:nvSpPr>
          <p:cNvPr id="9" name="caption"/>
          <p:cNvSpPr txBox="1"/>
          <p:nvPr/>
        </p:nvSpPr>
        <p:spPr>
          <a:xfrm>
            <a:off x="6233008" y="5852160"/>
            <a:ext cx="5410048"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12 – </a:t>
            </a:r>
            <a:r>
              <a:rPr lang="en-US" sz="1100" i="1" dirty="0">
                <a:solidFill>
                  <a:schemeClr val="accent4"/>
                </a:solidFill>
              </a:rPr>
              <a:t>Codice COW contenuto nel file help.txt.</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7 · ENIGMA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7.1.4 Ricomposizione: dai frammenti ai file di testo</a:t>
            </a:r>
            <a:endParaRPr lang="en-US" sz="3000" dirty="0"/>
          </a:p>
        </p:txBody>
      </p:sp>
      <p:sp>
        <p:nvSpPr>
          <p:cNvPr id="4" name="intro"/>
          <p:cNvSpPr txBox="1"/>
          <p:nvPr/>
        </p:nvSpPr>
        <p:spPr>
          <a:xfrm>
            <a:off x="548640" y="1325880"/>
            <a:ext cx="11094415" cy="685800"/>
          </a:xfrm>
          <a:prstGeom prst="rect">
            <a:avLst/>
          </a:prstGeom>
          <a:noFill/>
          <a:ln/>
        </p:spPr>
        <p:txBody>
          <a:bodyPr wrap="square" lIns="0" tIns="0" rIns="0" bIns="0" rtlCol="0" anchor="ctr"/>
          <a:lstStyle/>
          <a:p>
            <a:pPr marL="0" indent="0">
              <a:buNone/>
            </a:pPr>
            <a:r>
              <a:rPr lang="en-US" sz="1500" dirty="0">
                <a:solidFill>
                  <a:schemeClr val="tx2"/>
                </a:solidFill>
              </a:rPr>
              <a:t>Con le password “Aswap78122” e “Ada81QlAsKL” sulle immagini .jpg (cfr. Tabella 8) sono state estratte le flag. Poiché i file .png non erano immagini valide e non venivano letti dal sistema, ne è stata modificata l’estensione in .txt.</a:t>
            </a:r>
            <a:endParaRPr lang="en-US" sz="1500" dirty="0"/>
          </a:p>
        </p:txBody>
      </p:sp>
      <p:pic>
        <p:nvPicPr>
          <p:cNvPr id="5" name="img-f13" descr="Frammenti estratti con estensione .png"/>
          <p:cNvPicPr>
            <a:picLocks noChangeAspect="1"/>
          </p:cNvPicPr>
          <p:nvPr/>
        </p:nvPicPr>
        <p:blipFill>
          <a:blip r:embed="rId3"/>
          <a:stretch>
            <a:fillRect/>
          </a:stretch>
        </p:blipFill>
        <p:spPr>
          <a:xfrm>
            <a:off x="548640" y="2251738"/>
            <a:ext cx="5410048" cy="3360365"/>
          </a:xfrm>
          <a:prstGeom prst="rect">
            <a:avLst/>
          </a:prstGeom>
        </p:spPr>
      </p:pic>
      <p:pic>
        <p:nvPicPr>
          <p:cNvPr id="6" name="img-f14" descr="Frammenti dopo la modifica in .txt"/>
          <p:cNvPicPr>
            <a:picLocks noChangeAspect="1"/>
          </p:cNvPicPr>
          <p:nvPr/>
        </p:nvPicPr>
        <p:blipFill>
          <a:blip r:embed="rId4"/>
          <a:stretch>
            <a:fillRect/>
          </a:stretch>
        </p:blipFill>
        <p:spPr>
          <a:xfrm>
            <a:off x="6233008" y="2259849"/>
            <a:ext cx="5410048" cy="3344142"/>
          </a:xfrm>
          <a:prstGeom prst="rect">
            <a:avLst/>
          </a:prstGeom>
        </p:spPr>
      </p:pic>
      <p:sp>
        <p:nvSpPr>
          <p:cNvPr id="7" name="caption"/>
          <p:cNvSpPr txBox="1"/>
          <p:nvPr/>
        </p:nvSpPr>
        <p:spPr>
          <a:xfrm>
            <a:off x="548640" y="5806440"/>
            <a:ext cx="5410048"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13 – </a:t>
            </a:r>
            <a:r>
              <a:rPr lang="en-US" sz="1100" i="1" dirty="0">
                <a:solidFill>
                  <a:schemeClr val="accent4"/>
                </a:solidFill>
              </a:rPr>
              <a:t>Frammenti estratti dalle immagini, con estensione .png.</a:t>
            </a:r>
            <a:endParaRPr lang="en-US" sz="1100" dirty="0"/>
          </a:p>
        </p:txBody>
      </p:sp>
      <p:sp>
        <p:nvSpPr>
          <p:cNvPr id="8" name="caption"/>
          <p:cNvSpPr txBox="1"/>
          <p:nvPr/>
        </p:nvSpPr>
        <p:spPr>
          <a:xfrm>
            <a:off x="6233008" y="5806440"/>
            <a:ext cx="5410048"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14 – </a:t>
            </a:r>
            <a:r>
              <a:rPr lang="en-US" sz="1100" i="1" dirty="0">
                <a:solidFill>
                  <a:schemeClr val="accent4"/>
                </a:solidFill>
              </a:rPr>
              <a:t>Frammenti dopo la modifica dell’estensione in .txt.</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7 · ENIGMA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Base64 → immagine: la flag finale</a:t>
            </a:r>
            <a:endParaRPr lang="en-US" sz="3000" dirty="0"/>
          </a:p>
        </p:txBody>
      </p:sp>
      <p:pic>
        <p:nvPicPr>
          <p:cNvPr id="4" name="img-f15" descr="Contenuto dei frammenti base64"/>
          <p:cNvPicPr>
            <a:picLocks noChangeAspect="1"/>
          </p:cNvPicPr>
          <p:nvPr/>
        </p:nvPicPr>
        <p:blipFill>
          <a:blip r:embed="rId3"/>
          <a:stretch>
            <a:fillRect/>
          </a:stretch>
        </p:blipFill>
        <p:spPr>
          <a:xfrm>
            <a:off x="548640" y="1380091"/>
            <a:ext cx="5394960" cy="3549177"/>
          </a:xfrm>
          <a:prstGeom prst="rect">
            <a:avLst/>
          </a:prstGeom>
        </p:spPr>
      </p:pic>
      <p:sp>
        <p:nvSpPr>
          <p:cNvPr id="5" name="caption"/>
          <p:cNvSpPr txBox="1"/>
          <p:nvPr/>
        </p:nvSpPr>
        <p:spPr>
          <a:xfrm>
            <a:off x="548640" y="4983480"/>
            <a:ext cx="5394960"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15 – </a:t>
            </a:r>
            <a:r>
              <a:rPr lang="en-US" sz="1100" i="1" dirty="0">
                <a:solidFill>
                  <a:schemeClr val="accent4"/>
                </a:solidFill>
              </a:rPr>
              <a:t>Contenuto dei frammenti codificati in base64.</a:t>
            </a:r>
            <a:endParaRPr lang="en-US" sz="1100" dirty="0"/>
          </a:p>
        </p:txBody>
      </p:sp>
      <p:pic>
        <p:nvPicPr>
          <p:cNvPr id="6" name="img-f16" descr="Immagine ricomposta con la flag"/>
          <p:cNvPicPr>
            <a:picLocks noChangeAspect="1"/>
          </p:cNvPicPr>
          <p:nvPr/>
        </p:nvPicPr>
        <p:blipFill>
          <a:blip r:embed="rId4"/>
          <a:stretch>
            <a:fillRect/>
          </a:stretch>
        </p:blipFill>
        <p:spPr>
          <a:xfrm>
            <a:off x="6245352" y="1751990"/>
            <a:ext cx="5394960" cy="2805379"/>
          </a:xfrm>
          <a:prstGeom prst="rect">
            <a:avLst/>
          </a:prstGeom>
        </p:spPr>
      </p:pic>
      <p:sp>
        <p:nvSpPr>
          <p:cNvPr id="7" name="caption"/>
          <p:cNvSpPr txBox="1"/>
          <p:nvPr/>
        </p:nvSpPr>
        <p:spPr>
          <a:xfrm>
            <a:off x="6245352" y="4983480"/>
            <a:ext cx="5394960"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16 – </a:t>
            </a:r>
            <a:r>
              <a:rPr lang="en-US" sz="1100" i="1" dirty="0">
                <a:solidFill>
                  <a:schemeClr val="accent4"/>
                </a:solidFill>
              </a:rPr>
              <a:t>Immagine ricomposta contenente la flag finale.</a:t>
            </a:r>
            <a:endParaRPr lang="en-US" sz="1100" dirty="0"/>
          </a:p>
        </p:txBody>
      </p:sp>
      <p:sp>
        <p:nvSpPr>
          <p:cNvPr id="8" name="body-text"/>
          <p:cNvSpPr txBox="1"/>
          <p:nvPr/>
        </p:nvSpPr>
        <p:spPr>
          <a:xfrm>
            <a:off x="548640" y="5349240"/>
            <a:ext cx="11094415" cy="777240"/>
          </a:xfrm>
          <a:prstGeom prst="rect">
            <a:avLst/>
          </a:prstGeom>
          <a:noFill/>
          <a:ln/>
        </p:spPr>
        <p:txBody>
          <a:bodyPr wrap="square" lIns="0" tIns="0" rIns="0" bIns="0" rtlCol="0" anchor="ctr"/>
          <a:lstStyle/>
          <a:p>
            <a:pPr marL="0" indent="0">
              <a:buNone/>
            </a:pPr>
            <a:r>
              <a:rPr lang="en-US" sz="1400" dirty="0">
                <a:solidFill>
                  <a:schemeClr val="tx2"/>
                </a:solidFill>
              </a:rPr>
              <a:t>Il contenuto era in base64: i frammenti sono stati copiati in sequenza in un unico file “flag.txt”, concatenati in ordine alfabetico (flag-aa → flag-ah) e decodificati. Il risultato è un PNG raffigurante una sala server con la scritta REAL FLAG: DRAGON34, la soluzione della cartella “misteriosa” inviata dalla Compagnia Theta.</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292608"/>
            <a:ext cx="11094415" cy="274320"/>
          </a:xfrm>
          <a:prstGeom prst="rect">
            <a:avLst/>
          </a:prstGeom>
          <a:noFill/>
          <a:ln/>
        </p:spPr>
        <p:txBody>
          <a:bodyPr wrap="square" lIns="0" tIns="0" rIns="0" bIns="0" rtlCol="0"/>
          <a:lstStyle/>
          <a:p>
            <a:pPr marL="0" indent="0" algn="l">
              <a:buNone/>
            </a:pPr>
            <a:r>
              <a:rPr lang="en-US" sz="1100" b="1" kern="0" spc="200" dirty="0">
                <a:solidFill>
                  <a:schemeClr val="accent1"/>
                </a:solidFill>
              </a:rPr>
              <a:t>7 · ENIGMA</a:t>
            </a:r>
            <a:endParaRPr lang="en-US" sz="1100" dirty="0"/>
          </a:p>
        </p:txBody>
      </p:sp>
      <p:sp>
        <p:nvSpPr>
          <p:cNvPr id="3" name="Text 1"/>
          <p:cNvSpPr>
            <a:spLocks noGrp="1"/>
          </p:cNvSpPr>
          <p:nvPr>
            <p:ph type="title" idx="102" hasCustomPrompt="1"/>
          </p:nvPr>
        </p:nvSpPr>
        <p:spPr>
          <a:xfrm>
            <a:off x="548640" y="54864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7.1.5 Recupero della password dell’ultima immagine</a:t>
            </a:r>
            <a:endParaRPr lang="en-US" sz="3000" dirty="0"/>
          </a:p>
        </p:txBody>
      </p:sp>
      <p:sp>
        <p:nvSpPr>
          <p:cNvPr id="4" name="body-text"/>
          <p:cNvSpPr txBox="1"/>
          <p:nvPr/>
        </p:nvSpPr>
        <p:spPr>
          <a:xfrm>
            <a:off x="548640" y="1371600"/>
            <a:ext cx="5486400" cy="822960"/>
          </a:xfrm>
          <a:prstGeom prst="rect">
            <a:avLst/>
          </a:prstGeom>
          <a:noFill/>
          <a:ln/>
        </p:spPr>
        <p:txBody>
          <a:bodyPr wrap="square" lIns="0" tIns="0" rIns="0" bIns="0" rtlCol="0" anchor="t"/>
          <a:lstStyle/>
          <a:p>
            <a:pPr marL="0" indent="0">
              <a:spcAft>
                <a:spcPts val="800"/>
              </a:spcAft>
              <a:buNone/>
            </a:pPr>
            <a:r>
              <a:rPr lang="en-US" sz="1400" dirty="0">
                <a:solidFill>
                  <a:schemeClr val="tx2"/>
                </a:solidFill>
              </a:rPr>
              <a:t>Per l’attacco a dizionario su Kali Linux è stato utilizzato stegseek, il cracker di steghide più rapido, che opera con una wordlist e non richiede Python.</a:t>
            </a:r>
            <a:endParaRPr lang="en-US" sz="1400" dirty="0"/>
          </a:p>
        </p:txBody>
      </p:sp>
      <p:sp>
        <p:nvSpPr>
          <p:cNvPr id="5" name="code-bg"/>
          <p:cNvSpPr/>
          <p:nvPr/>
        </p:nvSpPr>
        <p:spPr>
          <a:xfrm>
            <a:off x="548640" y="2194560"/>
            <a:ext cx="5486400" cy="868680"/>
          </a:xfrm>
          <a:prstGeom prst="roundRect">
            <a:avLst>
              <a:gd name="adj" fmla="val 8421"/>
            </a:avLst>
          </a:prstGeom>
          <a:solidFill>
            <a:srgbClr val="0F1117"/>
          </a:solidFill>
          <a:ln w="12700">
            <a:solidFill>
              <a:srgbClr val="0F1117"/>
            </a:solidFill>
            <a:prstDash val="solid"/>
          </a:ln>
        </p:spPr>
      </p:sp>
      <p:sp>
        <p:nvSpPr>
          <p:cNvPr id="6" name="code"/>
          <p:cNvSpPr txBox="1"/>
          <p:nvPr/>
        </p:nvSpPr>
        <p:spPr>
          <a:xfrm>
            <a:off x="777240" y="2359152"/>
            <a:ext cx="5029200" cy="594360"/>
          </a:xfrm>
          <a:prstGeom prst="rect">
            <a:avLst/>
          </a:prstGeom>
          <a:noFill/>
          <a:ln/>
        </p:spPr>
        <p:txBody>
          <a:bodyPr wrap="square" lIns="0" tIns="0" rIns="0" bIns="0" rtlCol="0" anchor="t"/>
          <a:lstStyle/>
          <a:p>
            <a:pPr marL="0" indent="0">
              <a:buNone/>
            </a:pPr>
            <a:r>
              <a:rPr lang="en-US" sz="1200" dirty="0">
                <a:solidFill>
                  <a:srgbClr val="E5E7EB"/>
                </a:solidFill>
                <a:latin typeface="Courier New" pitchFamily="34" charset="0"/>
                <a:ea typeface="Courier New" pitchFamily="34" charset="-122"/>
                <a:cs typeface="Courier New" pitchFamily="34" charset="-120"/>
              </a:rPr>
              <a:t>sudo apt update</a:t>
            </a:r>
            <a:endParaRPr lang="en-US" sz="1200" dirty="0"/>
          </a:p>
          <a:p>
            <a:pPr marL="0" indent="0">
              <a:buNone/>
            </a:pPr>
            <a:r>
              <a:rPr lang="en-US" sz="1200" dirty="0">
                <a:solidFill>
                  <a:srgbClr val="E5E7EB"/>
                </a:solidFill>
                <a:latin typeface="Courier New" pitchFamily="34" charset="0"/>
                <a:ea typeface="Courier New" pitchFamily="34" charset="-122"/>
                <a:cs typeface="Courier New" pitchFamily="34" charset="-120"/>
              </a:rPr>
              <a:t>sudo apt install stegseek</a:t>
            </a:r>
            <a:endParaRPr lang="en-US" sz="1200" dirty="0"/>
          </a:p>
        </p:txBody>
      </p:sp>
      <p:sp>
        <p:nvSpPr>
          <p:cNvPr id="7" name="body-text"/>
          <p:cNvSpPr txBox="1"/>
          <p:nvPr/>
        </p:nvSpPr>
        <p:spPr>
          <a:xfrm>
            <a:off x="548640" y="3200400"/>
            <a:ext cx="5486400" cy="685800"/>
          </a:xfrm>
          <a:prstGeom prst="rect">
            <a:avLst/>
          </a:prstGeom>
          <a:noFill/>
          <a:ln/>
        </p:spPr>
        <p:txBody>
          <a:bodyPr wrap="square" lIns="0" tIns="0" rIns="0" bIns="0" rtlCol="0" anchor="t"/>
          <a:lstStyle/>
          <a:p>
            <a:pPr marL="0" indent="0">
              <a:spcAft>
                <a:spcPts val="800"/>
              </a:spcAft>
              <a:buNone/>
            </a:pPr>
            <a:r>
              <a:rPr lang="en-US" sz="1400" dirty="0">
                <a:solidFill>
                  <a:schemeClr val="tx2"/>
                </a:solidFill>
              </a:rPr>
              <a:t>Creata una wordlist con tutte le combinazioni della parola DRAGON34 e delle parole o password emerse durante l’enigma, è stato eseguito:</a:t>
            </a:r>
            <a:endParaRPr lang="en-US" sz="1400" dirty="0"/>
          </a:p>
        </p:txBody>
      </p:sp>
      <p:sp>
        <p:nvSpPr>
          <p:cNvPr id="8" name="code-bg"/>
          <p:cNvSpPr/>
          <p:nvPr/>
        </p:nvSpPr>
        <p:spPr>
          <a:xfrm>
            <a:off x="548640" y="3931920"/>
            <a:ext cx="5486400" cy="548640"/>
          </a:xfrm>
          <a:prstGeom prst="roundRect">
            <a:avLst>
              <a:gd name="adj" fmla="val 13333"/>
            </a:avLst>
          </a:prstGeom>
          <a:solidFill>
            <a:srgbClr val="0F1117"/>
          </a:solidFill>
          <a:ln w="12700">
            <a:solidFill>
              <a:srgbClr val="0F1117"/>
            </a:solidFill>
            <a:prstDash val="solid"/>
          </a:ln>
        </p:spPr>
      </p:sp>
      <p:sp>
        <p:nvSpPr>
          <p:cNvPr id="9" name="code"/>
          <p:cNvSpPr txBox="1"/>
          <p:nvPr/>
        </p:nvSpPr>
        <p:spPr>
          <a:xfrm>
            <a:off x="777240" y="4096512"/>
            <a:ext cx="5029200" cy="274320"/>
          </a:xfrm>
          <a:prstGeom prst="rect">
            <a:avLst/>
          </a:prstGeom>
          <a:noFill/>
          <a:ln/>
        </p:spPr>
        <p:txBody>
          <a:bodyPr wrap="square" lIns="0" tIns="0" rIns="0" bIns="0" rtlCol="0" anchor="t"/>
          <a:lstStyle/>
          <a:p>
            <a:pPr marL="0" indent="0">
              <a:buNone/>
            </a:pPr>
            <a:r>
              <a:rPr lang="en-US" sz="1200" dirty="0">
                <a:solidFill>
                  <a:srgbClr val="E5E7EB"/>
                </a:solidFill>
                <a:latin typeface="Courier New" pitchFamily="34" charset="0"/>
                <a:ea typeface="Courier New" pitchFamily="34" charset="-122"/>
                <a:cs typeface="Courier New" pitchFamily="34" charset="-120"/>
              </a:rPr>
              <a:t>stegseek images/fulls/12.jpg wordlist.txt</a:t>
            </a:r>
            <a:endParaRPr lang="en-US" sz="1200" dirty="0"/>
          </a:p>
        </p:txBody>
      </p:sp>
      <p:sp>
        <p:nvSpPr>
          <p:cNvPr id="10" name="body-text"/>
          <p:cNvSpPr txBox="1"/>
          <p:nvPr/>
        </p:nvSpPr>
        <p:spPr>
          <a:xfrm>
            <a:off x="548640" y="4617720"/>
            <a:ext cx="5486400" cy="1371600"/>
          </a:xfrm>
          <a:prstGeom prst="rect">
            <a:avLst/>
          </a:prstGeom>
          <a:noFill/>
          <a:ln/>
        </p:spPr>
        <p:txBody>
          <a:bodyPr wrap="square" lIns="0" tIns="0" rIns="0" bIns="0" rtlCol="0" anchor="t"/>
          <a:lstStyle/>
          <a:p>
            <a:pPr marL="0" indent="0">
              <a:buNone/>
            </a:pPr>
            <a:r>
              <a:rPr lang="en-US" sz="1400" dirty="0">
                <a:solidFill>
                  <a:schemeClr val="tx2"/>
                </a:solidFill>
              </a:rPr>
              <a:t>Password individuata: </a:t>
            </a:r>
            <a:r>
              <a:rPr lang="en-US" sz="1400" b="1" dirty="0">
                <a:solidFill>
                  <a:schemeClr val="accent1"/>
                </a:solidFill>
                <a:latin typeface="Courier New" pitchFamily="34" charset="0"/>
                <a:ea typeface="Courier New" pitchFamily="34" charset="-122"/>
                <a:cs typeface="Courier New" pitchFamily="34" charset="-120"/>
              </a:rPr>
              <a:t>base DRAGON34</a:t>
            </a:r>
            <a:r>
              <a:rPr lang="en-US" sz="1400" dirty="0">
                <a:solidFill>
                  <a:schemeClr val="tx2"/>
                </a:solidFill>
              </a:rPr>
              <a:t>. Si apre l’immagine a destra; selezionando “grazie speciale” si viene reindirizzati alla sigla iniziale della serie animata Futurama su YouTube (</a:t>
            </a:r>
            <a:r>
              <a:rPr lang="en-US" sz="1400" u="sng" dirty="0">
                <a:solidFill>
                  <a:schemeClr val="accent1"/>
                </a:solidFill>
                <a:hlinkClick r:id="rId3">
                  <a:extLst>
                    <a:ext uri="{A12FA001-AC4F-418D-AE19-62706E023703}">
                      <ahyp:hlinkClr xmlns:ahyp="http://schemas.microsoft.com/office/drawing/2018/hyperlinkcolor" val="tx"/>
                    </a:ext>
                  </a:extLst>
                </a:hlinkClick>
              </a:rPr>
              <a:t>youtube.com/watch?v=MWiWEJQJYag</a:t>
            </a:r>
            <a:r>
              <a:rPr lang="en-US" sz="1400" dirty="0">
                <a:solidFill>
                  <a:schemeClr val="tx2"/>
                </a:solidFill>
              </a:rPr>
              <a:t>).</a:t>
            </a:r>
            <a:endParaRPr lang="en-US" sz="1400" dirty="0"/>
          </a:p>
        </p:txBody>
      </p:sp>
      <p:pic>
        <p:nvPicPr>
          <p:cNvPr id="11" name="img-f17" descr="Immagine estratta da 12.jpg"/>
          <p:cNvPicPr>
            <a:picLocks noChangeAspect="1"/>
          </p:cNvPicPr>
          <p:nvPr/>
        </p:nvPicPr>
        <p:blipFill>
          <a:blip r:embed="rId4"/>
          <a:stretch>
            <a:fillRect/>
          </a:stretch>
        </p:blipFill>
        <p:spPr>
          <a:xfrm>
            <a:off x="6400800" y="2257537"/>
            <a:ext cx="5239512" cy="2342926"/>
          </a:xfrm>
          <a:prstGeom prst="rect">
            <a:avLst/>
          </a:prstGeom>
        </p:spPr>
      </p:pic>
      <p:sp>
        <p:nvSpPr>
          <p:cNvPr id="12" name="caption"/>
          <p:cNvSpPr txBox="1"/>
          <p:nvPr/>
        </p:nvSpPr>
        <p:spPr>
          <a:xfrm>
            <a:off x="6400800" y="5486400"/>
            <a:ext cx="5239512" cy="365760"/>
          </a:xfrm>
          <a:prstGeom prst="rect">
            <a:avLst/>
          </a:prstGeom>
          <a:noFill/>
          <a:ln/>
        </p:spPr>
        <p:txBody>
          <a:bodyPr wrap="square" lIns="0" tIns="0" rIns="0" bIns="0" rtlCol="0" anchor="ctr"/>
          <a:lstStyle/>
          <a:p>
            <a:pPr marL="0" indent="0" algn="ctr">
              <a:buNone/>
            </a:pPr>
            <a:r>
              <a:rPr lang="en-US" sz="1100" b="1" dirty="0">
                <a:solidFill>
                  <a:schemeClr val="accent1"/>
                </a:solidFill>
              </a:rPr>
              <a:t>Figura 17 – </a:t>
            </a:r>
            <a:r>
              <a:rPr lang="en-US" sz="1100" i="1" dirty="0">
                <a:solidFill>
                  <a:schemeClr val="accent4"/>
                </a:solidFill>
              </a:rPr>
              <a:t>Immagine estratta da 12.jpg con il collegamento al video.</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pic>
        <p:nvPicPr>
          <p:cNvPr id="2" name="logo" descr="Logo Zero-Day Smokey"/>
          <p:cNvPicPr>
            <a:picLocks noChangeAspect="1"/>
          </p:cNvPicPr>
          <p:nvPr/>
        </p:nvPicPr>
        <p:blipFill>
          <a:blip r:embed="rId3"/>
          <a:stretch>
            <a:fillRect/>
          </a:stretch>
        </p:blipFill>
        <p:spPr>
          <a:xfrm>
            <a:off x="5364328" y="1371600"/>
            <a:ext cx="1463040" cy="1463040"/>
          </a:xfrm>
          <a:prstGeom prst="rect">
            <a:avLst/>
          </a:prstGeom>
        </p:spPr>
      </p:pic>
      <p:sp>
        <p:nvSpPr>
          <p:cNvPr id="3" name="end-title"/>
          <p:cNvSpPr txBox="1"/>
          <p:nvPr/>
        </p:nvSpPr>
        <p:spPr>
          <a:xfrm>
            <a:off x="0" y="3108960"/>
            <a:ext cx="12191695" cy="914400"/>
          </a:xfrm>
          <a:prstGeom prst="rect">
            <a:avLst/>
          </a:prstGeom>
          <a:noFill/>
          <a:ln/>
        </p:spPr>
        <p:txBody>
          <a:bodyPr wrap="square" lIns="0" tIns="0" rIns="0" bIns="0" rtlCol="0" anchor="ctr"/>
          <a:lstStyle/>
          <a:p>
            <a:pPr marL="0" indent="0" algn="ctr">
              <a:buNone/>
            </a:pPr>
            <a:r>
              <a:rPr lang="en-US" sz="4800" b="1" dirty="0">
                <a:solidFill>
                  <a:schemeClr val="bg1"/>
                </a:solidFill>
                <a:latin typeface="Arial" pitchFamily="34" charset="0"/>
                <a:ea typeface="Arial" pitchFamily="34" charset="-122"/>
                <a:cs typeface="Arial" pitchFamily="34" charset="-120"/>
              </a:rPr>
              <a:t>Grazie</a:t>
            </a:r>
            <a:endParaRPr lang="en-US" sz="4800" dirty="0"/>
          </a:p>
        </p:txBody>
      </p:sp>
      <p:sp>
        <p:nvSpPr>
          <p:cNvPr id="4" name="end-sub"/>
          <p:cNvSpPr txBox="1"/>
          <p:nvPr/>
        </p:nvSpPr>
        <p:spPr>
          <a:xfrm>
            <a:off x="0" y="4114800"/>
            <a:ext cx="12191695" cy="457200"/>
          </a:xfrm>
          <a:prstGeom prst="rect">
            <a:avLst/>
          </a:prstGeom>
          <a:noFill/>
          <a:ln/>
        </p:spPr>
        <p:txBody>
          <a:bodyPr wrap="square" lIns="0" tIns="0" rIns="0" bIns="0" rtlCol="0" anchor="ctr"/>
          <a:lstStyle/>
          <a:p>
            <a:pPr marL="0" indent="0" algn="ctr">
              <a:buNone/>
            </a:pPr>
            <a:r>
              <a:rPr lang="en-US" sz="1600" dirty="0">
                <a:solidFill>
                  <a:schemeClr val="accent5"/>
                </a:solidFill>
              </a:rPr>
              <a:t>Zero-Day Smokey S.r.l.  ·  Via del Rampino 4, Italia</a:t>
            </a:r>
            <a:endParaRPr lang="en-US" sz="1600" dirty="0"/>
          </a:p>
        </p:txBody>
      </p:sp>
      <p:sp>
        <p:nvSpPr>
          <p:cNvPr id="5" name="end-sub2"/>
          <p:cNvSpPr txBox="1"/>
          <p:nvPr/>
        </p:nvSpPr>
        <p:spPr>
          <a:xfrm>
            <a:off x="0" y="4572000"/>
            <a:ext cx="12191695" cy="365760"/>
          </a:xfrm>
          <a:prstGeom prst="rect">
            <a:avLst/>
          </a:prstGeom>
          <a:noFill/>
          <a:ln/>
        </p:spPr>
        <p:txBody>
          <a:bodyPr wrap="square" lIns="0" tIns="0" rIns="0" bIns="0" rtlCol="0" anchor="ctr"/>
          <a:lstStyle/>
          <a:p>
            <a:pPr marL="0" indent="0" algn="ctr">
              <a:buNone/>
            </a:pPr>
            <a:r>
              <a:rPr lang="en-US" sz="1300" dirty="0">
                <a:solidFill>
                  <a:schemeClr val="accent4"/>
                </a:solidFill>
              </a:rPr>
              <a:t>Proposta n. 001/2026 del 26/10/2026  ·  Progetto di rete – Compagnia Theta</a:t>
            </a:r>
            <a:endParaRPr lang="en-US" sz="1300" dirty="0"/>
          </a:p>
        </p:txBody>
      </p:sp>
    </p:spTree>
  </p:cSld>
  <p:clrMapOvr>
    <a:masterClrMapping/>
  </p:clrMapOvr>
</p:sld>
</file>

<file path=ppt/theme/theme1.xml><?xml version="1.0" encoding="utf-8"?>
<a:theme xmlns:a="http://schemas.openxmlformats.org/drawingml/2006/main" name="Zero-Day Smokey">
  <a:themeElements>
    <a:clrScheme name="Zero-Day Smokey">
      <a:dk1>
        <a:srgbClr val="111827"/>
      </a:dk1>
      <a:lt1>
        <a:srgbClr val="FFFFFF"/>
      </a:lt1>
      <a:dk2>
        <a:srgbClr val="1F2937"/>
      </a:dk2>
      <a:lt2>
        <a:srgbClr val="F3F4F6"/>
      </a:lt2>
      <a:accent1>
        <a:srgbClr val="B91C1C"/>
      </a:accent1>
      <a:accent2>
        <a:srgbClr val="374151"/>
      </a:accent2>
      <a:accent3>
        <a:srgbClr val="DC2626"/>
      </a:accent3>
      <a:accent4>
        <a:srgbClr val="6B7280"/>
      </a:accent4>
      <a:accent5>
        <a:srgbClr val="D1D5DB"/>
      </a:accent5>
      <a:accent6>
        <a:srgbClr val="FCA5A5"/>
      </a:accent6>
      <a:hlink>
        <a:srgbClr val="B91C1C"/>
      </a:hlink>
      <a:folHlink>
        <a:srgbClr val="7F1D1D"/>
      </a:folHlink>
    </a:clrScheme>
    <a:fontScheme name="Zero-Day Smoke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70</Slides>
  <Notes>70</Notes>
  <HiddenSlides>0</HiddenSlides>
  <MMClips>0</MMClips>
  <ScaleCrop>false</ScaleCrop>
  <HeadingPairs>
    <vt:vector size="4" baseType="variant">
      <vt:variant>
        <vt:lpstr>Tema</vt:lpstr>
      </vt:variant>
      <vt:variant>
        <vt:i4>1</vt:i4>
      </vt:variant>
      <vt:variant>
        <vt:lpstr>Titoli diapositive</vt:lpstr>
      </vt:variant>
      <vt:variant>
        <vt:i4>70</vt:i4>
      </vt:variant>
    </vt:vector>
  </HeadingPairs>
  <TitlesOfParts>
    <vt:vector size="71" baseType="lpstr">
      <vt:lpstr>Zero-Day Smokey</vt:lpstr>
      <vt:lpstr>Presentazione standard di PowerPoint</vt:lpstr>
      <vt:lpstr>Nota contrattuale</vt:lpstr>
      <vt:lpstr>Indice</vt:lpstr>
      <vt:lpstr>Architettura di rete</vt:lpstr>
      <vt:lpstr>Due edifici, una rete</vt:lpstr>
      <vt:lpstr>1.1 Architettura campus ad alta affidabilità (Collapsed Core)</vt:lpstr>
      <vt:lpstr>1.1.1 Panoramica dell’architettura</vt:lpstr>
      <vt:lpstr>1.1.2 Perché il modello Collapsed Core (due livelli)</vt:lpstr>
      <vt:lpstr>1.1.3 Sistemi e tecnologie utilizzati</vt:lpstr>
      <vt:lpstr>1.2.1 Modello Collapsed Core e ruoli degli apparati</vt:lpstr>
      <vt:lpstr>1.2.2 Conversione delle interfacce a Livello 3 (no switchport)</vt:lpstr>
      <vt:lpstr>1.2.3 Ridondanza first-hop e Spanning Tree</vt:lpstr>
      <vt:lpstr>1.2.4 Servizi di assegnazione dinamica (DHCP)</vt:lpstr>
      <vt:lpstr>1.3 Piano di indirizzamento e subnetting</vt:lpstr>
      <vt:lpstr>1.4.1 Firewall perimetrale e zone di sicurezza</vt:lpstr>
      <vt:lpstr>1.4.2 Sintesi della configurazione del firewall</vt:lpstr>
      <vt:lpstr>1.4.3 Configurazione del router edge</vt:lpstr>
      <vt:lpstr>1.4.4 DMZ unica  ·  1.4.5 Collegamento del NAS</vt:lpstr>
      <vt:lpstr>1.4.6 Sistemi di prevenzione delle intrusioni (IPS)</vt:lpstr>
      <vt:lpstr>1.5 Collegamento inter-sede: requisiti e scelta</vt:lpstr>
      <vt:lpstr>1.5.2 Confronto tra le tecnologie di collegamento</vt:lpstr>
      <vt:lpstr>1.5.3 Apparati  ·  1.5.4 Attività tecniche previste</vt:lpstr>
      <vt:lpstr>1.5.5 Vincoli burocratici, normativi e permessi comunali</vt:lpstr>
      <vt:lpstr>1.6 Verifica e collaudo dell’infrastruttura</vt:lpstr>
      <vt:lpstr>Regole del firewall</vt:lpstr>
      <vt:lpstr>2.1 Creazione delle regole firewall</vt:lpstr>
      <vt:lpstr>Zone di rete e indirizzamento dell’ambiente di prova</vt:lpstr>
      <vt:lpstr>2.1.2 Perché il web server è in DMZ</vt:lpstr>
      <vt:lpstr>2.1.3 Regola Pass – traffico in uscita dalla LAN2/DMZ</vt:lpstr>
      <vt:lpstr>Regola Block – la DMZ non raggiunge la LAN interna</vt:lpstr>
      <vt:lpstr>2.1.4 Verifica del funzionamento – test di connettività</vt:lpstr>
      <vt:lpstr>Web server raggiungibile dalla LAN interna</vt:lpstr>
      <vt:lpstr>Il blocco è confermato dai log del firewall</vt:lpstr>
      <vt:lpstr>2.2 Estensione alla Sede 2</vt:lpstr>
      <vt:lpstr>ZMAP: il toolkit di rete</vt:lpstr>
      <vt:lpstr>3.1 Introduzione  ·  3.3 Struttura generale</vt:lpstr>
      <vt:lpstr>3.2 Librerie utilizzate</vt:lpstr>
      <vt:lpstr>3.4.1 print_title()  ·  3.4.2 ping(host)</vt:lpstr>
      <vt:lpstr>3.4.3 scan()  ·  3.4.4 dns_lookup()  ·  3.4.5 list_interfaces()</vt:lpstr>
      <vt:lpstr>3.4.6 port_scan(host, ports) – animazione di attesa</vt:lpstr>
      <vt:lpstr>port_scan – scansione vera e propria</vt:lpstr>
      <vt:lpstr>3.4.7 http_test(host)</vt:lpstr>
      <vt:lpstr>3.5 Blocco principale e menu</vt:lpstr>
      <vt:lpstr>Raccomandazioni di sicurezza</vt:lpstr>
      <vt:lpstr>4.1 Infrastruttura di rete  ·  4.2 Firewall</vt:lpstr>
      <vt:lpstr>Strumento di cattura dei socket di rete (Sniffer)</vt:lpstr>
      <vt:lpstr>5.1 Funzionamento in sintesi</vt:lpstr>
      <vt:lpstr>5.2 Import dei moduli  ·  5.3 Funzioni di supporto</vt:lpstr>
      <vt:lpstr>5.4 Creazione del socket raw</vt:lpstr>
      <vt:lpstr>5.5 Ciclo di cattura e header Ethernet</vt:lpstr>
      <vt:lpstr>5.6 Decodifica dell’header IP</vt:lpstr>
      <vt:lpstr>5.7 Decodifica di TCP, UDP e ICMP</vt:lpstr>
      <vt:lpstr>5.8 Esecuzione e note d’uso</vt:lpstr>
      <vt:lpstr>Test dello sniffer</vt:lpstr>
      <vt:lpstr>Preventivo di spesa</vt:lpstr>
      <vt:lpstr>Edificio A – Sede 1, sei piani, 120 postazioni (prev. n. 00001)</vt:lpstr>
      <vt:lpstr>Edificio B – Sede 2, tre piani, 90 postazioni (prev. n. 00002)</vt:lpstr>
      <vt:lpstr>Giunzione A/B – fibra tra le sedi, ~250 m (prev. n. 00003)</vt:lpstr>
      <vt:lpstr>Riepilogo complessivo</vt:lpstr>
      <vt:lpstr>Condizioni del preventivo</vt:lpstr>
      <vt:lpstr>Enigma</vt:lpstr>
      <vt:lpstr>7.1 Analisi della cartella file della Compagnia Theta</vt:lpstr>
      <vt:lpstr>7.1.1 Analisi degli indizi in chiaro</vt:lpstr>
      <vt:lpstr>7.1.2 La catena di sblocco</vt:lpstr>
      <vt:lpstr>Il file di credenziali e i frammenti “split”</vt:lpstr>
      <vt:lpstr>7.1.3 Linguaggi non convenzionali: Brainfuck e COW</vt:lpstr>
      <vt:lpstr>7.1.4 Ricomposizione: dai frammenti ai file di testo</vt:lpstr>
      <vt:lpstr>Base64 → immagine: la flag finale</vt:lpstr>
      <vt:lpstr>7.1.5 Recupero della password dell’ultima immagine</vt:lpstr>
      <vt:lpstr>Presentazione standard di PowerPoint</vt:lpstr>
    </vt:vector>
  </TitlesOfParts>
  <Company>Zero-Day Smokey S.r.l.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Proposta di progetto di rete – Compagnia Theta</dc:title>
  <dc:subject>PptxGenJS Presentation</dc:subject>
  <dc:creator>Zero-Day Smokey S.r.l.</dc:creator>
  <cp:lastModifiedBy>Zero-Day Smokey S.r.l.</cp:lastModifiedBy>
  <cp:revision>35</cp:revision>
  <dcterms:created xsi:type="dcterms:W3CDTF">2026-10-30T13:40:52Z</dcterms:created>
  <dcterms:modified xsi:type="dcterms:W3CDTF">2026-10-30T16:14:22Z</dcterms:modified>
</cp:coreProperties>
</file>